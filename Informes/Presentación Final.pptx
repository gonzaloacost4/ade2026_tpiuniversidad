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Cy Grotesk Wide" charset="1" panose="00000505000000000000"/>
      <p:regular r:id="rId31"/>
    </p:embeddedFont>
    <p:embeddedFont>
      <p:font typeface="Cy Grotesk Wide Bold" charset="1" panose="00000805000000000000"/>
      <p:regular r:id="rId32"/>
    </p:embeddedFont>
    <p:embeddedFont>
      <p:font typeface="Cy Grotesk Key" charset="1" panose="00000500000000000000"/>
      <p:regular r:id="rId36"/>
    </p:embeddedFont>
    <p:embeddedFont>
      <p:font typeface="Cy Grotesk Key Bold" charset="1" panose="000008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notesSlides/notesSlide3.xml" Type="http://schemas.openxmlformats.org/officeDocument/2006/relationships/notesSlide"/><Relationship Id="rId4" Target="theme/theme1.xml" Type="http://schemas.openxmlformats.org/officeDocument/2006/relationships/theme"/><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Contexto:</a:t>
            </a:r>
          </a:p>
          <a:p>
            <a:r>
              <a:rPr lang="en-US"/>
              <a:t/>
            </a:r>
          </a:p>
          <a:p>
            <a:r>
              <a:rPr lang="en-US"/>
              <a:t>La Universidad Tecnológica Nacional (UTN) cuenta con una red de facultades regionales distribuidas en todo el país, que generan grandes volúmenes de información académica relacionada con estudiantes, carreras, materias e inscripciones.</a:t>
            </a:r>
          </a:p>
          <a:p>
            <a:r>
              <a:rPr lang="en-US"/>
              <a:t/>
            </a:r>
          </a:p>
          <a:p>
            <a:r>
              <a:rPr lang="en-US"/>
              <a:t>Si bien estos datos existen, suelen encontrarse dispersos en distintos sistemas y sedes, lo que dificulta obtener una visión global de la institución y detectar tendencias relevantes para la gestión universitaria.</a:t>
            </a:r>
          </a:p>
          <a:p>
            <a:r>
              <a:rPr lang="en-US"/>
              <a:t/>
            </a:r>
          </a:p>
          <a:p>
            <a:r>
              <a:rPr lang="en-US"/>
              <a:t>Como equipo de analistas de datos, estamos encargados de transformar datos académicos en información útil para la toma de decisiones estratégicas del Rectorado y los decanatos.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Objetivo:</a:t>
            </a:r>
          </a:p>
          <a:p>
            <a:r>
              <a:rPr lang="en-US"/>
              <a:t/>
            </a:r>
          </a:p>
          <a:p>
            <a:r>
              <a:rPr lang="en-US"/>
              <a:t>Reducir el abandono universitario en el primer y segundo año de todas las carreras de la red. Identificar tempranamente qué estudiantes están en riesgo antes de que abandonen, para intervenir con tutorías, apoyo académico o becas.</a:t>
            </a:r>
          </a:p>
          <a:p>
            <a:r>
              <a:rPr lang="en-US"/>
              <a:t/>
            </a:r>
          </a:p>
          <a:p>
            <a:r>
              <a:rPr lang="en-US"/>
              <a:t>Preguntas analíticas:</a:t>
            </a:r>
          </a:p>
          <a:p>
            <a:r>
              <a:rPr lang="en-US"/>
              <a:t/>
            </a:r>
          </a:p>
          <a:p>
            <a:r>
              <a:rPr lang="en-US"/>
              <a:t>¿Qué combinación de materias reprobadas en 1er año predice el abandono?</a:t>
            </a:r>
          </a:p>
          <a:p>
            <a:r>
              <a:rPr lang="en-US"/>
              <a:t/>
            </a:r>
          </a:p>
          <a:p>
            <a:r>
              <a:rPr lang="en-US"/>
              <a:t>¿En qué cuatrimestre se concentra la mayor caída de inscripciones?</a:t>
            </a:r>
          </a:p>
          <a:p>
            <a:r>
              <a:rPr lang="en-US"/>
              <a:t/>
            </a:r>
          </a:p>
          <a:p>
            <a:r>
              <a:rPr lang="en-US"/>
              <a:t>¿El abandono varía por regional, carrera, turno o género?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Objetivo:</a:t>
            </a:r>
          </a:p>
          <a:p>
            <a:r>
              <a:rPr lang="en-US"/>
              <a:t/>
            </a:r>
          </a:p>
          <a:p>
            <a:r>
              <a:rPr lang="en-US"/>
              <a:t>Reducir el abandono universitario en el primer y segundo año de todas las carreras de la red. Identificar tempranamente qué estudiantes están en riesgo antes de que abandonen, para intervenir con tutorías, apoyo académico o becas.</a:t>
            </a:r>
          </a:p>
          <a:p>
            <a:r>
              <a:rPr lang="en-US"/>
              <a:t/>
            </a:r>
          </a:p>
          <a:p>
            <a:r>
              <a:rPr lang="en-US"/>
              <a:t>Preguntas analíticas:</a:t>
            </a:r>
          </a:p>
          <a:p>
            <a:r>
              <a:rPr lang="en-US"/>
              <a:t/>
            </a:r>
          </a:p>
          <a:p>
            <a:r>
              <a:rPr lang="en-US"/>
              <a:t>¿Qué combinación de materias reprobadas en 1er año predice el abandono?</a:t>
            </a:r>
          </a:p>
          <a:p>
            <a:r>
              <a:rPr lang="en-US"/>
              <a:t/>
            </a:r>
          </a:p>
          <a:p>
            <a:r>
              <a:rPr lang="en-US"/>
              <a:t>¿En qué cuatrimestre se concentra la mayor caída de inscripciones?</a:t>
            </a:r>
          </a:p>
          <a:p>
            <a:r>
              <a:rPr lang="en-US"/>
              <a:t/>
            </a:r>
          </a:p>
          <a:p>
            <a:r>
              <a:rPr lang="en-US"/>
              <a:t>¿El abandono varía por regional, carrera, turno o género?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Origen:</a:t>
            </a:r>
          </a:p>
          <a:p>
            <a:r>
              <a:rPr lang="en-US"/>
              <a:t/>
            </a:r>
          </a:p>
          <a:p>
            <a:r>
              <a:rPr lang="en-US"/>
              <a:t>Las fuentes provienen de una extracción de un sistema OLTP de la facultad. Para el trabajo práctico se utilizó una versión reducida del conjunto original, con algunos datos limitados para facilitar el procesamiento y el análisis. Aun así, conserva la estructura de un sistema académico real, con información sobre estudiantes, carreras, docentes, cursos, inscripciones y exámenes, lo que nos permitió construir un Data Warehouse representativo para responder preguntas de gestión universitaria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
            </a:r>
          </a:p>
          <a:p>
            <a:r>
              <a:rPr lang="en-US"/>
              <a:t>El dataset cubre la actividad académica de los años 2023 y 2024.</a:t>
            </a:r>
          </a:p>
          <a:p>
            <a:r>
              <a:rPr lang="en-US"/>
              <a:t/>
            </a:r>
          </a:p>
          <a:p>
            <a:r>
              <a:rPr lang="en-US"/>
              <a:t>Incluye:</a:t>
            </a:r>
          </a:p>
          <a:p>
            <a:r>
              <a:rPr lang="en-US"/>
              <a:t>- 130.000 estudiantes</a:t>
            </a:r>
          </a:p>
          <a:p>
            <a:r>
              <a:rPr lang="en-US"/>
              <a:t>- 1.003.413 inscripciones</a:t>
            </a:r>
          </a:p>
          <a:p>
            <a:r>
              <a:rPr lang="en-US"/>
              <a:t>- 890.389 exámenes</a:t>
            </a:r>
          </a:p>
          <a:p>
            <a:r>
              <a:rPr lang="en-US"/>
              <a:t>- 2.261 dictados de cursos</a:t>
            </a:r>
          </a:p>
          <a:p>
            <a:r>
              <a:rPr lang="en-US"/>
              <a:t>- 8.360 evaluaciones de cursos</a:t>
            </a:r>
          </a:p>
          <a:p>
            <a:r>
              <a:rPr lang="en-US"/>
              <a:t>- 50 programas</a:t>
            </a:r>
          </a:p>
          <a:p>
            <a:r>
              <a:rPr lang="en-US"/>
              <a:t>- 45 cursos</a:t>
            </a:r>
          </a:p>
          <a:p>
            <a:r>
              <a:rPr lang="en-US"/>
              <a:t>- 25 facultades</a:t>
            </a:r>
          </a:p>
          <a:p>
            <a:r>
              <a:rPr lang="en-US"/>
              <a:t>- 40 docentes</a:t>
            </a:r>
          </a:p>
          <a:p>
            <a:r>
              <a:rPr lang="en-US"/>
              <a:t>- 58 departamentos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
            </a:r>
          </a:p>
          <a:p>
            <a:r>
              <a:rPr lang="en-US"/>
              <a:t>El dataset cubre la actividad académica de los años 2023 y 2024.</a:t>
            </a:r>
          </a:p>
          <a:p>
            <a:r>
              <a:rPr lang="en-US"/>
              <a:t/>
            </a:r>
          </a:p>
          <a:p>
            <a:r>
              <a:rPr lang="en-US"/>
              <a:t>Incluye:</a:t>
            </a:r>
          </a:p>
          <a:p>
            <a:r>
              <a:rPr lang="en-US"/>
              <a:t>- 130.000 estudiantes</a:t>
            </a:r>
          </a:p>
          <a:p>
            <a:r>
              <a:rPr lang="en-US"/>
              <a:t>- 1.003.413 inscripciones</a:t>
            </a:r>
          </a:p>
          <a:p>
            <a:r>
              <a:rPr lang="en-US"/>
              <a:t>- 890.389 exámenes</a:t>
            </a:r>
          </a:p>
          <a:p>
            <a:r>
              <a:rPr lang="en-US"/>
              <a:t>- 2.261 dictados de cursos</a:t>
            </a:r>
          </a:p>
          <a:p>
            <a:r>
              <a:rPr lang="en-US"/>
              <a:t>- 8.360 evaluaciones de cursos</a:t>
            </a:r>
          </a:p>
          <a:p>
            <a:r>
              <a:rPr lang="en-US"/>
              <a:t>- 50 programas</a:t>
            </a:r>
          </a:p>
          <a:p>
            <a:r>
              <a:rPr lang="en-US"/>
              <a:t>- 45 cursos</a:t>
            </a:r>
          </a:p>
          <a:p>
            <a:r>
              <a:rPr lang="en-US"/>
              <a:t>- 25 facultades</a:t>
            </a:r>
          </a:p>
          <a:p>
            <a:r>
              <a:rPr lang="en-US"/>
              <a:t>- 40 docentes</a:t>
            </a:r>
          </a:p>
          <a:p>
            <a:r>
              <a:rPr lang="en-US"/>
              <a:t>- 58 departamentos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Limitaciones:</a:t>
            </a:r>
          </a:p>
          <a:p>
            <a:r>
              <a:rPr lang="en-US"/>
              <a:t/>
            </a:r>
          </a:p>
          <a:p>
            <a:r>
              <a:rPr lang="en-US"/>
              <a:t>La principal limitación es que el dataset no representa necesariamente toda la realidad institucional, solo una muestra. Esto se nota especialmente en la cobertura:</a:t>
            </a:r>
          </a:p>
          <a:p>
            <a:r>
              <a:rPr lang="en-US"/>
              <a:t/>
            </a:r>
          </a:p>
          <a:p>
            <a:r>
              <a:rPr lang="en-US"/>
              <a:t>- Facultades: A pesar de que hay 25 facultades registradas, 11 tienen actividad de dictados y/o evaluaciones de curso.</a:t>
            </a:r>
          </a:p>
          <a:p>
            <a:r>
              <a:rPr lang="en-US"/>
              <a:t/>
            </a:r>
          </a:p>
          <a:p>
            <a:r>
              <a:rPr lang="en-US"/>
              <a:t>- Programas: No todos los programas tienen estudiantes asociados. Hay 50 programas, pero solo 9 aparecen con estudiantes. En cambio, casi todos los programas tienen dictados. </a:t>
            </a:r>
          </a:p>
          <a:p>
            <a:r>
              <a:rPr lang="en-US"/>
              <a:t/>
            </a:r>
          </a:p>
          <a:p>
            <a:r>
              <a:rPr lang="en-US"/>
              <a:t>- Planes de estudio: Hay 36 programas de cinco años con algún nivel faltante. Muchas carreras no tienen materias en todos los años, y las materias de quinto aparecen principalmente para Ingeniería en Sistemas. Incluso aparecen anomalías como tecnicaturas de 3 años vinculadas con materias de niveles superiores. Esto impide calcular avance real, egreso o cumplimiento del plan.</a:t>
            </a:r>
          </a:p>
          <a:p>
            <a:r>
              <a:rPr lang="en-US"/>
              <a:t/>
            </a:r>
          </a:p>
          <a:p>
            <a:r>
              <a:rPr lang="en-US"/>
              <a:t>- Profesores: Todos los profesores están asociados a departamentos de la Facultad Regional Buenos Aires, pero aparecen vinculados a dictados de programas de distintas facultades. Al revisar los dictados, 1.907 de 2.261 tienen una facultad del docente distinta a la facultad del programa. Solo 354 coinciden. Por eso, los análisis por profesor, departamento docente o desempeño docente por facultad no son confiables. Cualquier conclusión sobre docentes estaría contaminada por una relación artificial entre profesores y facultades.</a:t>
            </a:r>
          </a:p>
          <a:p>
            <a:r>
              <a:rPr lang="en-US"/>
              <a:t/>
            </a:r>
          </a:p>
          <a:p>
            <a:r>
              <a:rPr lang="en-US"/>
              <a:t>- Alumnos: Hay estudiantes sin actividad académica. De 130.000 alumnos, 3.114 no tienen ninguna inscripción y 4.833 no tienen ningún examen.</a:t>
            </a:r>
          </a:p>
          <a:p>
            <a:r>
              <a:rPr lang="en-US"/>
              <a:t/>
            </a:r>
          </a:p>
          <a:p>
            <a:r>
              <a:rPr lang="en-US"/>
              <a:t>- Dictados: Aunque hay 2.261 dictados, solo 975 tienen inscripciones, es decir, aproximadamente el 43,1%. Del mismo modo, solo 932 dictados tienen evaluaciones de curso, alrededor del 41,2%.</a:t>
            </a:r>
          </a:p>
          <a:p>
            <a:r>
              <a:rPr lang="en-US"/>
              <a:t/>
            </a:r>
          </a:p>
          <a:p>
            <a:r>
              <a:rPr lang="en-US"/>
              <a:t>Además, algunos campos relevantes para análisis más profundos no están presentes, por ejemplo:</a:t>
            </a:r>
          </a:p>
          <a:p>
            <a:r>
              <a:rPr lang="en-US"/>
              <a:t>- Asistencia.</a:t>
            </a:r>
          </a:p>
          <a:p>
            <a:r>
              <a:rPr lang="en-US"/>
              <a:t>- Modalidad de cursado.</a:t>
            </a:r>
          </a:p>
          <a:p>
            <a:r>
              <a:rPr lang="en-US"/>
              <a:t>- Correlatividades.</a:t>
            </a:r>
          </a:p>
          <a:p>
            <a:r>
              <a:rPr lang="en-US"/>
              <a:t>- Carrera completa o avance académico.</a:t>
            </a:r>
          </a:p>
          <a:p>
            <a:r>
              <a:rPr lang="en-US"/>
              <a:t>- Datos de graduación o abandono.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La mayor debilidad aparece en la calidad semántica y de formato, especialmente en estudiante.csv. </a:t>
            </a:r>
          </a:p>
          <a:p>
            <a:r>
              <a:rPr lang="en-US"/>
              <a:t/>
            </a:r>
          </a:p>
          <a:p>
            <a:r>
              <a:rPr lang="en-US"/>
              <a:t>Problemas detectados:</a:t>
            </a:r>
          </a:p>
          <a:p>
            <a:r>
              <a:rPr lang="en-US"/>
              <a:t/>
            </a:r>
          </a:p>
          <a:p>
            <a:r>
              <a:rPr lang="en-US"/>
              <a:t>- Genero tiene múltiples codificaciones para los mismos valores: M, m, Masculino, male, 1, F, f, Femenino, female, 2.</a:t>
            </a:r>
          </a:p>
          <a:p>
            <a:r>
              <a:rPr lang="en-US"/>
              <a:t/>
            </a:r>
          </a:p>
          <a:p>
            <a:r>
              <a:rPr lang="en-US"/>
              <a:t>- Email tiene 3.970 valores vacíos y 6.193 formatos inválidos.</a:t>
            </a:r>
          </a:p>
          <a:p>
            <a:r>
              <a:rPr lang="en-US"/>
              <a:t/>
            </a:r>
          </a:p>
          <a:p>
            <a:r>
              <a:rPr lang="en-US"/>
              <a:t>- Telefono tiene 6.451 valores vacíos y 15.937 formatos no normalizados o inválidos.</a:t>
            </a:r>
          </a:p>
          <a:p>
            <a:r>
              <a:rPr lang="en-US"/>
              <a:t/>
            </a:r>
          </a:p>
          <a:p>
            <a:r>
              <a:rPr lang="en-US"/>
              <a:t>- Fecha_nacimiento tiene 15.538 valores inválidos o no normalizados, incluyendo 3.894 registros donde aparece solo el año.</a:t>
            </a:r>
          </a:p>
          <a:p>
            <a:r>
              <a:rPr lang="en-US"/>
              <a:t/>
            </a:r>
          </a:p>
          <a:p>
            <a:r>
              <a:rPr lang="en-US"/>
              <a:t>- Nacionalidad tiene 2.736 valores vacíos.</a:t>
            </a:r>
          </a:p>
          <a:p>
            <a:r>
              <a:rPr lang="en-US"/>
              <a:t/>
            </a:r>
          </a:p>
          <a:p>
            <a:r>
              <a:rPr lang="en-US"/>
              <a:t>- Por ultimo, Dni tiene 10.499 valores no normalizados y lo mas grave es que aunque no hay duplicados en id_estudiante, hay 2.474 DNIs repetidos, que afectan 5.041 registros. Es decir, una misma persona puede aparecer con distintos IDs. Esa duplicidad se propaga a inscripciones y exámenes: esos DNIs duplicados concentran 39.243 inscripciones y 34.835 exámenes.</a:t>
            </a:r>
          </a:p>
          <a:p>
            <a:r>
              <a:rPr lang="en-US"/>
              <a:t>Esto genera problemas incluso con el numero de intentos en examenes de los estudiantes, que por regla del negocio son 3 intentos. Con esto, por id_estudiante + dictado no aparecen más de 3 intentos, pero al agrupar por DNI sí aparecen 819 casos de DNI + dictado con más de 3 exámenes.</a:t>
            </a:r>
          </a:p>
          <a:p>
            <a:r>
              <a:rPr lang="en-US"/>
              <a:t/>
            </a:r>
          </a:p>
          <a:p>
            <a:r>
              <a:rPr lang="en-US"/>
              <a:t>Estos problemas complican el analisis del rendimiento académico, inscripciones y exámenes, ademas del análisis demográficos o de identificación de estudiantes.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partir del análisis del contexto universitario, se identificaron las entidades principales involucradas en el proceso académico, tales como estudiantes, cursos, profesores, inscripciones, dictados, departamentos, facultades y programas académicos.</a:t>
            </a:r>
          </a:p>
          <a:p>
            <a:r>
              <a:rPr lang="en-US"/>
              <a:t> </a:t>
            </a:r>
          </a:p>
          <a:p>
            <a:r>
              <a:rPr lang="en-US"/>
              <a:t>A partir de las preguntas analiticas se identificaron los procesos principales que generan datos cuantificables, siendo estos la realización de exámenes por parte de los alumnos, la evaluación de los cursos y las inscripciones a los mismos. Estos procesos definieron los hechos principales del modelo:</a:t>
            </a:r>
          </a:p>
          <a:p>
            <a:r>
              <a:rPr lang="en-US"/>
              <a:t>- Inscripciones al dictado</a:t>
            </a:r>
          </a:p>
          <a:p>
            <a:r>
              <a:rPr lang="en-US"/>
              <a:t>- Evaluación del dictado</a:t>
            </a:r>
          </a:p>
          <a:p>
            <a:r>
              <a:rPr lang="en-US"/>
              <a:t>- Examen alumno</a:t>
            </a:r>
          </a:p>
          <a:p>
            <a:r>
              <a:rPr lang="en-US"/>
              <a:t/>
            </a:r>
          </a:p>
          <a:p>
            <a:r>
              <a:rPr lang="en-US"/>
              <a:t>Luego se identificaron las dimensiones necesarias para contextualizar los hechos y permitir el análisis. Tales como:</a:t>
            </a:r>
          </a:p>
          <a:p>
            <a:r>
              <a:rPr lang="en-US"/>
              <a:t>- Alumno</a:t>
            </a:r>
          </a:p>
          <a:p>
            <a:r>
              <a:rPr lang="en-US"/>
              <a:t>- Profesor</a:t>
            </a:r>
          </a:p>
          <a:p>
            <a:r>
              <a:rPr lang="en-US"/>
              <a:t>- Dictado</a:t>
            </a:r>
          </a:p>
          <a:p>
            <a:r>
              <a:rPr lang="en-US"/>
              <a:t>- Departamento</a:t>
            </a:r>
          </a:p>
          <a:p>
            <a:r>
              <a:rPr lang="en-US"/>
              <a:t>- Facultad</a:t>
            </a:r>
          </a:p>
          <a:p>
            <a:r>
              <a:rPr lang="en-US"/>
              <a:t>- Programa</a:t>
            </a:r>
          </a:p>
          <a:p>
            <a:r>
              <a:rPr lang="en-US"/>
              <a:t>- Inscripciones</a:t>
            </a:r>
          </a:p>
          <a:p>
            <a:r>
              <a:rPr lang="en-US"/>
              <a:t>- Curso</a:t>
            </a:r>
          </a:p>
          <a:p>
            <a:r>
              <a:rPr lang="en-US"/>
              <a:t>- Jerarquía de Tiempo</a:t>
            </a:r>
          </a:p>
          <a:p>
            <a:r>
              <a:rPr lang="en-US"/>
              <a:t>- Jerarquía de Geografía</a:t>
            </a:r>
          </a:p>
          <a:p>
            <a:r>
              <a:rPr lang="en-US"/>
              <a:t/>
            </a:r>
          </a:p>
          <a:p>
            <a:r>
              <a:rPr lang="en-US"/>
              <a:t>De esta forma se definió una estructura multidimensional compuesta por tres tablas de hechos y múltiples dimensiones compartidas, correspondiendo a un esquema de tipo constelación.</a:t>
            </a:r>
          </a:p>
          <a:p>
            <a:r>
              <a:rPr lang="en-US"/>
              <a:t/>
            </a:r>
          </a:p>
          <a:p>
            <a:r>
              <a:rPr lang="en-US"/>
              <a:t>Las medidas que se almacenarán según cada hecho son las siguientes:</a:t>
            </a:r>
          </a:p>
          <a:p>
            <a:r>
              <a:rPr lang="en-US"/>
              <a:t/>
            </a:r>
          </a:p>
          <a:p>
            <a:r>
              <a:rPr lang="en-US"/>
              <a:t>ExamenAlumno:</a:t>
            </a:r>
          </a:p>
          <a:p>
            <a:r>
              <a:rPr lang="en-US"/>
              <a:t>- Nota obtenida en el examen.</a:t>
            </a:r>
          </a:p>
          <a:p>
            <a:r>
              <a:rPr lang="en-US"/>
              <a:t>- Número de intento.</a:t>
            </a:r>
          </a:p>
          <a:p>
            <a:r>
              <a:rPr lang="en-US"/>
              <a:t>- Indicador de aprobación.</a:t>
            </a:r>
          </a:p>
          <a:p>
            <a:r>
              <a:rPr lang="en-US"/>
              <a:t>Estas medidas permiten analizar:</a:t>
            </a:r>
          </a:p>
          <a:p>
            <a:r>
              <a:rPr lang="en-US"/>
              <a:t>- Rendimiento académico por alumno y dictado.</a:t>
            </a:r>
          </a:p>
          <a:p>
            <a:r>
              <a:rPr lang="en-US"/>
              <a:t>- Tasa de aprobación por curso, dictado, carrera o regional.</a:t>
            </a:r>
          </a:p>
          <a:p>
            <a:r>
              <a:rPr lang="en-US"/>
              <a:t>- Identificación de materias con alta dificultad.</a:t>
            </a:r>
          </a:p>
          <a:p>
            <a:r>
              <a:rPr lang="en-US"/>
              <a:t/>
            </a:r>
          </a:p>
          <a:p>
            <a:r>
              <a:rPr lang="en-US"/>
              <a:t>EvaluaciónDictado:</a:t>
            </a:r>
          </a:p>
          <a:p>
            <a:r>
              <a:rPr lang="en-US"/>
              <a:t>- Puntaje de evaluación del dictado.</a:t>
            </a:r>
          </a:p>
          <a:p>
            <a:r>
              <a:rPr lang="en-US"/>
              <a:t>- Puntaje de evaluación del contenido.</a:t>
            </a:r>
          </a:p>
          <a:p>
            <a:r>
              <a:rPr lang="en-US"/>
              <a:t>- Puntaje de valoración general.</a:t>
            </a:r>
          </a:p>
          <a:p>
            <a:r>
              <a:rPr lang="en-US"/>
              <a:t>Estas medidas permiten analizar:</a:t>
            </a:r>
          </a:p>
          <a:p>
            <a:r>
              <a:rPr lang="en-US"/>
              <a:t>- Calidad percibida de los dictados en general.</a:t>
            </a:r>
          </a:p>
          <a:p>
            <a:r>
              <a:rPr lang="en-US"/>
              <a:t>- Comparación entre dictados de una misma materia en distintas regionales.</a:t>
            </a:r>
          </a:p>
          <a:p>
            <a:r>
              <a:rPr lang="en-US"/>
              <a:t>- Evolución de las valoraciones a lo largo del tiempo.</a:t>
            </a:r>
          </a:p>
          <a:p>
            <a:r>
              <a:rPr lang="en-US"/>
              <a:t/>
            </a:r>
          </a:p>
          <a:p>
            <a:r>
              <a:rPr lang="en-US"/>
              <a:t>InscripciónDictado:</a:t>
            </a:r>
          </a:p>
          <a:p>
            <a:r>
              <a:rPr lang="en-US"/>
              <a:t>- Indicador de abandono del curso.</a:t>
            </a:r>
          </a:p>
          <a:p>
            <a:r>
              <a:rPr lang="en-US"/>
              <a:t>- Estado de la inscripción.</a:t>
            </a:r>
          </a:p>
          <a:p>
            <a:r>
              <a:rPr lang="en-US"/>
              <a:t>Estas medidas permiten analizar:</a:t>
            </a:r>
          </a:p>
          <a:p>
            <a:r>
              <a:rPr lang="en-US"/>
              <a:t>- Identificación de abandono temprano en cursos y carreras.</a:t>
            </a:r>
          </a:p>
          <a:p>
            <a:r>
              <a:rPr lang="en-US"/>
              <a:t>- Detección de momentos críticos de caída de inscripciones.</a:t>
            </a:r>
          </a:p>
          <a:p>
            <a:r>
              <a:rPr lang="en-US"/>
              <a:t>- Relación entre abandono y variables del alumno (edad, género, nacionalidad).</a:t>
            </a:r>
          </a:p>
          <a:p>
            <a:r>
              <a:rPr lang="en-US"/>
              <a:t/>
            </a:r>
          </a:p>
          <a:p>
            <a:r>
              <a:rPr lang="en-US"/>
              <a:t>Granularidad de la información: </a:t>
            </a:r>
          </a:p>
          <a:p>
            <a:r>
              <a:rPr lang="en-US"/>
              <a:t>- Fact ExamenAlumno: Se define como granularidad un registro por cada instancia de examen rendida por un alumno, correspondiente a un dictado específico, en una fecha determinada. Dado que un alumno puede rendir múltiples intentos de un mismo examen, cada intento se registra de forma independiente, permitiendo analizar la evolución del rendimiento, la cantidad de intentos necesarios para aprobar y calcular métricas como tasas de aprobación y promedios por materia o dictado.</a:t>
            </a:r>
          </a:p>
          <a:p>
            <a:r>
              <a:rPr lang="en-US"/>
              <a:t>- Fact EvaluaciónDictado: Se define como granularidad un registro por cada evaluación individual realizada por un alumno sobre un dictado, en un período académico determinado. Esto permite analizar la percepción de calidad desde el punto de vista del estudiante, segmentar por perfil de alumno y estudiar la evolución de las valoraciones en el tiempo, así como su relación con el desempeño académico.</a:t>
            </a:r>
          </a:p>
          <a:p>
            <a:r>
              <a:rPr lang="en-US"/>
              <a:t>- Fact InscripciónDictado: Se define como granularidad un registro por cada inscripción de un alumno a un dictado, en un momento determinado. Esto permite analizar la demanda académica, la ocupación de los cursos, la evolución de la matrícula y los patrones de abandono, así como su variación según variables como carrera, turno, regional y características del alumno.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Hablar un poco de la desnormalización de los datos, explicar que esto se hace para evitar joins y agilizar el procesamiento de los datos en la analitica, etc.</a:t>
            </a:r>
          </a:p>
          <a:p>
            <a:r>
              <a:rPr lang="en-US"/>
              <a:t/>
            </a:r>
          </a:p>
          <a:p>
            <a:r>
              <a:rPr lang="en-US"/>
              <a:t>Slow Changing Dimensions (SCD):</a:t>
            </a:r>
          </a:p>
          <a:p>
            <a:r>
              <a:rPr lang="en-US"/>
              <a:t/>
            </a:r>
          </a:p>
          <a:p>
            <a:r>
              <a:rPr lang="en-US"/>
              <a:t>Dimensión Alumno:</a:t>
            </a:r>
          </a:p>
          <a:p>
            <a:r>
              <a:rPr lang="en-US"/>
              <a:t>- Genero: SCD tipo 1. Se asume que es un atributo estático o que, en caso de algún cambio, sólo requiere corrección. No aporta valor analítico mantener un histórico de cambios para este campo.</a:t>
            </a:r>
          </a:p>
          <a:p>
            <a:r>
              <a:rPr lang="en-US"/>
              <a:t>- EgresoCarrera: SCD tipo 1. Representa un estado final. Solo interesa conocer si el alumno terminó su carrera en el estado actual del sistema para reportes de graduación.</a:t>
            </a:r>
          </a:p>
          <a:p>
            <a:r>
              <a:rPr lang="en-US"/>
              <a:t>- AñoEgreso: SCD tipo 1. Es un dato puntual que complementa el estado de egreso. No se espera que cambie una vez registrado, por lo que se sobreescribe en caso de corrección.</a:t>
            </a:r>
          </a:p>
          <a:p>
            <a:r>
              <a:rPr lang="en-US"/>
              <a:t>- AbandonoCarrera: SCD tipo 1. Similar al egreso, es un indicador de estado actual que permite filtrar a los alumnos que dejaron la institución sin necesidad de trazabilidad histórica del cambio de estado.</a:t>
            </a:r>
          </a:p>
          <a:p>
            <a:r>
              <a:rPr lang="en-US"/>
              <a:t>- AñoAbandono: SCD tipo 1. Dato informativo sobre cuándo ocurrió el evento de deserción. No requiere histórico.</a:t>
            </a:r>
          </a:p>
          <a:p>
            <a:r>
              <a:rPr lang="en-US"/>
              <a:t>- AñoPlanPrograma: SCD tipo 2. Nos interesa guardar el histórico porque un cambio de plan de estudios impacta directamente en el rendimiento y la trayectoria académica. Permite analizar si un alumno mejoró o empeoró sus notas tras migrar a un nuevo plan. </a:t>
            </a:r>
          </a:p>
          <a:p>
            <a:r>
              <a:rPr lang="en-US"/>
              <a:t/>
            </a:r>
          </a:p>
          <a:p>
            <a:r>
              <a:rPr lang="en-US"/>
              <a:t>Dimensión Dictado:</a:t>
            </a:r>
          </a:p>
          <a:p>
            <a:r>
              <a:rPr lang="en-US"/>
              <a:t>- Periodo: SCD tipo 2. Se lo registra para analizar la evolución del dictado de una materia a lo largo del tiempo. Permite comparar cómo se comportó una misma instancia de curso en diferentes ciclos lectivos.</a:t>
            </a:r>
          </a:p>
          <a:p>
            <a:r>
              <a:rPr lang="en-US"/>
              <a:t>- Turno: SCD tipo 2. Se resguarda el histórico porque el cambio de turno (mañana/noche) puede influir en las tasas de aprobación y asistencia.</a:t>
            </a:r>
          </a:p>
          <a:p>
            <a:r>
              <a:rPr lang="en-US"/>
              <a:t>- Aula: SCD tipo 1. Se considera un dato logístico ya que no afecta el análisis de rendimiento académico saber en qué aula física se dictó la materia en años anteriores; solo interesa la ubicación actual.</a:t>
            </a:r>
          </a:p>
          <a:p>
            <a:r>
              <a:rPr lang="en-US"/>
              <a:t>- Cupomax: SCD tipo 1. Es una restricción administrativa. Aunque cambie, para el análisis histórico de rendimiento suele bastar con el valor actual o el dato ya registrado en los hechos (facts).</a:t>
            </a:r>
          </a:p>
          <a:p>
            <a:r>
              <a:rPr lang="en-US"/>
              <a:t>- NombreCurso: SCD tipo 1. Si una materia cambia de nombre, se actualiza para mantener consistencia en los reportes actuales sin duplicar registros.</a:t>
            </a:r>
          </a:p>
          <a:p>
            <a:r>
              <a:rPr lang="en-US"/>
              <a:t>- HorasTeoCurso, HorasPracCurso, HorasLabCurso: SCD tipo 2. Cualquier cambio en la carga horaria (teórica, práctica o laboratorio) modifica la naturaleza del dictado. Se considera importante mantener el histórico para entender si cambios en la intensidad horaria afectan las notas de los exámenes.</a:t>
            </a:r>
          </a:p>
          <a:p>
            <a:r>
              <a:rPr lang="en-US"/>
              <a:t>- NivelCurso: SCD tipo 2. El nivel (año de la carrera) es clave para el análisis de progresión. Si un curso cambia de nivel en el plan, el histórico permite situar correctamente el desempeño del alumno en su contexto temporal.</a:t>
            </a:r>
          </a:p>
          <a:p>
            <a:r>
              <a:rPr lang="en-US"/>
              <a:t>- NombreDocente, ApellidoDocente, TituloDocente, CategoriaDocente, DedicacionDocente: SCD tipo 2. Todos los atributos del docente se manejan como Tipo 2 para permitir el análisis del efecto del docente en un dictado. Nos interesa saber quién dictó la materia y qué categoría tenía en ese momento específico para evaluar su impacto en la aprobación de los alumnos.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
            </a:r>
          </a:p>
          <a:p>
            <a:r>
              <a:rPr lang="en-US"/>
              <a:t>El dataset cubre la actividad académica de los años 2023 y 2024.</a:t>
            </a:r>
          </a:p>
          <a:p>
            <a:r>
              <a:rPr lang="en-US"/>
              <a:t/>
            </a:r>
          </a:p>
          <a:p>
            <a:r>
              <a:rPr lang="en-US"/>
              <a:t>Incluye:</a:t>
            </a:r>
          </a:p>
          <a:p>
            <a:r>
              <a:rPr lang="en-US"/>
              <a:t>- 130.000 estudiantes</a:t>
            </a:r>
          </a:p>
          <a:p>
            <a:r>
              <a:rPr lang="en-US"/>
              <a:t>- 1.003.413 inscripciones</a:t>
            </a:r>
          </a:p>
          <a:p>
            <a:r>
              <a:rPr lang="en-US"/>
              <a:t>- 890.389 exámenes</a:t>
            </a:r>
          </a:p>
          <a:p>
            <a:r>
              <a:rPr lang="en-US"/>
              <a:t>- 2.261 dictados de cursos</a:t>
            </a:r>
          </a:p>
          <a:p>
            <a:r>
              <a:rPr lang="en-US"/>
              <a:t>- 8.360 evaluaciones de cursos</a:t>
            </a:r>
          </a:p>
          <a:p>
            <a:r>
              <a:rPr lang="en-US"/>
              <a:t>- 50 programas</a:t>
            </a:r>
          </a:p>
          <a:p>
            <a:r>
              <a:rPr lang="en-US"/>
              <a:t>- 45 cursos</a:t>
            </a:r>
          </a:p>
          <a:p>
            <a:r>
              <a:rPr lang="en-US"/>
              <a:t>- 25 facultades</a:t>
            </a:r>
          </a:p>
          <a:p>
            <a:r>
              <a:rPr lang="en-US"/>
              <a:t>- 40 docentes</a:t>
            </a:r>
          </a:p>
          <a:p>
            <a:r>
              <a:rPr lang="en-US"/>
              <a:t>- 58 departamentos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Objetivo:</a:t>
            </a:r>
          </a:p>
          <a:p>
            <a:r>
              <a:rPr lang="en-US"/>
              <a:t>Tablas Auxiliares de Trazabilidad</a:t>
            </a:r>
          </a:p>
          <a:p>
            <a:r>
              <a:rPr lang="en-US"/>
              <a:t>"Durante la fase de diagnóstico en Staging, detectamos fallas críticas de integridad en los sistemas operacionales; principalmente, que un mismo alumno físico tenía múltiples identidades técnicas asociadas a un único DNI. Para resolver este conflicto y evitar perder el historial transaccional en cascada, diseñamos dos tablas auxiliares:"</a:t>
            </a:r>
          </a:p>
          <a:p>
            <a:r>
              <a:rPr lang="en-US"/>
              <a:t>1. stg_estudiantes_repetidos (Trazabilidad de Identidades)</a:t>
            </a:r>
          </a:p>
          <a:p>
            <a:r>
              <a:rPr lang="en-US"/>
              <a:t>Qué es: Es nuestro mapa o diccionario de equivalencias de alumnos. Vincula cada ID duplicado (id_repetido) con la identidad única que decidimos conservar como válida (id_tomado o ID canónico).</a:t>
            </a:r>
          </a:p>
          <a:p>
            <a:r>
              <a:rPr lang="en-US"/>
              <a:t>Por qué es clave para el negocio: Actúa como un puente de trazabilidad. Gracias a esta tabla, pudimos interceptar el flujo de inscripciones y exámenes, localizando de forma exacta 19,947 registros de inscripción que apuntaban a IDs eliminadas, y remapearlos hacia el alumno correcto en lugar de descartarlos como huérfanos.</a:t>
            </a:r>
          </a:p>
          <a:p>
            <a:r>
              <a:rPr lang="en-US"/>
              <a:t>stg_inscripciones_repetidas (Resolución de Conflictos en Hechos)</a:t>
            </a:r>
          </a:p>
          <a:p>
            <a:r>
              <a:rPr lang="en-US"/>
              <a:t>Qué es: Al unificar las identidades de los alumnos, se generó un segundo conflicto: alumnos que ahora figuraban con más de una inscripción activa para el mismo curso/dictado. Esta tabla registra la correspondencia entre las inscripciones duplicadas y la inscripción analítica final que decidimos retener.</a:t>
            </a:r>
          </a:p>
          <a:p>
            <a:r>
              <a:rPr lang="en-US"/>
              <a:t>Por qué es clave para el negocio: Permitió limpiar la redundancia en la tabla de hechos de inscripciones (depurando 8,819 registros repetidos) y sirvió como insumo crítico para luego remapear y ordenar cronológicamente los 7,862 exámenes vinculados a ellas, aplicando con precisión la regla de truncamiento por aprobación.</a:t>
            </a:r>
          </a:p>
          <a:p>
            <a:r>
              <a:rPr lang="en-US"/>
              <a:t>Tablas Auxiliares de Control, Auditoría y Delta</a:t>
            </a:r>
          </a:p>
          <a:p>
            <a:r>
              <a:rPr lang="en-US"/>
              <a:t>"Para garantizar que el Data Warehouse sea gobernable, confiable en el tiempo y no dependa de procesos a ciegas, incorporamos tablas de metadatos para la auditoría y la carga incremental:"</a:t>
            </a:r>
          </a:p>
          <a:p>
            <a:r>
              <a:rPr lang="en-US"/>
              <a:t>3. etl_auditoria_incremental (Gestión de Marcas de Agua / Watermarks)</a:t>
            </a:r>
          </a:p>
          <a:p>
            <a:r>
              <a:rPr lang="en-US"/>
              <a:t>Qué es: Es la tabla encargada de persistir el estado de las ejecuciones del pipeline. Guarda componentes clave como la fecha y hora exacta de la última extracción exitosa, el estado del proceso (OK, RUNNING, ERROR) y el volumen de registros procesados.</a:t>
            </a:r>
          </a:p>
          <a:p>
            <a:r>
              <a:rPr lang="en-US"/>
              <a:t>Por qué es clave para el negocio: Centraliza el control del mecanismo Delta. Al no depender de archivos locales o variables volátiles, el sistema consulta esta tabla al inicio de cada ciclo para leer la marca de agua (Watermark) y traer únicamente los registros cuya fecha de carga sea estrictamente superior a la última registrada. Además, aporta resiliencia: si una carga se interrumpe, el sistema ignora el estado fallido y vuelve a procesar exactamente el mismo delta basándose en el último registro válido de esta tabla.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Objetivo:</a:t>
            </a:r>
          </a:p>
          <a:p>
            <a:r>
              <a:rPr lang="en-US"/>
              <a:t/>
            </a:r>
          </a:p>
          <a:p>
            <a:r>
              <a:rPr lang="en-US"/>
              <a:t>Reducir el abandono universitario en el primer y segundo año de todas las carreras de la red. Identificar tempranamente qué estudiantes están en riesgo antes de que abandonen, para intervenir con tutorías, apoyo académico o becas.</a:t>
            </a:r>
          </a:p>
          <a:p>
            <a:r>
              <a:rPr lang="en-US"/>
              <a:t/>
            </a:r>
          </a:p>
          <a:p>
            <a:r>
              <a:rPr lang="en-US"/>
              <a:t>Preguntas analíticas:</a:t>
            </a:r>
          </a:p>
          <a:p>
            <a:r>
              <a:rPr lang="en-US"/>
              <a:t/>
            </a:r>
          </a:p>
          <a:p>
            <a:r>
              <a:rPr lang="en-US"/>
              <a:t>¿Qué combinación de materias reprobadas en 1er año predice el abandono?</a:t>
            </a:r>
          </a:p>
          <a:p>
            <a:r>
              <a:rPr lang="en-US"/>
              <a:t/>
            </a:r>
          </a:p>
          <a:p>
            <a:r>
              <a:rPr lang="en-US"/>
              <a:t>¿En qué cuatrimestre se concentra la mayor caída de inscripciones?</a:t>
            </a:r>
          </a:p>
          <a:p>
            <a:r>
              <a:rPr lang="en-US"/>
              <a:t/>
            </a:r>
          </a:p>
          <a:p>
            <a:r>
              <a:rPr lang="en-US"/>
              <a:t>¿El abandono varía por regional, carrera, turno o género?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
            </a:r>
          </a:p>
          <a:p>
            <a:r>
              <a:rPr lang="en-US"/>
              <a:t>El dataset cubre la actividad académica de los años 2023 y 2024.</a:t>
            </a:r>
          </a:p>
          <a:p>
            <a:r>
              <a:rPr lang="en-US"/>
              <a:t/>
            </a:r>
          </a:p>
          <a:p>
            <a:r>
              <a:rPr lang="en-US"/>
              <a:t>Incluye:</a:t>
            </a:r>
          </a:p>
          <a:p>
            <a:r>
              <a:rPr lang="en-US"/>
              <a:t>- 130.000 estudiantes</a:t>
            </a:r>
          </a:p>
          <a:p>
            <a:r>
              <a:rPr lang="en-US"/>
              <a:t>- 1.003.413 inscripciones</a:t>
            </a:r>
          </a:p>
          <a:p>
            <a:r>
              <a:rPr lang="en-US"/>
              <a:t>- 890.389 exámenes</a:t>
            </a:r>
          </a:p>
          <a:p>
            <a:r>
              <a:rPr lang="en-US"/>
              <a:t>- 2.261 dictados de cursos</a:t>
            </a:r>
          </a:p>
          <a:p>
            <a:r>
              <a:rPr lang="en-US"/>
              <a:t>- 8.360 evaluaciones de cursos</a:t>
            </a:r>
          </a:p>
          <a:p>
            <a:r>
              <a:rPr lang="en-US"/>
              <a:t>- 50 programas</a:t>
            </a:r>
          </a:p>
          <a:p>
            <a:r>
              <a:rPr lang="en-US"/>
              <a:t>- 45 cursos</a:t>
            </a:r>
          </a:p>
          <a:p>
            <a:r>
              <a:rPr lang="en-US"/>
              <a:t>- 25 facultades</a:t>
            </a:r>
          </a:p>
          <a:p>
            <a:r>
              <a:rPr lang="en-US"/>
              <a:t>- 40 docentes</a:t>
            </a:r>
          </a:p>
          <a:p>
            <a:r>
              <a:rPr lang="en-US"/>
              <a:t>- 58 departamentos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
            </a:r>
          </a:p>
          <a:p>
            <a:r>
              <a:rPr lang="en-US"/>
              <a:t>El dataset cubre la actividad académica de los años 2023 y 2024.</a:t>
            </a:r>
          </a:p>
          <a:p>
            <a:r>
              <a:rPr lang="en-US"/>
              <a:t/>
            </a:r>
          </a:p>
          <a:p>
            <a:r>
              <a:rPr lang="en-US"/>
              <a:t>Incluye:</a:t>
            </a:r>
          </a:p>
          <a:p>
            <a:r>
              <a:rPr lang="en-US"/>
              <a:t>- 130.000 estudiantes</a:t>
            </a:r>
          </a:p>
          <a:p>
            <a:r>
              <a:rPr lang="en-US"/>
              <a:t>- 1.003.413 inscripciones</a:t>
            </a:r>
          </a:p>
          <a:p>
            <a:r>
              <a:rPr lang="en-US"/>
              <a:t>- 890.389 exámenes</a:t>
            </a:r>
          </a:p>
          <a:p>
            <a:r>
              <a:rPr lang="en-US"/>
              <a:t>- 2.261 dictados de cursos</a:t>
            </a:r>
          </a:p>
          <a:p>
            <a:r>
              <a:rPr lang="en-US"/>
              <a:t>- 8.360 evaluaciones de cursos</a:t>
            </a:r>
          </a:p>
          <a:p>
            <a:r>
              <a:rPr lang="en-US"/>
              <a:t>- 50 programas</a:t>
            </a:r>
          </a:p>
          <a:p>
            <a:r>
              <a:rPr lang="en-US"/>
              <a:t>- 45 cursos</a:t>
            </a:r>
          </a:p>
          <a:p>
            <a:r>
              <a:rPr lang="en-US"/>
              <a:t>- 25 facultades</a:t>
            </a:r>
          </a:p>
          <a:p>
            <a:r>
              <a:rPr lang="en-US"/>
              <a:t>- 40 docentes</a:t>
            </a:r>
          </a:p>
          <a:p>
            <a:r>
              <a:rPr lang="en-US"/>
              <a:t>- 58 departamentos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
            </a:r>
          </a:p>
          <a:p>
            <a:r>
              <a:rPr lang="en-US"/>
              <a:t>El dataset cubre la actividad académica de los años 2023 y 2024.</a:t>
            </a:r>
          </a:p>
          <a:p>
            <a:r>
              <a:rPr lang="en-US"/>
              <a:t/>
            </a:r>
          </a:p>
          <a:p>
            <a:r>
              <a:rPr lang="en-US"/>
              <a:t>Incluye:</a:t>
            </a:r>
          </a:p>
          <a:p>
            <a:r>
              <a:rPr lang="en-US"/>
              <a:t>- 130.000 estudiantes</a:t>
            </a:r>
          </a:p>
          <a:p>
            <a:r>
              <a:rPr lang="en-US"/>
              <a:t>- 1.003.413 inscripciones</a:t>
            </a:r>
          </a:p>
          <a:p>
            <a:r>
              <a:rPr lang="en-US"/>
              <a:t>- 890.389 exámenes</a:t>
            </a:r>
          </a:p>
          <a:p>
            <a:r>
              <a:rPr lang="en-US"/>
              <a:t>- 2.261 dictados de cursos</a:t>
            </a:r>
          </a:p>
          <a:p>
            <a:r>
              <a:rPr lang="en-US"/>
              <a:t>- 8.360 evaluaciones de cursos</a:t>
            </a:r>
          </a:p>
          <a:p>
            <a:r>
              <a:rPr lang="en-US"/>
              <a:t>- 50 programas</a:t>
            </a:r>
          </a:p>
          <a:p>
            <a:r>
              <a:rPr lang="en-US"/>
              <a:t>- 45 cursos</a:t>
            </a:r>
          </a:p>
          <a:p>
            <a:r>
              <a:rPr lang="en-US"/>
              <a:t>- 25 facultades</a:t>
            </a:r>
          </a:p>
          <a:p>
            <a:r>
              <a:rPr lang="en-US"/>
              <a:t>- 40 docentes</a:t>
            </a:r>
          </a:p>
          <a:p>
            <a:r>
              <a:rPr lang="en-US"/>
              <a:t>- 58 departamentos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La mayor debilidad aparece en la calidad semántica y de formato, especialmente en estudiante.csv. </a:t>
            </a:r>
          </a:p>
          <a:p>
            <a:r>
              <a:rPr lang="en-US"/>
              <a:t/>
            </a:r>
          </a:p>
          <a:p>
            <a:r>
              <a:rPr lang="en-US"/>
              <a:t>Problemas detectados:</a:t>
            </a:r>
          </a:p>
          <a:p>
            <a:r>
              <a:rPr lang="en-US"/>
              <a:t/>
            </a:r>
          </a:p>
          <a:p>
            <a:r>
              <a:rPr lang="en-US"/>
              <a:t>- Genero tiene múltiples codificaciones para los mismos valores: M, m, Masculino, male, 1, F, f, Femenino, female, 2.</a:t>
            </a:r>
          </a:p>
          <a:p>
            <a:r>
              <a:rPr lang="en-US"/>
              <a:t/>
            </a:r>
          </a:p>
          <a:p>
            <a:r>
              <a:rPr lang="en-US"/>
              <a:t>- Email tiene 3.970 valores vacíos y 6.193 formatos inválidos.</a:t>
            </a:r>
          </a:p>
          <a:p>
            <a:r>
              <a:rPr lang="en-US"/>
              <a:t/>
            </a:r>
          </a:p>
          <a:p>
            <a:r>
              <a:rPr lang="en-US"/>
              <a:t>- Telefono tiene 6.451 valores vacíos y 15.937 formatos no normalizados o inválidos.</a:t>
            </a:r>
          </a:p>
          <a:p>
            <a:r>
              <a:rPr lang="en-US"/>
              <a:t/>
            </a:r>
          </a:p>
          <a:p>
            <a:r>
              <a:rPr lang="en-US"/>
              <a:t>- Fecha_nacimiento tiene 15.538 valores inválidos o no normalizados, incluyendo 3.894 registros donde aparece solo el año.</a:t>
            </a:r>
          </a:p>
          <a:p>
            <a:r>
              <a:rPr lang="en-US"/>
              <a:t/>
            </a:r>
          </a:p>
          <a:p>
            <a:r>
              <a:rPr lang="en-US"/>
              <a:t>- Nacionalidad tiene 2.736 valores vacíos.</a:t>
            </a:r>
          </a:p>
          <a:p>
            <a:r>
              <a:rPr lang="en-US"/>
              <a:t/>
            </a:r>
          </a:p>
          <a:p>
            <a:r>
              <a:rPr lang="en-US"/>
              <a:t>- Por ultimo, Dni tiene 10.499 valores no normalizados y lo mas grave es que aunque no hay duplicados en id_estudiante, hay 2.474 DNIs repetidos, que afectan 5.041 registros. Es decir, una misma persona puede aparecer con distintos IDs. Esa duplicidad se propaga a inscripciones y exámenes: esos DNIs duplicados concentran 39.243 inscripciones y 34.835 exámenes.</a:t>
            </a:r>
          </a:p>
          <a:p>
            <a:r>
              <a:rPr lang="en-US"/>
              <a:t>Esto genera problemas incluso con el numero de intentos en examenes de los estudiantes, que por regla del negocio son 3 intentos. Con esto, por id_estudiante + dictado no aparecen más de 3 intentos, pero al agrupar por DNI sí aparecen 819 casos de DNI + dictado con más de 3 exámenes.</a:t>
            </a:r>
          </a:p>
          <a:p>
            <a:r>
              <a:rPr lang="en-US"/>
              <a:t/>
            </a:r>
          </a:p>
          <a:p>
            <a:r>
              <a:rPr lang="en-US"/>
              <a:t>Estos problemas complican el analisis del rendimiento académico, inscripciones y exámenes, ademas del análisis demográficos o de identificación de estudiantes.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Limitaciones:</a:t>
            </a:r>
          </a:p>
          <a:p>
            <a:r>
              <a:rPr lang="en-US"/>
              <a:t/>
            </a:r>
          </a:p>
          <a:p>
            <a:r>
              <a:rPr lang="en-US"/>
              <a:t>La principal limitación es que el dataset no representa necesariamente toda la realidad institucional, solo una muestra. Esto se nota especialmente en la cobertura:</a:t>
            </a:r>
          </a:p>
          <a:p>
            <a:r>
              <a:rPr lang="en-US"/>
              <a:t/>
            </a:r>
          </a:p>
          <a:p>
            <a:r>
              <a:rPr lang="en-US"/>
              <a:t>- Facultades: A pesar de que hay 25 facultades registradas, 11 tienen actividad de dictados y/o evaluaciones de curso.</a:t>
            </a:r>
          </a:p>
          <a:p>
            <a:r>
              <a:rPr lang="en-US"/>
              <a:t/>
            </a:r>
          </a:p>
          <a:p>
            <a:r>
              <a:rPr lang="en-US"/>
              <a:t>- Programas: No todos los programas tienen estudiantes asociados. Hay 50 programas, pero solo 9 aparecen con estudiantes. En cambio, casi todos los programas tienen dictados. </a:t>
            </a:r>
          </a:p>
          <a:p>
            <a:r>
              <a:rPr lang="en-US"/>
              <a:t/>
            </a:r>
          </a:p>
          <a:p>
            <a:r>
              <a:rPr lang="en-US"/>
              <a:t>- Planes de estudio: Hay 36 programas de cinco años con algún nivel faltante. Muchas carreras no tienen materias en todos los años, y las materias de quinto aparecen principalmente para Ingeniería en Sistemas. Incluso aparecen anomalías como tecnicaturas de 3 años vinculadas con materias de niveles superiores. Esto impide calcular avance real, egreso o cumplimiento del plan.</a:t>
            </a:r>
          </a:p>
          <a:p>
            <a:r>
              <a:rPr lang="en-US"/>
              <a:t/>
            </a:r>
          </a:p>
          <a:p>
            <a:r>
              <a:rPr lang="en-US"/>
              <a:t>- Profesores: Todos los profesores están asociados a departamentos de la Facultad Regional Buenos Aires, pero aparecen vinculados a dictados de programas de distintas facultades. Al revisar los dictados, 1.907 de 2.261 tienen una facultad del docente distinta a la facultad del programa. Solo 354 coinciden. Por eso, los análisis por profesor, departamento docente o desempeño docente por facultad no son confiables. Cualquier conclusión sobre docentes estaría contaminada por una relación artificial entre profesores y facultades.</a:t>
            </a:r>
          </a:p>
          <a:p>
            <a:r>
              <a:rPr lang="en-US"/>
              <a:t/>
            </a:r>
          </a:p>
          <a:p>
            <a:r>
              <a:rPr lang="en-US"/>
              <a:t>- Alumnos: Hay estudiantes sin actividad académica. De 130.000 alumnos, 3.114 no tienen ninguna inscripción y 4.833 no tienen ningún examen.</a:t>
            </a:r>
          </a:p>
          <a:p>
            <a:r>
              <a:rPr lang="en-US"/>
              <a:t/>
            </a:r>
          </a:p>
          <a:p>
            <a:r>
              <a:rPr lang="en-US"/>
              <a:t>- Dictados: Aunque hay 2.261 dictados, solo 975 tienen inscripciones, es decir, aproximadamente el 43,1%. Del mismo modo, solo 932 dictados tienen evaluaciones de curso, alrededor del 41,2%.</a:t>
            </a:r>
          </a:p>
          <a:p>
            <a:r>
              <a:rPr lang="en-US"/>
              <a:t/>
            </a:r>
          </a:p>
          <a:p>
            <a:r>
              <a:rPr lang="en-US"/>
              <a:t>Además, algunos campos relevantes para análisis más profundos no están presentes, por ejemplo:</a:t>
            </a:r>
          </a:p>
          <a:p>
            <a:r>
              <a:rPr lang="en-US"/>
              <a:t>- Asistencia.</a:t>
            </a:r>
          </a:p>
          <a:p>
            <a:r>
              <a:rPr lang="en-US"/>
              <a:t>- Modalidad de cursado.</a:t>
            </a:r>
          </a:p>
          <a:p>
            <a:r>
              <a:rPr lang="en-US"/>
              <a:t>- Correlatividades.</a:t>
            </a:r>
          </a:p>
          <a:p>
            <a:r>
              <a:rPr lang="en-US"/>
              <a:t>- Carrera completa o avance académico.</a:t>
            </a:r>
          </a:p>
          <a:p>
            <a:r>
              <a:rPr lang="en-US"/>
              <a:t>- Datos de graduación o abandono.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Contexto:</a:t>
            </a:r>
          </a:p>
          <a:p>
            <a:r>
              <a:rPr lang="en-US"/>
              <a:t/>
            </a:r>
          </a:p>
          <a:p>
            <a:r>
              <a:rPr lang="en-US"/>
              <a:t>La Universidad Tecnológica Nacional (UTN) cuenta con una red de facultades regionales distribuidas en todo el país, que generan grandes volúmenes de información académica relacionada con estudiantes, carreras, materias e inscripciones.</a:t>
            </a:r>
          </a:p>
          <a:p>
            <a:r>
              <a:rPr lang="en-US"/>
              <a:t/>
            </a:r>
          </a:p>
          <a:p>
            <a:r>
              <a:rPr lang="en-US"/>
              <a:t>Si bien estos datos existen, suelen encontrarse dispersos en distintos sistemas y sedes, lo que dificulta obtener una visión global de la institución y detectar tendencias relevantes para la gestión universitaria.</a:t>
            </a:r>
          </a:p>
          <a:p>
            <a:r>
              <a:rPr lang="en-US"/>
              <a:t/>
            </a:r>
          </a:p>
          <a:p>
            <a:r>
              <a:rPr lang="en-US"/>
              <a:t>Como equipo de analistas de datos, estamos encargados de transformar datos académicos en información útil para la toma de decisiones estratégicas del Rectorado y los decanatos.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
            </a:r>
          </a:p>
          <a:p>
            <a:r>
              <a:rPr lang="en-US"/>
              <a:t>El dataset cubre la actividad académica de los años 2023 y 2024.</a:t>
            </a:r>
          </a:p>
          <a:p>
            <a:r>
              <a:rPr lang="en-US"/>
              <a:t/>
            </a:r>
          </a:p>
          <a:p>
            <a:r>
              <a:rPr lang="en-US"/>
              <a:t>Incluye:</a:t>
            </a:r>
          </a:p>
          <a:p>
            <a:r>
              <a:rPr lang="en-US"/>
              <a:t>- 130.000 estudiantes</a:t>
            </a:r>
          </a:p>
          <a:p>
            <a:r>
              <a:rPr lang="en-US"/>
              <a:t>- 1.003.413 inscripciones</a:t>
            </a:r>
          </a:p>
          <a:p>
            <a:r>
              <a:rPr lang="en-US"/>
              <a:t>- 890.389 exámenes</a:t>
            </a:r>
          </a:p>
          <a:p>
            <a:r>
              <a:rPr lang="en-US"/>
              <a:t>- 2.261 dictados de cursos</a:t>
            </a:r>
          </a:p>
          <a:p>
            <a:r>
              <a:rPr lang="en-US"/>
              <a:t>- 8.360 evaluaciones de cursos</a:t>
            </a:r>
          </a:p>
          <a:p>
            <a:r>
              <a:rPr lang="en-US"/>
              <a:t>- 50 programas</a:t>
            </a:r>
          </a:p>
          <a:p>
            <a:r>
              <a:rPr lang="en-US"/>
              <a:t>- 45 cursos</a:t>
            </a:r>
          </a:p>
          <a:p>
            <a:r>
              <a:rPr lang="en-US"/>
              <a:t>- 25 facultades</a:t>
            </a:r>
          </a:p>
          <a:p>
            <a:r>
              <a:rPr lang="en-US"/>
              <a:t>- 40 docentes</a:t>
            </a:r>
          </a:p>
          <a:p>
            <a:r>
              <a:rPr lang="en-US"/>
              <a:t>- 58 departamentos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Contexto:</a:t>
            </a:r>
          </a:p>
          <a:p>
            <a:r>
              <a:rPr lang="en-US"/>
              <a:t/>
            </a:r>
          </a:p>
          <a:p>
            <a:r>
              <a:rPr lang="en-US"/>
              <a:t>La Universidad Tecnológica Nacional (UTN) cuenta con una red de facultades regionales distribuidas en todo el país, que generan grandes volúmenes de información académica relacionada con estudiantes, carreras, materias e inscripciones.</a:t>
            </a:r>
          </a:p>
          <a:p>
            <a:r>
              <a:rPr lang="en-US"/>
              <a:t/>
            </a:r>
          </a:p>
          <a:p>
            <a:r>
              <a:rPr lang="en-US"/>
              <a:t>Si bien estos datos existen, suelen encontrarse dispersos en distintos sistemas y sedes, lo que dificulta obtener una visión global de la institución y detectar tendencias relevantes para la gestión universitaria.</a:t>
            </a:r>
          </a:p>
          <a:p>
            <a:r>
              <a:rPr lang="en-US"/>
              <a:t/>
            </a:r>
          </a:p>
          <a:p>
            <a:r>
              <a:rPr lang="en-US"/>
              <a:t>Como equipo de analistas de datos, estamos encargados de transformar datos académicos en información útil para la toma de decisiones estratégicas del Rectorado y los decanatos.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298401">
            <a:off x="3316373" y="648046"/>
            <a:ext cx="16742237" cy="11209765"/>
            <a:chOff x="0" y="0"/>
            <a:chExt cx="13226772" cy="8855985"/>
          </a:xfrm>
        </p:grpSpPr>
        <p:sp>
          <p:nvSpPr>
            <p:cNvPr name="Freeform 3" id="3"/>
            <p:cNvSpPr/>
            <p:nvPr/>
          </p:nvSpPr>
          <p:spPr>
            <a:xfrm flipH="false" flipV="false" rot="0">
              <a:off x="0" y="0"/>
              <a:ext cx="13226772" cy="8855985"/>
            </a:xfrm>
            <a:custGeom>
              <a:avLst/>
              <a:gdLst/>
              <a:ahLst/>
              <a:cxnLst/>
              <a:rect r="r" b="b" t="t" l="l"/>
              <a:pathLst>
                <a:path h="8855985" w="13226772">
                  <a:moveTo>
                    <a:pt x="0" y="0"/>
                  </a:moveTo>
                  <a:lnTo>
                    <a:pt x="13226772" y="0"/>
                  </a:lnTo>
                  <a:lnTo>
                    <a:pt x="13226772" y="8855985"/>
                  </a:lnTo>
                  <a:lnTo>
                    <a:pt x="0" y="8855985"/>
                  </a:lnTo>
                  <a:close/>
                </a:path>
              </a:pathLst>
            </a:custGeom>
            <a:solidFill>
              <a:srgbClr val="000000"/>
            </a:solidFill>
          </p:spPr>
        </p:sp>
        <p:sp>
          <p:nvSpPr>
            <p:cNvPr name="TextBox 4" id="4"/>
            <p:cNvSpPr txBox="true"/>
            <p:nvPr/>
          </p:nvSpPr>
          <p:spPr>
            <a:xfrm>
              <a:off x="0" y="-47625"/>
              <a:ext cx="13226772" cy="890361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820744">
            <a:off x="4361839" y="517984"/>
            <a:ext cx="16742237" cy="13108365"/>
            <a:chOff x="0" y="0"/>
            <a:chExt cx="13226772" cy="10355925"/>
          </a:xfrm>
        </p:grpSpPr>
        <p:sp>
          <p:nvSpPr>
            <p:cNvPr name="Freeform 6" id="6"/>
            <p:cNvSpPr/>
            <p:nvPr/>
          </p:nvSpPr>
          <p:spPr>
            <a:xfrm flipH="false" flipV="false" rot="0">
              <a:off x="0" y="0"/>
              <a:ext cx="13226772" cy="10355924"/>
            </a:xfrm>
            <a:custGeom>
              <a:avLst/>
              <a:gdLst/>
              <a:ahLst/>
              <a:cxnLst/>
              <a:rect r="r" b="b" t="t" l="l"/>
              <a:pathLst>
                <a:path h="10355924" w="13226772">
                  <a:moveTo>
                    <a:pt x="0" y="0"/>
                  </a:moveTo>
                  <a:lnTo>
                    <a:pt x="13226772" y="0"/>
                  </a:lnTo>
                  <a:lnTo>
                    <a:pt x="13226772" y="10355924"/>
                  </a:lnTo>
                  <a:lnTo>
                    <a:pt x="0" y="10355924"/>
                  </a:lnTo>
                  <a:close/>
                </a:path>
              </a:pathLst>
            </a:custGeom>
            <a:solidFill>
              <a:srgbClr val="54DF64"/>
            </a:solidFill>
          </p:spPr>
        </p:sp>
        <p:sp>
          <p:nvSpPr>
            <p:cNvPr name="TextBox 7" id="7"/>
            <p:cNvSpPr txBox="true"/>
            <p:nvPr/>
          </p:nvSpPr>
          <p:spPr>
            <a:xfrm>
              <a:off x="0" y="-47625"/>
              <a:ext cx="13226772" cy="10403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760144" y="5102269"/>
            <a:ext cx="13527856" cy="3292633"/>
            <a:chOff x="0" y="0"/>
            <a:chExt cx="18037141" cy="4390177"/>
          </a:xfrm>
        </p:grpSpPr>
        <p:sp>
          <p:nvSpPr>
            <p:cNvPr name="TextBox 9" id="9"/>
            <p:cNvSpPr txBox="true"/>
            <p:nvPr/>
          </p:nvSpPr>
          <p:spPr>
            <a:xfrm rot="0">
              <a:off x="0" y="19050"/>
              <a:ext cx="14249045" cy="3122418"/>
            </a:xfrm>
            <a:prstGeom prst="rect">
              <a:avLst/>
            </a:prstGeom>
          </p:spPr>
          <p:txBody>
            <a:bodyPr anchor="t" rtlCol="false" tIns="0" lIns="0" bIns="0" rIns="0">
              <a:spAutoFit/>
            </a:bodyPr>
            <a:lstStyle/>
            <a:p>
              <a:pPr algn="l">
                <a:lnSpc>
                  <a:spcPts val="5927"/>
                </a:lnSpc>
              </a:pPr>
              <a:r>
                <a:rPr lang="en-US" sz="5199">
                  <a:solidFill>
                    <a:srgbClr val="000000"/>
                  </a:solidFill>
                  <a:latin typeface="Cy Grotesk Wide"/>
                  <a:ea typeface="Cy Grotesk Wide"/>
                  <a:cs typeface="Cy Grotesk Wide"/>
                  <a:sym typeface="Cy Grotesk Wide"/>
                </a:rPr>
                <a:t>Data Warehouse:</a:t>
              </a:r>
            </a:p>
            <a:p>
              <a:pPr algn="l">
                <a:lnSpc>
                  <a:spcPts val="12208"/>
                </a:lnSpc>
              </a:pPr>
              <a:r>
                <a:rPr lang="en-US" sz="10709" b="true">
                  <a:solidFill>
                    <a:srgbClr val="000000"/>
                  </a:solidFill>
                  <a:latin typeface="Cy Grotesk Wide Bold"/>
                  <a:ea typeface="Cy Grotesk Wide Bold"/>
                  <a:cs typeface="Cy Grotesk Wide Bold"/>
                  <a:sym typeface="Cy Grotesk Wide Bold"/>
                </a:rPr>
                <a:t>Universid</a:t>
              </a:r>
              <a:r>
                <a:rPr lang="en-US" sz="10709" b="true">
                  <a:solidFill>
                    <a:srgbClr val="000000"/>
                  </a:solidFill>
                  <a:latin typeface="Cy Grotesk Wide Bold"/>
                  <a:ea typeface="Cy Grotesk Wide Bold"/>
                  <a:cs typeface="Cy Grotesk Wide Bold"/>
                  <a:sym typeface="Cy Grotesk Wide Bold"/>
                </a:rPr>
                <a:t>ad</a:t>
              </a:r>
            </a:p>
          </p:txBody>
        </p:sp>
        <p:sp>
          <p:nvSpPr>
            <p:cNvPr name="TextBox 10" id="10"/>
            <p:cNvSpPr txBox="true"/>
            <p:nvPr/>
          </p:nvSpPr>
          <p:spPr>
            <a:xfrm rot="0">
              <a:off x="0" y="3831713"/>
              <a:ext cx="17852901" cy="558464"/>
            </a:xfrm>
            <a:prstGeom prst="rect">
              <a:avLst/>
            </a:prstGeom>
          </p:spPr>
          <p:txBody>
            <a:bodyPr anchor="t" rtlCol="false" tIns="0" lIns="0" bIns="0" rIns="0">
              <a:spAutoFit/>
            </a:bodyPr>
            <a:lstStyle/>
            <a:p>
              <a:pPr algn="l">
                <a:lnSpc>
                  <a:spcPts val="3553"/>
                </a:lnSpc>
              </a:pPr>
              <a:r>
                <a:rPr lang="en-US" sz="2538">
                  <a:solidFill>
                    <a:srgbClr val="000000"/>
                  </a:solidFill>
                  <a:latin typeface="Cy Grotesk Wide"/>
                  <a:ea typeface="Cy Grotesk Wide"/>
                  <a:cs typeface="Cy Grotesk Wide"/>
                  <a:sym typeface="Cy Grotesk Wide"/>
                </a:rPr>
                <a:t>ANÁLISIS DEL ABANDONO ESTUDIANTIL UNIVERSITARIO</a:t>
              </a:r>
            </a:p>
          </p:txBody>
        </p:sp>
        <p:sp>
          <p:nvSpPr>
            <p:cNvPr name="AutoShape 11" id="11"/>
            <p:cNvSpPr/>
            <p:nvPr/>
          </p:nvSpPr>
          <p:spPr>
            <a:xfrm>
              <a:off x="0" y="3412400"/>
              <a:ext cx="18037141" cy="0"/>
            </a:xfrm>
            <a:prstGeom prst="line">
              <a:avLst/>
            </a:prstGeom>
            <a:ln cap="flat" w="50800">
              <a:solidFill>
                <a:srgbClr val="000000"/>
              </a:solidFill>
              <a:prstDash val="solid"/>
              <a:headEnd type="none" len="sm" w="sm"/>
              <a:tailEnd type="none" len="sm" w="sm"/>
            </a:ln>
          </p:spPr>
        </p:sp>
      </p:grpSp>
      <p:grpSp>
        <p:nvGrpSpPr>
          <p:cNvPr name="Group 12" id="12"/>
          <p:cNvGrpSpPr/>
          <p:nvPr/>
        </p:nvGrpSpPr>
        <p:grpSpPr>
          <a:xfrm rot="0">
            <a:off x="703912" y="558131"/>
            <a:ext cx="2987102" cy="941138"/>
            <a:chOff x="0" y="0"/>
            <a:chExt cx="786726" cy="247872"/>
          </a:xfrm>
        </p:grpSpPr>
        <p:sp>
          <p:nvSpPr>
            <p:cNvPr name="Freeform 13" id="13"/>
            <p:cNvSpPr/>
            <p:nvPr/>
          </p:nvSpPr>
          <p:spPr>
            <a:xfrm flipH="false" flipV="false" rot="0">
              <a:off x="0" y="0"/>
              <a:ext cx="786726" cy="247872"/>
            </a:xfrm>
            <a:custGeom>
              <a:avLst/>
              <a:gdLst/>
              <a:ahLst/>
              <a:cxnLst/>
              <a:rect r="r" b="b" t="t" l="l"/>
              <a:pathLst>
                <a:path h="247872" w="786726">
                  <a:moveTo>
                    <a:pt x="123936" y="0"/>
                  </a:moveTo>
                  <a:lnTo>
                    <a:pt x="662791" y="0"/>
                  </a:lnTo>
                  <a:cubicBezTo>
                    <a:pt x="695660" y="0"/>
                    <a:pt x="727184" y="13057"/>
                    <a:pt x="750426" y="36300"/>
                  </a:cubicBezTo>
                  <a:cubicBezTo>
                    <a:pt x="773669" y="59542"/>
                    <a:pt x="786726" y="91066"/>
                    <a:pt x="786726" y="123936"/>
                  </a:cubicBezTo>
                  <a:lnTo>
                    <a:pt x="786726" y="123936"/>
                  </a:lnTo>
                  <a:cubicBezTo>
                    <a:pt x="786726" y="192384"/>
                    <a:pt x="731238" y="247872"/>
                    <a:pt x="662791" y="247872"/>
                  </a:cubicBezTo>
                  <a:lnTo>
                    <a:pt x="123936" y="247872"/>
                  </a:lnTo>
                  <a:cubicBezTo>
                    <a:pt x="55488" y="247872"/>
                    <a:pt x="0" y="192384"/>
                    <a:pt x="0" y="123936"/>
                  </a:cubicBezTo>
                  <a:lnTo>
                    <a:pt x="0" y="123936"/>
                  </a:lnTo>
                  <a:cubicBezTo>
                    <a:pt x="0" y="55488"/>
                    <a:pt x="55488" y="0"/>
                    <a:pt x="123936" y="0"/>
                  </a:cubicBezTo>
                  <a:close/>
                </a:path>
              </a:pathLst>
            </a:custGeom>
            <a:solidFill>
              <a:srgbClr val="F8F6F0"/>
            </a:solidFill>
            <a:ln w="38100" cap="rnd">
              <a:solidFill>
                <a:srgbClr val="000000"/>
              </a:solidFill>
              <a:prstDash val="solid"/>
              <a:round/>
            </a:ln>
          </p:spPr>
        </p:sp>
        <p:sp>
          <p:nvSpPr>
            <p:cNvPr name="TextBox 14" id="14"/>
            <p:cNvSpPr txBox="true"/>
            <p:nvPr/>
          </p:nvSpPr>
          <p:spPr>
            <a:xfrm>
              <a:off x="0" y="-47625"/>
              <a:ext cx="786726" cy="295497"/>
            </a:xfrm>
            <a:prstGeom prst="rect">
              <a:avLst/>
            </a:prstGeom>
          </p:spPr>
          <p:txBody>
            <a:bodyPr anchor="ctr" rtlCol="false" tIns="50800" lIns="50800" bIns="50800" rIns="50800"/>
            <a:lstStyle/>
            <a:p>
              <a:pPr algn="ctr" marL="0" indent="0" lvl="0">
                <a:lnSpc>
                  <a:spcPts val="3500"/>
                </a:lnSpc>
                <a:spcBef>
                  <a:spcPct val="0"/>
                </a:spcBef>
              </a:pPr>
              <a:r>
                <a:rPr lang="en-US" b="true" sz="2500">
                  <a:solidFill>
                    <a:srgbClr val="54DF64"/>
                  </a:solidFill>
                  <a:latin typeface="Cy Grotesk Wide Bold"/>
                  <a:ea typeface="Cy Grotesk Wide Bold"/>
                  <a:cs typeface="Cy Grotesk Wide Bold"/>
                  <a:sym typeface="Cy Grotesk Wide Bold"/>
                </a:rPr>
                <a:t>EQUIPO 6</a:t>
              </a:r>
            </a:p>
          </p:txBody>
        </p:sp>
      </p:grpSp>
      <p:sp>
        <p:nvSpPr>
          <p:cNvPr name="Freeform 15" id="15"/>
          <p:cNvSpPr/>
          <p:nvPr/>
        </p:nvSpPr>
        <p:spPr>
          <a:xfrm flipH="false" flipV="false" rot="0">
            <a:off x="14648835" y="4237957"/>
            <a:ext cx="3000092" cy="3000092"/>
          </a:xfrm>
          <a:custGeom>
            <a:avLst/>
            <a:gdLst/>
            <a:ahLst/>
            <a:cxnLst/>
            <a:rect r="r" b="b" t="t" l="l"/>
            <a:pathLst>
              <a:path h="3000092" w="3000092">
                <a:moveTo>
                  <a:pt x="0" y="0"/>
                </a:moveTo>
                <a:lnTo>
                  <a:pt x="3000092" y="0"/>
                </a:lnTo>
                <a:lnTo>
                  <a:pt x="3000092" y="3000092"/>
                </a:lnTo>
                <a:lnTo>
                  <a:pt x="0" y="3000092"/>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634854">
            <a:off x="7569982" y="3786106"/>
            <a:ext cx="12021340" cy="4942723"/>
            <a:chOff x="0" y="0"/>
            <a:chExt cx="9497149" cy="3904871"/>
          </a:xfrm>
        </p:grpSpPr>
        <p:sp>
          <p:nvSpPr>
            <p:cNvPr name="Freeform 3" id="3"/>
            <p:cNvSpPr/>
            <p:nvPr/>
          </p:nvSpPr>
          <p:spPr>
            <a:xfrm flipH="false" flipV="false" rot="0">
              <a:off x="0" y="0"/>
              <a:ext cx="9497149" cy="3904871"/>
            </a:xfrm>
            <a:custGeom>
              <a:avLst/>
              <a:gdLst/>
              <a:ahLst/>
              <a:cxnLst/>
              <a:rect r="r" b="b" t="t" l="l"/>
              <a:pathLst>
                <a:path h="3904871" w="9497149">
                  <a:moveTo>
                    <a:pt x="0" y="0"/>
                  </a:moveTo>
                  <a:lnTo>
                    <a:pt x="9497149" y="0"/>
                  </a:lnTo>
                  <a:lnTo>
                    <a:pt x="9497149" y="3904871"/>
                  </a:lnTo>
                  <a:lnTo>
                    <a:pt x="0" y="3904871"/>
                  </a:lnTo>
                  <a:close/>
                </a:path>
              </a:pathLst>
            </a:custGeom>
            <a:solidFill>
              <a:srgbClr val="000000"/>
            </a:solidFill>
          </p:spPr>
        </p:sp>
        <p:sp>
          <p:nvSpPr>
            <p:cNvPr name="TextBox 4" id="4"/>
            <p:cNvSpPr txBox="true"/>
            <p:nvPr/>
          </p:nvSpPr>
          <p:spPr>
            <a:xfrm>
              <a:off x="0" y="-47625"/>
              <a:ext cx="9497149" cy="395249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086680">
            <a:off x="9323467" y="1880283"/>
            <a:ext cx="12021340" cy="7505294"/>
            <a:chOff x="0" y="0"/>
            <a:chExt cx="9497149" cy="5929363"/>
          </a:xfrm>
        </p:grpSpPr>
        <p:sp>
          <p:nvSpPr>
            <p:cNvPr name="Freeform 6" id="6"/>
            <p:cNvSpPr/>
            <p:nvPr/>
          </p:nvSpPr>
          <p:spPr>
            <a:xfrm flipH="false" flipV="false" rot="0">
              <a:off x="0" y="0"/>
              <a:ext cx="9497149" cy="5929363"/>
            </a:xfrm>
            <a:custGeom>
              <a:avLst/>
              <a:gdLst/>
              <a:ahLst/>
              <a:cxnLst/>
              <a:rect r="r" b="b" t="t" l="l"/>
              <a:pathLst>
                <a:path h="5929363" w="9497149">
                  <a:moveTo>
                    <a:pt x="0" y="0"/>
                  </a:moveTo>
                  <a:lnTo>
                    <a:pt x="9497149" y="0"/>
                  </a:lnTo>
                  <a:lnTo>
                    <a:pt x="9497149" y="5929363"/>
                  </a:lnTo>
                  <a:lnTo>
                    <a:pt x="0" y="5929363"/>
                  </a:lnTo>
                  <a:close/>
                </a:path>
              </a:pathLst>
            </a:custGeom>
            <a:solidFill>
              <a:srgbClr val="54DF64"/>
            </a:solidFill>
          </p:spPr>
        </p:sp>
        <p:sp>
          <p:nvSpPr>
            <p:cNvPr name="TextBox 7" id="7"/>
            <p:cNvSpPr txBox="true"/>
            <p:nvPr/>
          </p:nvSpPr>
          <p:spPr>
            <a:xfrm>
              <a:off x="0" y="-47625"/>
              <a:ext cx="9497149" cy="5976988"/>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598334" y="92115"/>
            <a:ext cx="5209979" cy="10102770"/>
          </a:xfrm>
          <a:custGeom>
            <a:avLst/>
            <a:gdLst/>
            <a:ahLst/>
            <a:cxnLst/>
            <a:rect r="r" b="b" t="t" l="l"/>
            <a:pathLst>
              <a:path h="10102770" w="5209979">
                <a:moveTo>
                  <a:pt x="0" y="0"/>
                </a:moveTo>
                <a:lnTo>
                  <a:pt x="5209979" y="0"/>
                </a:lnTo>
                <a:lnTo>
                  <a:pt x="5209979" y="10102770"/>
                </a:lnTo>
                <a:lnTo>
                  <a:pt x="0" y="10102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763010" y="1452086"/>
            <a:ext cx="835488" cy="835488"/>
          </a:xfrm>
          <a:custGeom>
            <a:avLst/>
            <a:gdLst/>
            <a:ahLst/>
            <a:cxnLst/>
            <a:rect r="r" b="b" t="t" l="l"/>
            <a:pathLst>
              <a:path h="835488" w="835488">
                <a:moveTo>
                  <a:pt x="0" y="0"/>
                </a:moveTo>
                <a:lnTo>
                  <a:pt x="835488" y="0"/>
                </a:lnTo>
                <a:lnTo>
                  <a:pt x="835488" y="835489"/>
                </a:lnTo>
                <a:lnTo>
                  <a:pt x="0" y="835489"/>
                </a:lnTo>
                <a:lnTo>
                  <a:pt x="0" y="0"/>
                </a:lnTo>
                <a:close/>
              </a:path>
            </a:pathLst>
          </a:custGeom>
          <a:blipFill>
            <a:blip r:embed="rId5"/>
            <a:stretch>
              <a:fillRect l="0" t="0" r="0" b="0"/>
            </a:stretch>
          </a:blipFill>
        </p:spPr>
      </p:sp>
      <p:grpSp>
        <p:nvGrpSpPr>
          <p:cNvPr name="Group 10" id="10"/>
          <p:cNvGrpSpPr/>
          <p:nvPr/>
        </p:nvGrpSpPr>
        <p:grpSpPr>
          <a:xfrm rot="-96120">
            <a:off x="-10279552" y="673361"/>
            <a:ext cx="20293216" cy="2024530"/>
            <a:chOff x="0" y="0"/>
            <a:chExt cx="23327042" cy="2327197"/>
          </a:xfrm>
        </p:grpSpPr>
        <p:sp>
          <p:nvSpPr>
            <p:cNvPr name="Freeform 11" id="11"/>
            <p:cNvSpPr/>
            <p:nvPr/>
          </p:nvSpPr>
          <p:spPr>
            <a:xfrm flipH="false" flipV="false" rot="0">
              <a:off x="0" y="0"/>
              <a:ext cx="23327043" cy="2327197"/>
            </a:xfrm>
            <a:custGeom>
              <a:avLst/>
              <a:gdLst/>
              <a:ahLst/>
              <a:cxnLst/>
              <a:rect r="r" b="b" t="t" l="l"/>
              <a:pathLst>
                <a:path h="2327197" w="23327043">
                  <a:moveTo>
                    <a:pt x="0" y="0"/>
                  </a:moveTo>
                  <a:lnTo>
                    <a:pt x="23327043" y="0"/>
                  </a:lnTo>
                  <a:lnTo>
                    <a:pt x="23327043" y="2327197"/>
                  </a:lnTo>
                  <a:lnTo>
                    <a:pt x="0" y="2327197"/>
                  </a:lnTo>
                  <a:close/>
                </a:path>
              </a:pathLst>
            </a:custGeom>
            <a:solidFill>
              <a:srgbClr val="54DF64"/>
            </a:solidFill>
          </p:spPr>
        </p:sp>
        <p:sp>
          <p:nvSpPr>
            <p:cNvPr name="TextBox 12" id="12"/>
            <p:cNvSpPr txBox="true"/>
            <p:nvPr/>
          </p:nvSpPr>
          <p:spPr>
            <a:xfrm>
              <a:off x="0" y="-47625"/>
              <a:ext cx="23327042" cy="237482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445261" y="775641"/>
            <a:ext cx="20293216" cy="2024530"/>
            <a:chOff x="0" y="0"/>
            <a:chExt cx="23327042" cy="2327197"/>
          </a:xfrm>
        </p:grpSpPr>
        <p:sp>
          <p:nvSpPr>
            <p:cNvPr name="Freeform 14" id="14"/>
            <p:cNvSpPr/>
            <p:nvPr/>
          </p:nvSpPr>
          <p:spPr>
            <a:xfrm flipH="false" flipV="false" rot="0">
              <a:off x="0" y="0"/>
              <a:ext cx="23327043" cy="2327197"/>
            </a:xfrm>
            <a:custGeom>
              <a:avLst/>
              <a:gdLst/>
              <a:ahLst/>
              <a:cxnLst/>
              <a:rect r="r" b="b" t="t" l="l"/>
              <a:pathLst>
                <a:path h="2327197" w="23327043">
                  <a:moveTo>
                    <a:pt x="0" y="0"/>
                  </a:moveTo>
                  <a:lnTo>
                    <a:pt x="23327043" y="0"/>
                  </a:lnTo>
                  <a:lnTo>
                    <a:pt x="23327043" y="2327197"/>
                  </a:lnTo>
                  <a:lnTo>
                    <a:pt x="0" y="2327197"/>
                  </a:lnTo>
                  <a:close/>
                </a:path>
              </a:pathLst>
            </a:custGeom>
            <a:solidFill>
              <a:srgbClr val="000000"/>
            </a:solidFill>
          </p:spPr>
        </p:sp>
        <p:sp>
          <p:nvSpPr>
            <p:cNvPr name="TextBox 15" id="15"/>
            <p:cNvSpPr txBox="true"/>
            <p:nvPr/>
          </p:nvSpPr>
          <p:spPr>
            <a:xfrm>
              <a:off x="0" y="-47625"/>
              <a:ext cx="23327042" cy="2374822"/>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5621068" y="4163705"/>
            <a:ext cx="835488" cy="835488"/>
          </a:xfrm>
          <a:custGeom>
            <a:avLst/>
            <a:gdLst/>
            <a:ahLst/>
            <a:cxnLst/>
            <a:rect r="r" b="b" t="t" l="l"/>
            <a:pathLst>
              <a:path h="835488" w="835488">
                <a:moveTo>
                  <a:pt x="0" y="0"/>
                </a:moveTo>
                <a:lnTo>
                  <a:pt x="835488" y="0"/>
                </a:lnTo>
                <a:lnTo>
                  <a:pt x="835488" y="835488"/>
                </a:lnTo>
                <a:lnTo>
                  <a:pt x="0" y="835488"/>
                </a:lnTo>
                <a:lnTo>
                  <a:pt x="0" y="0"/>
                </a:lnTo>
                <a:close/>
              </a:path>
            </a:pathLst>
          </a:custGeom>
          <a:blipFill>
            <a:blip r:embed="rId5"/>
            <a:stretch>
              <a:fillRect l="0" t="0" r="0" b="0"/>
            </a:stretch>
          </a:blipFill>
        </p:spPr>
      </p:sp>
      <p:sp>
        <p:nvSpPr>
          <p:cNvPr name="Freeform 17" id="17"/>
          <p:cNvSpPr/>
          <p:nvPr/>
        </p:nvSpPr>
        <p:spPr>
          <a:xfrm flipH="false" flipV="false" rot="0">
            <a:off x="13443400" y="3197063"/>
            <a:ext cx="835488" cy="835488"/>
          </a:xfrm>
          <a:custGeom>
            <a:avLst/>
            <a:gdLst/>
            <a:ahLst/>
            <a:cxnLst/>
            <a:rect r="r" b="b" t="t" l="l"/>
            <a:pathLst>
              <a:path h="835488" w="835488">
                <a:moveTo>
                  <a:pt x="0" y="0"/>
                </a:moveTo>
                <a:lnTo>
                  <a:pt x="835489" y="0"/>
                </a:lnTo>
                <a:lnTo>
                  <a:pt x="835489" y="835489"/>
                </a:lnTo>
                <a:lnTo>
                  <a:pt x="0" y="835489"/>
                </a:lnTo>
                <a:lnTo>
                  <a:pt x="0" y="0"/>
                </a:lnTo>
                <a:close/>
              </a:path>
            </a:pathLst>
          </a:custGeom>
          <a:blipFill>
            <a:blip r:embed="rId5"/>
            <a:stretch>
              <a:fillRect l="0" t="0" r="0" b="0"/>
            </a:stretch>
          </a:blipFill>
        </p:spPr>
      </p:sp>
      <p:sp>
        <p:nvSpPr>
          <p:cNvPr name="Freeform 18" id="18"/>
          <p:cNvSpPr/>
          <p:nvPr/>
        </p:nvSpPr>
        <p:spPr>
          <a:xfrm flipH="false" flipV="false" rot="0">
            <a:off x="13723323" y="9258300"/>
            <a:ext cx="835488" cy="835488"/>
          </a:xfrm>
          <a:custGeom>
            <a:avLst/>
            <a:gdLst/>
            <a:ahLst/>
            <a:cxnLst/>
            <a:rect r="r" b="b" t="t" l="l"/>
            <a:pathLst>
              <a:path h="835488" w="835488">
                <a:moveTo>
                  <a:pt x="0" y="0"/>
                </a:moveTo>
                <a:lnTo>
                  <a:pt x="835488" y="0"/>
                </a:lnTo>
                <a:lnTo>
                  <a:pt x="835488" y="835488"/>
                </a:lnTo>
                <a:lnTo>
                  <a:pt x="0" y="835488"/>
                </a:lnTo>
                <a:lnTo>
                  <a:pt x="0" y="0"/>
                </a:lnTo>
                <a:close/>
              </a:path>
            </a:pathLst>
          </a:custGeom>
          <a:blipFill>
            <a:blip r:embed="rId5"/>
            <a:stretch>
              <a:fillRect l="0" t="0" r="0" b="0"/>
            </a:stretch>
          </a:blipFill>
        </p:spPr>
      </p:sp>
      <p:sp>
        <p:nvSpPr>
          <p:cNvPr name="Freeform 19" id="19"/>
          <p:cNvSpPr/>
          <p:nvPr/>
        </p:nvSpPr>
        <p:spPr>
          <a:xfrm flipH="false" flipV="false" rot="0">
            <a:off x="14049642" y="6274661"/>
            <a:ext cx="835488" cy="835488"/>
          </a:xfrm>
          <a:custGeom>
            <a:avLst/>
            <a:gdLst/>
            <a:ahLst/>
            <a:cxnLst/>
            <a:rect r="r" b="b" t="t" l="l"/>
            <a:pathLst>
              <a:path h="835488" w="835488">
                <a:moveTo>
                  <a:pt x="0" y="0"/>
                </a:moveTo>
                <a:lnTo>
                  <a:pt x="835489" y="0"/>
                </a:lnTo>
                <a:lnTo>
                  <a:pt x="835489" y="835488"/>
                </a:lnTo>
                <a:lnTo>
                  <a:pt x="0" y="835488"/>
                </a:lnTo>
                <a:lnTo>
                  <a:pt x="0" y="0"/>
                </a:lnTo>
                <a:close/>
              </a:path>
            </a:pathLst>
          </a:custGeom>
          <a:blipFill>
            <a:blip r:embed="rId5"/>
            <a:stretch>
              <a:fillRect l="0" t="0" r="0" b="0"/>
            </a:stretch>
          </a:blipFill>
        </p:spPr>
      </p:sp>
      <p:sp>
        <p:nvSpPr>
          <p:cNvPr name="Freeform 20" id="20"/>
          <p:cNvSpPr/>
          <p:nvPr/>
        </p:nvSpPr>
        <p:spPr>
          <a:xfrm flipH="false" flipV="false" rot="0">
            <a:off x="13025656" y="5180618"/>
            <a:ext cx="835488" cy="835488"/>
          </a:xfrm>
          <a:custGeom>
            <a:avLst/>
            <a:gdLst/>
            <a:ahLst/>
            <a:cxnLst/>
            <a:rect r="r" b="b" t="t" l="l"/>
            <a:pathLst>
              <a:path h="835488" w="835488">
                <a:moveTo>
                  <a:pt x="0" y="0"/>
                </a:moveTo>
                <a:lnTo>
                  <a:pt x="835489" y="0"/>
                </a:lnTo>
                <a:lnTo>
                  <a:pt x="835489" y="835488"/>
                </a:lnTo>
                <a:lnTo>
                  <a:pt x="0" y="835488"/>
                </a:lnTo>
                <a:lnTo>
                  <a:pt x="0" y="0"/>
                </a:lnTo>
                <a:close/>
              </a:path>
            </a:pathLst>
          </a:custGeom>
          <a:blipFill>
            <a:blip r:embed="rId5"/>
            <a:stretch>
              <a:fillRect l="0" t="0" r="0" b="0"/>
            </a:stretch>
          </a:blipFill>
        </p:spPr>
      </p:sp>
      <p:sp>
        <p:nvSpPr>
          <p:cNvPr name="Freeform 21" id="21"/>
          <p:cNvSpPr/>
          <p:nvPr/>
        </p:nvSpPr>
        <p:spPr>
          <a:xfrm flipH="false" flipV="false" rot="0">
            <a:off x="14766211" y="2287575"/>
            <a:ext cx="835488" cy="835488"/>
          </a:xfrm>
          <a:custGeom>
            <a:avLst/>
            <a:gdLst/>
            <a:ahLst/>
            <a:cxnLst/>
            <a:rect r="r" b="b" t="t" l="l"/>
            <a:pathLst>
              <a:path h="835488" w="835488">
                <a:moveTo>
                  <a:pt x="0" y="0"/>
                </a:moveTo>
                <a:lnTo>
                  <a:pt x="835489" y="0"/>
                </a:lnTo>
                <a:lnTo>
                  <a:pt x="835489" y="835488"/>
                </a:lnTo>
                <a:lnTo>
                  <a:pt x="0" y="835488"/>
                </a:lnTo>
                <a:lnTo>
                  <a:pt x="0" y="0"/>
                </a:lnTo>
                <a:close/>
              </a:path>
            </a:pathLst>
          </a:custGeom>
          <a:blipFill>
            <a:blip r:embed="rId5"/>
            <a:stretch>
              <a:fillRect l="0" t="0" r="0" b="0"/>
            </a:stretch>
          </a:blipFill>
        </p:spPr>
      </p:sp>
      <p:sp>
        <p:nvSpPr>
          <p:cNvPr name="Freeform 22" id="22"/>
          <p:cNvSpPr/>
          <p:nvPr/>
        </p:nvSpPr>
        <p:spPr>
          <a:xfrm>
            <a:off x="15601699" y="1452086"/>
            <a:ext cx="579055" cy="1317811"/>
          </a:xfrm>
          <a:custGeom>
            <a:avLst/>
            <a:gdLst/>
            <a:ahLst/>
            <a:cxnLst/>
            <a:rect r="r" b="b" t="t" l="l"/>
            <a:pathLst>
              <a:path h="1317811" w="579055">
                <a:moveTo>
                  <a:pt x="579054" y="0"/>
                </a:moveTo>
                <a:lnTo>
                  <a:pt x="579054" y="1089211"/>
                </a:lnTo>
                <a:cubicBezTo>
                  <a:pt x="579054" y="1149839"/>
                  <a:pt x="554971" y="1207984"/>
                  <a:pt x="512099" y="1250855"/>
                </a:cubicBezTo>
                <a:cubicBezTo>
                  <a:pt x="469229" y="1293726"/>
                  <a:pt x="411083" y="1317811"/>
                  <a:pt x="350454" y="1317811"/>
                </a:cubicBezTo>
                <a:lnTo>
                  <a:pt x="0" y="1317811"/>
                </a:lnTo>
              </a:path>
            </a:pathLst>
          </a:custGeom>
          <a:ln cap="flat" w="38100">
            <a:solidFill>
              <a:srgbClr val="000000"/>
            </a:solidFill>
            <a:prstDash val="solid"/>
            <a:headEnd type="none" len="sm" w="sm"/>
            <a:tailEnd type="none" len="sm" w="sm"/>
          </a:ln>
        </p:spPr>
      </p:sp>
      <p:sp>
        <p:nvSpPr>
          <p:cNvPr name="Freeform 23" id="23"/>
          <p:cNvSpPr/>
          <p:nvPr/>
        </p:nvSpPr>
        <p:spPr>
          <a:xfrm>
            <a:off x="13861145" y="2287575"/>
            <a:ext cx="1322811" cy="693585"/>
          </a:xfrm>
          <a:custGeom>
            <a:avLst/>
            <a:gdLst/>
            <a:ahLst/>
            <a:cxnLst/>
            <a:rect r="r" b="b" t="t" l="l"/>
            <a:pathLst>
              <a:path h="693585" w="1322811">
                <a:moveTo>
                  <a:pt x="1322810" y="0"/>
                </a:moveTo>
                <a:lnTo>
                  <a:pt x="890004" y="0"/>
                </a:lnTo>
                <a:cubicBezTo>
                  <a:pt x="763751" y="0"/>
                  <a:pt x="661404" y="102347"/>
                  <a:pt x="661404" y="228600"/>
                </a:cubicBezTo>
                <a:lnTo>
                  <a:pt x="661404" y="464985"/>
                </a:lnTo>
                <a:cubicBezTo>
                  <a:pt x="661404" y="591237"/>
                  <a:pt x="559057" y="693585"/>
                  <a:pt x="432804" y="693585"/>
                </a:cubicBezTo>
                <a:lnTo>
                  <a:pt x="0" y="693585"/>
                </a:lnTo>
              </a:path>
            </a:pathLst>
          </a:custGeom>
          <a:ln cap="flat" w="38100">
            <a:solidFill>
              <a:srgbClr val="000000"/>
            </a:solidFill>
            <a:prstDash val="solid"/>
            <a:headEnd type="none" len="sm" w="sm"/>
            <a:tailEnd type="none" len="sm" w="sm"/>
          </a:ln>
        </p:spPr>
      </p:sp>
      <p:sp>
        <p:nvSpPr>
          <p:cNvPr name="Freeform 24" id="24"/>
          <p:cNvSpPr/>
          <p:nvPr/>
        </p:nvSpPr>
        <p:spPr>
          <a:xfrm>
            <a:off x="13861145" y="4032552"/>
            <a:ext cx="1759924" cy="548898"/>
          </a:xfrm>
          <a:custGeom>
            <a:avLst/>
            <a:gdLst/>
            <a:ahLst/>
            <a:cxnLst/>
            <a:rect r="r" b="b" t="t" l="l"/>
            <a:pathLst>
              <a:path h="548898" w="1759924">
                <a:moveTo>
                  <a:pt x="1759923" y="548897"/>
                </a:moveTo>
                <a:lnTo>
                  <a:pt x="1108561" y="548897"/>
                </a:lnTo>
                <a:cubicBezTo>
                  <a:pt x="1047933" y="548897"/>
                  <a:pt x="989787" y="524812"/>
                  <a:pt x="946917" y="481942"/>
                </a:cubicBezTo>
                <a:cubicBezTo>
                  <a:pt x="904047" y="439071"/>
                  <a:pt x="879961" y="380926"/>
                  <a:pt x="879961" y="320297"/>
                </a:cubicBezTo>
                <a:lnTo>
                  <a:pt x="879961" y="228600"/>
                </a:lnTo>
                <a:cubicBezTo>
                  <a:pt x="879961" y="102347"/>
                  <a:pt x="777614" y="0"/>
                  <a:pt x="651361" y="0"/>
                </a:cubicBezTo>
                <a:lnTo>
                  <a:pt x="0" y="0"/>
                </a:lnTo>
              </a:path>
            </a:pathLst>
          </a:custGeom>
          <a:ln cap="flat" w="38100">
            <a:solidFill>
              <a:srgbClr val="000000"/>
            </a:solidFill>
            <a:prstDash val="solid"/>
            <a:headEnd type="none" len="sm" w="sm"/>
            <a:tailEnd type="none" len="sm" w="sm"/>
          </a:ln>
        </p:spPr>
      </p:sp>
      <p:sp>
        <p:nvSpPr>
          <p:cNvPr name="Freeform 25" id="25"/>
          <p:cNvSpPr/>
          <p:nvPr/>
        </p:nvSpPr>
        <p:spPr>
          <a:xfrm>
            <a:off x="13861145" y="4163705"/>
            <a:ext cx="2177667" cy="1434657"/>
          </a:xfrm>
          <a:custGeom>
            <a:avLst/>
            <a:gdLst/>
            <a:ahLst/>
            <a:cxnLst/>
            <a:rect r="r" b="b" t="t" l="l"/>
            <a:pathLst>
              <a:path h="1434657" w="2177667">
                <a:moveTo>
                  <a:pt x="0" y="1434657"/>
                </a:moveTo>
                <a:lnTo>
                  <a:pt x="1949067" y="1434657"/>
                </a:lnTo>
                <a:cubicBezTo>
                  <a:pt x="2009696" y="1434657"/>
                  <a:pt x="2067841" y="1410572"/>
                  <a:pt x="2110711" y="1367702"/>
                </a:cubicBezTo>
                <a:cubicBezTo>
                  <a:pt x="2153583" y="1324831"/>
                  <a:pt x="2177667" y="1266685"/>
                  <a:pt x="2177667" y="1206057"/>
                </a:cubicBezTo>
                <a:lnTo>
                  <a:pt x="2177667" y="0"/>
                </a:lnTo>
              </a:path>
            </a:pathLst>
          </a:custGeom>
          <a:ln cap="flat" w="38100">
            <a:solidFill>
              <a:srgbClr val="000000"/>
            </a:solidFill>
            <a:prstDash val="solid"/>
            <a:headEnd type="none" len="sm" w="sm"/>
            <a:tailEnd type="none" len="sm" w="sm"/>
          </a:ln>
        </p:spPr>
      </p:sp>
      <p:sp>
        <p:nvSpPr>
          <p:cNvPr name="Freeform 26" id="26"/>
          <p:cNvSpPr/>
          <p:nvPr/>
        </p:nvSpPr>
        <p:spPr>
          <a:xfrm>
            <a:off x="13443401" y="6016106"/>
            <a:ext cx="606241" cy="676299"/>
          </a:xfrm>
          <a:custGeom>
            <a:avLst/>
            <a:gdLst/>
            <a:ahLst/>
            <a:cxnLst/>
            <a:rect r="r" b="b" t="t" l="l"/>
            <a:pathLst>
              <a:path h="676299" w="606241">
                <a:moveTo>
                  <a:pt x="0" y="0"/>
                </a:moveTo>
                <a:lnTo>
                  <a:pt x="0" y="447699"/>
                </a:lnTo>
                <a:cubicBezTo>
                  <a:pt x="0" y="508328"/>
                  <a:pt x="24085" y="566473"/>
                  <a:pt x="66956" y="609343"/>
                </a:cubicBezTo>
                <a:cubicBezTo>
                  <a:pt x="109826" y="652214"/>
                  <a:pt x="167971" y="676299"/>
                  <a:pt x="228600" y="676299"/>
                </a:cubicBezTo>
                <a:lnTo>
                  <a:pt x="606241" y="676299"/>
                </a:lnTo>
              </a:path>
            </a:pathLst>
          </a:custGeom>
          <a:ln cap="flat" w="38100">
            <a:solidFill>
              <a:srgbClr val="000000"/>
            </a:solidFill>
            <a:prstDash val="solid"/>
            <a:headEnd type="none" len="sm" w="sm"/>
            <a:tailEnd type="none" len="sm" w="sm"/>
          </a:ln>
        </p:spPr>
      </p:sp>
      <p:sp>
        <p:nvSpPr>
          <p:cNvPr name="Freeform 27" id="27"/>
          <p:cNvSpPr/>
          <p:nvPr/>
        </p:nvSpPr>
        <p:spPr>
          <a:xfrm>
            <a:off x="13723324" y="7110149"/>
            <a:ext cx="744063" cy="2565895"/>
          </a:xfrm>
          <a:custGeom>
            <a:avLst/>
            <a:gdLst/>
            <a:ahLst/>
            <a:cxnLst/>
            <a:rect r="r" b="b" t="t" l="l"/>
            <a:pathLst>
              <a:path h="2565895" w="744063">
                <a:moveTo>
                  <a:pt x="744063" y="0"/>
                </a:moveTo>
                <a:lnTo>
                  <a:pt x="744063" y="2337295"/>
                </a:lnTo>
                <a:cubicBezTo>
                  <a:pt x="744063" y="2463547"/>
                  <a:pt x="641715" y="2565895"/>
                  <a:pt x="515463" y="2565895"/>
                </a:cubicBezTo>
                <a:lnTo>
                  <a:pt x="0" y="2565895"/>
                </a:lnTo>
              </a:path>
            </a:pathLst>
          </a:custGeom>
          <a:ln cap="flat" w="38100">
            <a:solidFill>
              <a:srgbClr val="000000"/>
            </a:solidFill>
            <a:prstDash val="solid"/>
            <a:headEnd type="none" len="sm" w="sm"/>
            <a:tailEnd type="none" len="sm" w="sm"/>
          </a:ln>
        </p:spPr>
      </p:sp>
      <p:grpSp>
        <p:nvGrpSpPr>
          <p:cNvPr name="Group 28" id="28"/>
          <p:cNvGrpSpPr/>
          <p:nvPr/>
        </p:nvGrpSpPr>
        <p:grpSpPr>
          <a:xfrm rot="0">
            <a:off x="645045" y="6844240"/>
            <a:ext cx="8498955" cy="1085445"/>
            <a:chOff x="0" y="0"/>
            <a:chExt cx="2238408" cy="285878"/>
          </a:xfrm>
        </p:grpSpPr>
        <p:sp>
          <p:nvSpPr>
            <p:cNvPr name="Freeform 29" id="29"/>
            <p:cNvSpPr/>
            <p:nvPr/>
          </p:nvSpPr>
          <p:spPr>
            <a:xfrm flipH="false" flipV="false" rot="0">
              <a:off x="0" y="0"/>
              <a:ext cx="2238408" cy="285878"/>
            </a:xfrm>
            <a:custGeom>
              <a:avLst/>
              <a:gdLst/>
              <a:ahLst/>
              <a:cxnLst/>
              <a:rect r="r" b="b" t="t" l="l"/>
              <a:pathLst>
                <a:path h="285878" w="2238408">
                  <a:moveTo>
                    <a:pt x="46457" y="0"/>
                  </a:moveTo>
                  <a:lnTo>
                    <a:pt x="2191951" y="0"/>
                  </a:lnTo>
                  <a:cubicBezTo>
                    <a:pt x="2217608" y="0"/>
                    <a:pt x="2238408" y="20800"/>
                    <a:pt x="2238408" y="46457"/>
                  </a:cubicBezTo>
                  <a:lnTo>
                    <a:pt x="2238408" y="239421"/>
                  </a:lnTo>
                  <a:cubicBezTo>
                    <a:pt x="2238408" y="265079"/>
                    <a:pt x="2217608" y="285878"/>
                    <a:pt x="2191951" y="285878"/>
                  </a:cubicBezTo>
                  <a:lnTo>
                    <a:pt x="46457" y="285878"/>
                  </a:lnTo>
                  <a:cubicBezTo>
                    <a:pt x="20800" y="285878"/>
                    <a:pt x="0" y="265079"/>
                    <a:pt x="0" y="239421"/>
                  </a:cubicBezTo>
                  <a:lnTo>
                    <a:pt x="0" y="46457"/>
                  </a:lnTo>
                  <a:cubicBezTo>
                    <a:pt x="0" y="20800"/>
                    <a:pt x="20800" y="0"/>
                    <a:pt x="46457" y="0"/>
                  </a:cubicBezTo>
                  <a:close/>
                </a:path>
              </a:pathLst>
            </a:custGeom>
            <a:solidFill>
              <a:srgbClr val="F8F6F0"/>
            </a:solidFill>
            <a:ln w="38100" cap="rnd">
              <a:solidFill>
                <a:srgbClr val="000000"/>
              </a:solidFill>
              <a:prstDash val="solid"/>
              <a:round/>
            </a:ln>
          </p:spPr>
        </p:sp>
        <p:sp>
          <p:nvSpPr>
            <p:cNvPr name="TextBox 30" id="30"/>
            <p:cNvSpPr txBox="true"/>
            <p:nvPr/>
          </p:nvSpPr>
          <p:spPr>
            <a:xfrm>
              <a:off x="0" y="-66675"/>
              <a:ext cx="2238408" cy="352553"/>
            </a:xfrm>
            <a:prstGeom prst="rect">
              <a:avLst/>
            </a:prstGeom>
          </p:spPr>
          <p:txBody>
            <a:bodyPr anchor="ctr" rtlCol="false" tIns="50800" lIns="50800" bIns="50800" rIns="50800"/>
            <a:lstStyle/>
            <a:p>
              <a:pPr algn="ctr" marL="0" indent="0" lvl="0">
                <a:lnSpc>
                  <a:spcPts val="3919"/>
                </a:lnSpc>
                <a:spcBef>
                  <a:spcPct val="0"/>
                </a:spcBef>
              </a:pPr>
              <a:r>
                <a:rPr lang="en-US" sz="2799">
                  <a:solidFill>
                    <a:srgbClr val="54DF64"/>
                  </a:solidFill>
                  <a:latin typeface="Cy Grotesk Wide"/>
                  <a:ea typeface="Cy Grotesk Wide"/>
                  <a:cs typeface="Cy Grotesk Wide"/>
                  <a:sym typeface="Cy Grotesk Wide"/>
                </a:rPr>
                <a:t>VISIÓN GLOBAL DE LA INSTITUCIÓN</a:t>
              </a:r>
            </a:p>
          </p:txBody>
        </p:sp>
      </p:grpSp>
      <p:grpSp>
        <p:nvGrpSpPr>
          <p:cNvPr name="Group 31" id="31"/>
          <p:cNvGrpSpPr/>
          <p:nvPr/>
        </p:nvGrpSpPr>
        <p:grpSpPr>
          <a:xfrm rot="0">
            <a:off x="2205792" y="8172855"/>
            <a:ext cx="8498955" cy="1085445"/>
            <a:chOff x="0" y="0"/>
            <a:chExt cx="2238408" cy="285878"/>
          </a:xfrm>
        </p:grpSpPr>
        <p:sp>
          <p:nvSpPr>
            <p:cNvPr name="Freeform 32" id="32"/>
            <p:cNvSpPr/>
            <p:nvPr/>
          </p:nvSpPr>
          <p:spPr>
            <a:xfrm flipH="false" flipV="false" rot="0">
              <a:off x="0" y="0"/>
              <a:ext cx="2238408" cy="285878"/>
            </a:xfrm>
            <a:custGeom>
              <a:avLst/>
              <a:gdLst/>
              <a:ahLst/>
              <a:cxnLst/>
              <a:rect r="r" b="b" t="t" l="l"/>
              <a:pathLst>
                <a:path h="285878" w="2238408">
                  <a:moveTo>
                    <a:pt x="46457" y="0"/>
                  </a:moveTo>
                  <a:lnTo>
                    <a:pt x="2191951" y="0"/>
                  </a:lnTo>
                  <a:cubicBezTo>
                    <a:pt x="2217608" y="0"/>
                    <a:pt x="2238408" y="20800"/>
                    <a:pt x="2238408" y="46457"/>
                  </a:cubicBezTo>
                  <a:lnTo>
                    <a:pt x="2238408" y="239421"/>
                  </a:lnTo>
                  <a:cubicBezTo>
                    <a:pt x="2238408" y="265079"/>
                    <a:pt x="2217608" y="285878"/>
                    <a:pt x="2191951" y="285878"/>
                  </a:cubicBezTo>
                  <a:lnTo>
                    <a:pt x="46457" y="285878"/>
                  </a:lnTo>
                  <a:cubicBezTo>
                    <a:pt x="20800" y="285878"/>
                    <a:pt x="0" y="265079"/>
                    <a:pt x="0" y="239421"/>
                  </a:cubicBezTo>
                  <a:lnTo>
                    <a:pt x="0" y="46457"/>
                  </a:lnTo>
                  <a:cubicBezTo>
                    <a:pt x="0" y="20800"/>
                    <a:pt x="20800" y="0"/>
                    <a:pt x="46457" y="0"/>
                  </a:cubicBezTo>
                  <a:close/>
                </a:path>
              </a:pathLst>
            </a:custGeom>
            <a:solidFill>
              <a:srgbClr val="F8F6F0"/>
            </a:solidFill>
            <a:ln w="38100" cap="rnd">
              <a:solidFill>
                <a:srgbClr val="000000"/>
              </a:solidFill>
              <a:prstDash val="solid"/>
              <a:round/>
            </a:ln>
          </p:spPr>
        </p:sp>
        <p:sp>
          <p:nvSpPr>
            <p:cNvPr name="TextBox 33" id="33"/>
            <p:cNvSpPr txBox="true"/>
            <p:nvPr/>
          </p:nvSpPr>
          <p:spPr>
            <a:xfrm>
              <a:off x="0" y="-57150"/>
              <a:ext cx="2238408" cy="343028"/>
            </a:xfrm>
            <a:prstGeom prst="rect">
              <a:avLst/>
            </a:prstGeom>
          </p:spPr>
          <p:txBody>
            <a:bodyPr anchor="ctr" rtlCol="false" tIns="50800" lIns="50800" bIns="50800" rIns="50800"/>
            <a:lstStyle/>
            <a:p>
              <a:pPr algn="ctr" marL="0" indent="0" lvl="0">
                <a:lnSpc>
                  <a:spcPts val="3779"/>
                </a:lnSpc>
                <a:spcBef>
                  <a:spcPct val="0"/>
                </a:spcBef>
              </a:pPr>
              <a:r>
                <a:rPr lang="en-US" sz="2700">
                  <a:solidFill>
                    <a:srgbClr val="54DF64"/>
                  </a:solidFill>
                  <a:latin typeface="Cy Grotesk Wide"/>
                  <a:ea typeface="Cy Grotesk Wide"/>
                  <a:cs typeface="Cy Grotesk Wide"/>
                  <a:sym typeface="Cy Grotesk Wide"/>
                </a:rPr>
                <a:t>DETECTAR TENDENCIAS RELEVANTES</a:t>
              </a:r>
            </a:p>
          </p:txBody>
        </p:sp>
      </p:grpSp>
      <p:sp>
        <p:nvSpPr>
          <p:cNvPr name="TextBox 34" id="34"/>
          <p:cNvSpPr txBox="true"/>
          <p:nvPr/>
        </p:nvSpPr>
        <p:spPr>
          <a:xfrm rot="0">
            <a:off x="645045" y="3538607"/>
            <a:ext cx="9202910" cy="2453268"/>
          </a:xfrm>
          <a:prstGeom prst="rect">
            <a:avLst/>
          </a:prstGeom>
        </p:spPr>
        <p:txBody>
          <a:bodyPr anchor="t" rtlCol="false" tIns="0" lIns="0" bIns="0" rIns="0">
            <a:spAutoFit/>
          </a:bodyPr>
          <a:lstStyle/>
          <a:p>
            <a:pPr algn="l">
              <a:lnSpc>
                <a:spcPts val="3900"/>
              </a:lnSpc>
            </a:pPr>
            <a:r>
              <a:rPr lang="en-US" sz="2600">
                <a:solidFill>
                  <a:srgbClr val="000000"/>
                </a:solidFill>
                <a:latin typeface="Cy Grotesk Key"/>
                <a:ea typeface="Cy Grotesk Key"/>
                <a:cs typeface="Cy Grotesk Key"/>
                <a:sym typeface="Cy Grotesk Key"/>
              </a:rPr>
              <a:t>La UTN cuenta con una red de facultades distribuidas en el país, que generan grandes volúmenes de información sobre: </a:t>
            </a:r>
            <a:r>
              <a:rPr lang="en-US" b="true" sz="2600">
                <a:solidFill>
                  <a:srgbClr val="000000"/>
                </a:solidFill>
                <a:latin typeface="Cy Grotesk Key Bold"/>
                <a:ea typeface="Cy Grotesk Key Bold"/>
                <a:cs typeface="Cy Grotesk Key Bold"/>
                <a:sym typeface="Cy Grotesk Key Bold"/>
              </a:rPr>
              <a:t>estudiantes, carreras, materias e inscripciones.</a:t>
            </a:r>
            <a:r>
              <a:rPr lang="en-US" sz="2600">
                <a:solidFill>
                  <a:srgbClr val="000000"/>
                </a:solidFill>
                <a:latin typeface="Cy Grotesk Key"/>
                <a:ea typeface="Cy Grotesk Key"/>
                <a:cs typeface="Cy Grotesk Key"/>
                <a:sym typeface="Cy Grotesk Key"/>
              </a:rPr>
              <a:t> </a:t>
            </a:r>
            <a:r>
              <a:rPr lang="en-US" sz="2600">
                <a:solidFill>
                  <a:srgbClr val="000000"/>
                </a:solidFill>
                <a:latin typeface="Cy Grotesk Key"/>
                <a:ea typeface="Cy Grotesk Key"/>
                <a:cs typeface="Cy Grotesk Key"/>
                <a:sym typeface="Cy Grotesk Key"/>
              </a:rPr>
              <a:t>E</a:t>
            </a:r>
            <a:r>
              <a:rPr lang="en-US" sz="2600">
                <a:solidFill>
                  <a:srgbClr val="000000"/>
                </a:solidFill>
                <a:latin typeface="Cy Grotesk Key"/>
                <a:ea typeface="Cy Grotesk Key"/>
                <a:cs typeface="Cy Grotesk Key"/>
                <a:sym typeface="Cy Grotesk Key"/>
              </a:rPr>
              <a:t>stos datos se encuentran dispersos en distintos sistemas y sedes.</a:t>
            </a:r>
          </a:p>
        </p:txBody>
      </p:sp>
      <p:sp>
        <p:nvSpPr>
          <p:cNvPr name="TextBox 35" id="35"/>
          <p:cNvSpPr txBox="true"/>
          <p:nvPr/>
        </p:nvSpPr>
        <p:spPr>
          <a:xfrm rot="0">
            <a:off x="645045" y="1162050"/>
            <a:ext cx="8701430" cy="138506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1.</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Contexto y problema de negocio</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6836" y="685868"/>
            <a:ext cx="19405901" cy="1491048"/>
            <a:chOff x="0" y="0"/>
            <a:chExt cx="22307074" cy="1713959"/>
          </a:xfrm>
        </p:grpSpPr>
        <p:sp>
          <p:nvSpPr>
            <p:cNvPr name="Freeform 3" id="3"/>
            <p:cNvSpPr/>
            <p:nvPr/>
          </p:nvSpPr>
          <p:spPr>
            <a:xfrm flipH="false" flipV="false" rot="0">
              <a:off x="0" y="0"/>
              <a:ext cx="22307074" cy="1713959"/>
            </a:xfrm>
            <a:custGeom>
              <a:avLst/>
              <a:gdLst/>
              <a:ahLst/>
              <a:cxnLst/>
              <a:rect r="r" b="b" t="t" l="l"/>
              <a:pathLst>
                <a:path h="1713959" w="22307074">
                  <a:moveTo>
                    <a:pt x="0" y="0"/>
                  </a:moveTo>
                  <a:lnTo>
                    <a:pt x="22307074" y="0"/>
                  </a:lnTo>
                  <a:lnTo>
                    <a:pt x="22307074" y="1713959"/>
                  </a:lnTo>
                  <a:lnTo>
                    <a:pt x="0" y="1713959"/>
                  </a:lnTo>
                  <a:close/>
                </a:path>
              </a:pathLst>
            </a:custGeom>
            <a:solidFill>
              <a:srgbClr val="54DF64"/>
            </a:solidFill>
          </p:spPr>
        </p:sp>
        <p:sp>
          <p:nvSpPr>
            <p:cNvPr name="TextBox 4" id="4"/>
            <p:cNvSpPr txBox="true"/>
            <p:nvPr/>
          </p:nvSpPr>
          <p:spPr>
            <a:xfrm>
              <a:off x="0" y="-47625"/>
              <a:ext cx="22307074"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19152663" cy="1467918"/>
            <a:chOff x="0" y="0"/>
            <a:chExt cx="22015977" cy="1687371"/>
          </a:xfrm>
        </p:grpSpPr>
        <p:sp>
          <p:nvSpPr>
            <p:cNvPr name="Freeform 6" id="6"/>
            <p:cNvSpPr/>
            <p:nvPr/>
          </p:nvSpPr>
          <p:spPr>
            <a:xfrm flipH="false" flipV="false" rot="0">
              <a:off x="0" y="0"/>
              <a:ext cx="22015977" cy="1687371"/>
            </a:xfrm>
            <a:custGeom>
              <a:avLst/>
              <a:gdLst/>
              <a:ahLst/>
              <a:cxnLst/>
              <a:rect r="r" b="b" t="t" l="l"/>
              <a:pathLst>
                <a:path h="1687371" w="22015977">
                  <a:moveTo>
                    <a:pt x="0" y="0"/>
                  </a:moveTo>
                  <a:lnTo>
                    <a:pt x="22015977" y="0"/>
                  </a:lnTo>
                  <a:lnTo>
                    <a:pt x="22015977" y="1687371"/>
                  </a:lnTo>
                  <a:lnTo>
                    <a:pt x="0" y="1687371"/>
                  </a:lnTo>
                  <a:close/>
                </a:path>
              </a:pathLst>
            </a:custGeom>
            <a:solidFill>
              <a:srgbClr val="000000"/>
            </a:solidFill>
          </p:spPr>
        </p:sp>
        <p:sp>
          <p:nvSpPr>
            <p:cNvPr name="TextBox 7" id="7"/>
            <p:cNvSpPr txBox="true"/>
            <p:nvPr/>
          </p:nvSpPr>
          <p:spPr>
            <a:xfrm>
              <a:off x="0" y="-47625"/>
              <a:ext cx="22015977"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14638628"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2.</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Objetivo general</a:t>
            </a:r>
          </a:p>
        </p:txBody>
      </p:sp>
      <p:grpSp>
        <p:nvGrpSpPr>
          <p:cNvPr name="Group 9" id="9"/>
          <p:cNvGrpSpPr/>
          <p:nvPr/>
        </p:nvGrpSpPr>
        <p:grpSpPr>
          <a:xfrm rot="0">
            <a:off x="1285366" y="2893114"/>
            <a:ext cx="15701497" cy="1738326"/>
            <a:chOff x="0" y="0"/>
            <a:chExt cx="18048863" cy="1998205"/>
          </a:xfrm>
        </p:grpSpPr>
        <p:sp>
          <p:nvSpPr>
            <p:cNvPr name="Freeform 10" id="10"/>
            <p:cNvSpPr/>
            <p:nvPr/>
          </p:nvSpPr>
          <p:spPr>
            <a:xfrm flipH="false" flipV="false" rot="0">
              <a:off x="0" y="0"/>
              <a:ext cx="18048863" cy="1998205"/>
            </a:xfrm>
            <a:custGeom>
              <a:avLst/>
              <a:gdLst/>
              <a:ahLst/>
              <a:cxnLst/>
              <a:rect r="r" b="b" t="t" l="l"/>
              <a:pathLst>
                <a:path h="1998205" w="18048863">
                  <a:moveTo>
                    <a:pt x="0" y="0"/>
                  </a:moveTo>
                  <a:lnTo>
                    <a:pt x="18048863" y="0"/>
                  </a:lnTo>
                  <a:lnTo>
                    <a:pt x="18048863" y="1998205"/>
                  </a:lnTo>
                  <a:lnTo>
                    <a:pt x="0" y="1998205"/>
                  </a:lnTo>
                  <a:close/>
                </a:path>
              </a:pathLst>
            </a:custGeom>
            <a:solidFill>
              <a:srgbClr val="54DF64"/>
            </a:solidFill>
          </p:spPr>
        </p:sp>
        <p:sp>
          <p:nvSpPr>
            <p:cNvPr name="TextBox 11" id="11"/>
            <p:cNvSpPr txBox="true"/>
            <p:nvPr/>
          </p:nvSpPr>
          <p:spPr>
            <a:xfrm>
              <a:off x="0" y="-47625"/>
              <a:ext cx="18048863" cy="204583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39927" y="3230612"/>
            <a:ext cx="14808146" cy="1044437"/>
          </a:xfrm>
          <a:prstGeom prst="rect">
            <a:avLst/>
          </a:prstGeom>
        </p:spPr>
        <p:txBody>
          <a:bodyPr anchor="t" rtlCol="false" tIns="0" lIns="0" bIns="0" rIns="0">
            <a:spAutoFit/>
          </a:bodyPr>
          <a:lstStyle/>
          <a:p>
            <a:pPr algn="ctr">
              <a:lnSpc>
                <a:spcPts val="4252"/>
              </a:lnSpc>
            </a:pPr>
            <a:r>
              <a:rPr lang="en-US" sz="2835">
                <a:solidFill>
                  <a:srgbClr val="000000"/>
                </a:solidFill>
                <a:latin typeface="Cy Grotesk Key"/>
                <a:ea typeface="Cy Grotesk Key"/>
                <a:cs typeface="Cy Grotesk Key"/>
                <a:sym typeface="Cy Grotesk Key"/>
              </a:rPr>
              <a:t>Mejorar el desempeño estudiantil y la eficacia institucional en el pazo de </a:t>
            </a:r>
            <a:r>
              <a:rPr lang="en-US" b="true" sz="2835">
                <a:solidFill>
                  <a:srgbClr val="000000"/>
                </a:solidFill>
                <a:latin typeface="Cy Grotesk Key Bold"/>
                <a:ea typeface="Cy Grotesk Key Bold"/>
                <a:cs typeface="Cy Grotesk Key Bold"/>
                <a:sym typeface="Cy Grotesk Key Bold"/>
              </a:rPr>
              <a:t>5 años</a:t>
            </a:r>
            <a:r>
              <a:rPr lang="en-US" sz="2835">
                <a:solidFill>
                  <a:srgbClr val="000000"/>
                </a:solidFill>
                <a:latin typeface="Cy Grotesk Key"/>
                <a:ea typeface="Cy Grotesk Key"/>
                <a:cs typeface="Cy Grotesk Key"/>
                <a:sym typeface="Cy Grotesk Key"/>
              </a:rPr>
              <a:t>, reduciendo en un </a:t>
            </a:r>
            <a:r>
              <a:rPr lang="en-US" b="true" sz="2835">
                <a:solidFill>
                  <a:srgbClr val="000000"/>
                </a:solidFill>
                <a:latin typeface="Cy Grotesk Key Bold"/>
                <a:ea typeface="Cy Grotesk Key Bold"/>
                <a:cs typeface="Cy Grotesk Key Bold"/>
                <a:sym typeface="Cy Grotesk Key Bold"/>
              </a:rPr>
              <a:t>20%</a:t>
            </a:r>
            <a:r>
              <a:rPr lang="en-US" sz="2835">
                <a:solidFill>
                  <a:srgbClr val="000000"/>
                </a:solidFill>
                <a:latin typeface="Cy Grotesk Key"/>
                <a:ea typeface="Cy Grotesk Key"/>
                <a:cs typeface="Cy Grotesk Key"/>
                <a:sym typeface="Cy Grotesk Key"/>
              </a:rPr>
              <a:t> el abandono estudiantil.</a:t>
            </a:r>
          </a:p>
        </p:txBody>
      </p:sp>
      <p:grpSp>
        <p:nvGrpSpPr>
          <p:cNvPr name="Group 13" id="13"/>
          <p:cNvGrpSpPr/>
          <p:nvPr/>
        </p:nvGrpSpPr>
        <p:grpSpPr>
          <a:xfrm rot="0">
            <a:off x="2504700" y="5079115"/>
            <a:ext cx="8156531" cy="1044214"/>
            <a:chOff x="0" y="0"/>
            <a:chExt cx="2148222" cy="275019"/>
          </a:xfrm>
        </p:grpSpPr>
        <p:sp>
          <p:nvSpPr>
            <p:cNvPr name="Freeform 14" id="14"/>
            <p:cNvSpPr/>
            <p:nvPr/>
          </p:nvSpPr>
          <p:spPr>
            <a:xfrm flipH="false" flipV="false" rot="0">
              <a:off x="0" y="0"/>
              <a:ext cx="2148222" cy="275019"/>
            </a:xfrm>
            <a:custGeom>
              <a:avLst/>
              <a:gdLst/>
              <a:ahLst/>
              <a:cxnLst/>
              <a:rect r="r" b="b" t="t" l="l"/>
              <a:pathLst>
                <a:path h="275019" w="2148222">
                  <a:moveTo>
                    <a:pt x="48408" y="0"/>
                  </a:moveTo>
                  <a:lnTo>
                    <a:pt x="2099814" y="0"/>
                  </a:lnTo>
                  <a:cubicBezTo>
                    <a:pt x="2112653" y="0"/>
                    <a:pt x="2124966" y="5100"/>
                    <a:pt x="2134044" y="14178"/>
                  </a:cubicBezTo>
                  <a:cubicBezTo>
                    <a:pt x="2143122" y="23256"/>
                    <a:pt x="2148222" y="35569"/>
                    <a:pt x="2148222" y="48408"/>
                  </a:cubicBezTo>
                  <a:lnTo>
                    <a:pt x="2148222" y="226612"/>
                  </a:lnTo>
                  <a:cubicBezTo>
                    <a:pt x="2148222" y="239450"/>
                    <a:pt x="2143122" y="251763"/>
                    <a:pt x="2134044" y="260841"/>
                  </a:cubicBezTo>
                  <a:cubicBezTo>
                    <a:pt x="2124966" y="269919"/>
                    <a:pt x="2112653" y="275019"/>
                    <a:pt x="2099814" y="275019"/>
                  </a:cubicBezTo>
                  <a:lnTo>
                    <a:pt x="48408" y="275019"/>
                  </a:lnTo>
                  <a:cubicBezTo>
                    <a:pt x="21673" y="275019"/>
                    <a:pt x="0" y="253347"/>
                    <a:pt x="0" y="226612"/>
                  </a:cubicBezTo>
                  <a:lnTo>
                    <a:pt x="0" y="48408"/>
                  </a:lnTo>
                  <a:cubicBezTo>
                    <a:pt x="0" y="21673"/>
                    <a:pt x="21673" y="0"/>
                    <a:pt x="48408" y="0"/>
                  </a:cubicBezTo>
                  <a:close/>
                </a:path>
              </a:pathLst>
            </a:custGeom>
            <a:solidFill>
              <a:srgbClr val="F8F6F0"/>
            </a:solidFill>
            <a:ln w="38100" cap="rnd">
              <a:solidFill>
                <a:srgbClr val="000000"/>
              </a:solidFill>
              <a:prstDash val="solid"/>
              <a:round/>
            </a:ln>
          </p:spPr>
        </p:sp>
        <p:sp>
          <p:nvSpPr>
            <p:cNvPr name="TextBox 15" id="15"/>
            <p:cNvSpPr txBox="true"/>
            <p:nvPr/>
          </p:nvSpPr>
          <p:spPr>
            <a:xfrm>
              <a:off x="0" y="-47625"/>
              <a:ext cx="2148222" cy="322644"/>
            </a:xfrm>
            <a:prstGeom prst="rect">
              <a:avLst/>
            </a:prstGeom>
          </p:spPr>
          <p:txBody>
            <a:bodyPr anchor="ctr" rtlCol="false" tIns="50800" lIns="50800" bIns="50800" rIns="50800"/>
            <a:lstStyle/>
            <a:p>
              <a:pPr algn="l" marL="539751" indent="-269876" lvl="1">
                <a:lnSpc>
                  <a:spcPts val="3500"/>
                </a:lnSpc>
                <a:spcBef>
                  <a:spcPct val="0"/>
                </a:spcBef>
                <a:buAutoNum type="arabicPeriod" startAt="1"/>
              </a:pPr>
              <a:r>
                <a:rPr lang="en-US" sz="2500">
                  <a:solidFill>
                    <a:srgbClr val="54DF64"/>
                  </a:solidFill>
                  <a:latin typeface="Cy Grotesk Wide"/>
                  <a:ea typeface="Cy Grotesk Wide"/>
                  <a:cs typeface="Cy Grotesk Wide"/>
                  <a:sym typeface="Cy Grotesk Wide"/>
                </a:rPr>
                <a:t> REDUCIR EL ABANDONO ESTUDIANTIL</a:t>
              </a:r>
            </a:p>
          </p:txBody>
        </p:sp>
      </p:grpSp>
      <p:grpSp>
        <p:nvGrpSpPr>
          <p:cNvPr name="Group 16" id="16"/>
          <p:cNvGrpSpPr/>
          <p:nvPr/>
        </p:nvGrpSpPr>
        <p:grpSpPr>
          <a:xfrm rot="0">
            <a:off x="1839185" y="7538331"/>
            <a:ext cx="8421996" cy="1014953"/>
            <a:chOff x="0" y="0"/>
            <a:chExt cx="2218139" cy="267313"/>
          </a:xfrm>
        </p:grpSpPr>
        <p:sp>
          <p:nvSpPr>
            <p:cNvPr name="Freeform 17" id="17"/>
            <p:cNvSpPr/>
            <p:nvPr/>
          </p:nvSpPr>
          <p:spPr>
            <a:xfrm flipH="false" flipV="false" rot="0">
              <a:off x="0" y="0"/>
              <a:ext cx="2218139" cy="267313"/>
            </a:xfrm>
            <a:custGeom>
              <a:avLst/>
              <a:gdLst/>
              <a:ahLst/>
              <a:cxnLst/>
              <a:rect r="r" b="b" t="t" l="l"/>
              <a:pathLst>
                <a:path h="267313" w="2218139">
                  <a:moveTo>
                    <a:pt x="46882" y="0"/>
                  </a:moveTo>
                  <a:lnTo>
                    <a:pt x="2171257" y="0"/>
                  </a:lnTo>
                  <a:cubicBezTo>
                    <a:pt x="2197149" y="0"/>
                    <a:pt x="2218139" y="20990"/>
                    <a:pt x="2218139" y="46882"/>
                  </a:cubicBezTo>
                  <a:lnTo>
                    <a:pt x="2218139" y="220431"/>
                  </a:lnTo>
                  <a:cubicBezTo>
                    <a:pt x="2218139" y="246323"/>
                    <a:pt x="2197149" y="267313"/>
                    <a:pt x="2171257" y="267313"/>
                  </a:cubicBezTo>
                  <a:lnTo>
                    <a:pt x="46882" y="267313"/>
                  </a:lnTo>
                  <a:cubicBezTo>
                    <a:pt x="20990" y="267313"/>
                    <a:pt x="0" y="246323"/>
                    <a:pt x="0" y="220431"/>
                  </a:cubicBezTo>
                  <a:lnTo>
                    <a:pt x="0" y="46882"/>
                  </a:lnTo>
                  <a:cubicBezTo>
                    <a:pt x="0" y="20990"/>
                    <a:pt x="20990" y="0"/>
                    <a:pt x="46882" y="0"/>
                  </a:cubicBezTo>
                  <a:close/>
                </a:path>
              </a:pathLst>
            </a:custGeom>
            <a:solidFill>
              <a:srgbClr val="F8F6F0"/>
            </a:solidFill>
            <a:ln w="38100" cap="rnd">
              <a:solidFill>
                <a:srgbClr val="000000"/>
              </a:solidFill>
              <a:prstDash val="solid"/>
              <a:round/>
            </a:ln>
          </p:spPr>
        </p:sp>
        <p:sp>
          <p:nvSpPr>
            <p:cNvPr name="TextBox 18" id="18"/>
            <p:cNvSpPr txBox="true"/>
            <p:nvPr/>
          </p:nvSpPr>
          <p:spPr>
            <a:xfrm>
              <a:off x="0" y="-47625"/>
              <a:ext cx="2218139" cy="314938"/>
            </a:xfrm>
            <a:prstGeom prst="rect">
              <a:avLst/>
            </a:prstGeom>
          </p:spPr>
          <p:txBody>
            <a:bodyPr anchor="ctr" rtlCol="false" tIns="50800" lIns="50800" bIns="50800" rIns="50800"/>
            <a:lstStyle/>
            <a:p>
              <a:pPr algn="l" marL="539751" indent="-269876" lvl="1">
                <a:lnSpc>
                  <a:spcPts val="3500"/>
                </a:lnSpc>
                <a:buAutoNum type="arabicPeriod" startAt="1"/>
              </a:pPr>
              <a:r>
                <a:rPr lang="en-US" sz="2500">
                  <a:solidFill>
                    <a:srgbClr val="54DF64"/>
                  </a:solidFill>
                  <a:latin typeface="Cy Grotesk Wide"/>
                  <a:ea typeface="Cy Grotesk Wide"/>
                  <a:cs typeface="Cy Grotesk Wide"/>
                  <a:sym typeface="Cy Grotesk Wide"/>
                </a:rPr>
                <a:t> ACORTAR EL TIEMPO DE GRADUACIÓN</a:t>
              </a:r>
            </a:p>
          </p:txBody>
        </p:sp>
      </p:grpSp>
      <p:grpSp>
        <p:nvGrpSpPr>
          <p:cNvPr name="Group 19" id="19"/>
          <p:cNvGrpSpPr/>
          <p:nvPr/>
        </p:nvGrpSpPr>
        <p:grpSpPr>
          <a:xfrm rot="0">
            <a:off x="5859683" y="6323354"/>
            <a:ext cx="10589132" cy="1014953"/>
            <a:chOff x="0" y="0"/>
            <a:chExt cx="2788907" cy="267313"/>
          </a:xfrm>
        </p:grpSpPr>
        <p:sp>
          <p:nvSpPr>
            <p:cNvPr name="Freeform 20" id="20"/>
            <p:cNvSpPr/>
            <p:nvPr/>
          </p:nvSpPr>
          <p:spPr>
            <a:xfrm flipH="false" flipV="false" rot="0">
              <a:off x="0" y="0"/>
              <a:ext cx="2788907" cy="267313"/>
            </a:xfrm>
            <a:custGeom>
              <a:avLst/>
              <a:gdLst/>
              <a:ahLst/>
              <a:cxnLst/>
              <a:rect r="r" b="b" t="t" l="l"/>
              <a:pathLst>
                <a:path h="267313" w="2788907">
                  <a:moveTo>
                    <a:pt x="37287" y="0"/>
                  </a:moveTo>
                  <a:lnTo>
                    <a:pt x="2751620" y="0"/>
                  </a:lnTo>
                  <a:cubicBezTo>
                    <a:pt x="2772213" y="0"/>
                    <a:pt x="2788907" y="16694"/>
                    <a:pt x="2788907" y="37287"/>
                  </a:cubicBezTo>
                  <a:lnTo>
                    <a:pt x="2788907" y="230026"/>
                  </a:lnTo>
                  <a:cubicBezTo>
                    <a:pt x="2788907" y="250619"/>
                    <a:pt x="2772213" y="267313"/>
                    <a:pt x="2751620" y="267313"/>
                  </a:cubicBezTo>
                  <a:lnTo>
                    <a:pt x="37287" y="267313"/>
                  </a:lnTo>
                  <a:cubicBezTo>
                    <a:pt x="16694" y="267313"/>
                    <a:pt x="0" y="250619"/>
                    <a:pt x="0" y="230026"/>
                  </a:cubicBezTo>
                  <a:lnTo>
                    <a:pt x="0" y="37287"/>
                  </a:lnTo>
                  <a:cubicBezTo>
                    <a:pt x="0" y="16694"/>
                    <a:pt x="16694" y="0"/>
                    <a:pt x="37287" y="0"/>
                  </a:cubicBezTo>
                  <a:close/>
                </a:path>
              </a:pathLst>
            </a:custGeom>
            <a:solidFill>
              <a:srgbClr val="F8F6F0"/>
            </a:solidFill>
            <a:ln w="38100" cap="rnd">
              <a:solidFill>
                <a:srgbClr val="000000"/>
              </a:solidFill>
              <a:prstDash val="solid"/>
              <a:round/>
            </a:ln>
          </p:spPr>
        </p:sp>
        <p:sp>
          <p:nvSpPr>
            <p:cNvPr name="TextBox 21" id="21"/>
            <p:cNvSpPr txBox="true"/>
            <p:nvPr/>
          </p:nvSpPr>
          <p:spPr>
            <a:xfrm>
              <a:off x="0" y="-47625"/>
              <a:ext cx="2788907" cy="314938"/>
            </a:xfrm>
            <a:prstGeom prst="rect">
              <a:avLst/>
            </a:prstGeom>
          </p:spPr>
          <p:txBody>
            <a:bodyPr anchor="ctr" rtlCol="false" tIns="50800" lIns="50800" bIns="50800" rIns="50800"/>
            <a:lstStyle/>
            <a:p>
              <a:pPr algn="l" marL="539751" indent="-269876" lvl="1">
                <a:lnSpc>
                  <a:spcPts val="3500"/>
                </a:lnSpc>
                <a:spcBef>
                  <a:spcPct val="0"/>
                </a:spcBef>
                <a:buAutoNum type="arabicPeriod" startAt="1"/>
              </a:pPr>
              <a:r>
                <a:rPr lang="en-US" sz="2500">
                  <a:solidFill>
                    <a:srgbClr val="54DF64"/>
                  </a:solidFill>
                  <a:latin typeface="Cy Grotesk Wide"/>
                  <a:ea typeface="Cy Grotesk Wide"/>
                  <a:cs typeface="Cy Grotesk Wide"/>
                  <a:sym typeface="Cy Grotesk Wide"/>
                </a:rPr>
                <a:t> MEJORAR LA APROBACIÓN DE MATERIAS CRÍTICAS</a:t>
              </a:r>
            </a:p>
          </p:txBody>
        </p:sp>
      </p:grpSp>
      <p:grpSp>
        <p:nvGrpSpPr>
          <p:cNvPr name="Group 22" id="22"/>
          <p:cNvGrpSpPr/>
          <p:nvPr/>
        </p:nvGrpSpPr>
        <p:grpSpPr>
          <a:xfrm rot="0">
            <a:off x="7407357" y="8753309"/>
            <a:ext cx="8318919" cy="1014953"/>
            <a:chOff x="0" y="0"/>
            <a:chExt cx="2190991" cy="267313"/>
          </a:xfrm>
        </p:grpSpPr>
        <p:sp>
          <p:nvSpPr>
            <p:cNvPr name="Freeform 23" id="23"/>
            <p:cNvSpPr/>
            <p:nvPr/>
          </p:nvSpPr>
          <p:spPr>
            <a:xfrm flipH="false" flipV="false" rot="0">
              <a:off x="0" y="0"/>
              <a:ext cx="2190991" cy="267313"/>
            </a:xfrm>
            <a:custGeom>
              <a:avLst/>
              <a:gdLst/>
              <a:ahLst/>
              <a:cxnLst/>
              <a:rect r="r" b="b" t="t" l="l"/>
              <a:pathLst>
                <a:path h="267313" w="2190991">
                  <a:moveTo>
                    <a:pt x="47463" y="0"/>
                  </a:moveTo>
                  <a:lnTo>
                    <a:pt x="2143528" y="0"/>
                  </a:lnTo>
                  <a:cubicBezTo>
                    <a:pt x="2169741" y="0"/>
                    <a:pt x="2190991" y="21250"/>
                    <a:pt x="2190991" y="47463"/>
                  </a:cubicBezTo>
                  <a:lnTo>
                    <a:pt x="2190991" y="219850"/>
                  </a:lnTo>
                  <a:cubicBezTo>
                    <a:pt x="2190991" y="246063"/>
                    <a:pt x="2169741" y="267313"/>
                    <a:pt x="2143528" y="267313"/>
                  </a:cubicBezTo>
                  <a:lnTo>
                    <a:pt x="47463" y="267313"/>
                  </a:lnTo>
                  <a:cubicBezTo>
                    <a:pt x="21250" y="267313"/>
                    <a:pt x="0" y="246063"/>
                    <a:pt x="0" y="219850"/>
                  </a:cubicBezTo>
                  <a:lnTo>
                    <a:pt x="0" y="47463"/>
                  </a:lnTo>
                  <a:cubicBezTo>
                    <a:pt x="0" y="21250"/>
                    <a:pt x="21250" y="0"/>
                    <a:pt x="47463" y="0"/>
                  </a:cubicBezTo>
                  <a:close/>
                </a:path>
              </a:pathLst>
            </a:custGeom>
            <a:solidFill>
              <a:srgbClr val="F8F6F0"/>
            </a:solidFill>
            <a:ln w="38100" cap="rnd">
              <a:solidFill>
                <a:srgbClr val="000000"/>
              </a:solidFill>
              <a:prstDash val="solid"/>
              <a:round/>
            </a:ln>
          </p:spPr>
        </p:sp>
        <p:sp>
          <p:nvSpPr>
            <p:cNvPr name="TextBox 24" id="24"/>
            <p:cNvSpPr txBox="true"/>
            <p:nvPr/>
          </p:nvSpPr>
          <p:spPr>
            <a:xfrm>
              <a:off x="0" y="-47625"/>
              <a:ext cx="2190991" cy="314938"/>
            </a:xfrm>
            <a:prstGeom prst="rect">
              <a:avLst/>
            </a:prstGeom>
          </p:spPr>
          <p:txBody>
            <a:bodyPr anchor="ctr" rtlCol="false" tIns="50800" lIns="50800" bIns="50800" rIns="50800"/>
            <a:lstStyle/>
            <a:p>
              <a:pPr algn="l" marL="539751" indent="-269876" lvl="1">
                <a:lnSpc>
                  <a:spcPts val="3500"/>
                </a:lnSpc>
                <a:spcBef>
                  <a:spcPct val="0"/>
                </a:spcBef>
                <a:buAutoNum type="arabicPeriod" startAt="1"/>
              </a:pPr>
              <a:r>
                <a:rPr lang="en-US" sz="2500">
                  <a:solidFill>
                    <a:srgbClr val="54DF64"/>
                  </a:solidFill>
                  <a:latin typeface="Cy Grotesk Wide"/>
                  <a:ea typeface="Cy Grotesk Wide"/>
                  <a:cs typeface="Cy Grotesk Wide"/>
                  <a:sym typeface="Cy Grotesk Wide"/>
                </a:rPr>
                <a:t> GARANTIZAR LA EQUIDAD ACADÉMICA</a:t>
              </a:r>
            </a:p>
          </p:txBody>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8424" y="572275"/>
            <a:ext cx="27532263" cy="1491048"/>
            <a:chOff x="0" y="0"/>
            <a:chExt cx="31648323" cy="1713959"/>
          </a:xfrm>
        </p:grpSpPr>
        <p:sp>
          <p:nvSpPr>
            <p:cNvPr name="Freeform 3" id="3"/>
            <p:cNvSpPr/>
            <p:nvPr/>
          </p:nvSpPr>
          <p:spPr>
            <a:xfrm flipH="false" flipV="false" rot="0">
              <a:off x="0" y="0"/>
              <a:ext cx="31648322" cy="1713959"/>
            </a:xfrm>
            <a:custGeom>
              <a:avLst/>
              <a:gdLst/>
              <a:ahLst/>
              <a:cxnLst/>
              <a:rect r="r" b="b" t="t" l="l"/>
              <a:pathLst>
                <a:path h="1713959" w="31648322">
                  <a:moveTo>
                    <a:pt x="0" y="0"/>
                  </a:moveTo>
                  <a:lnTo>
                    <a:pt x="31648322" y="0"/>
                  </a:lnTo>
                  <a:lnTo>
                    <a:pt x="31648322" y="1713959"/>
                  </a:lnTo>
                  <a:lnTo>
                    <a:pt x="0" y="1713959"/>
                  </a:lnTo>
                  <a:close/>
                </a:path>
              </a:pathLst>
            </a:custGeom>
            <a:solidFill>
              <a:srgbClr val="54DF64"/>
            </a:solidFill>
          </p:spPr>
        </p:sp>
        <p:sp>
          <p:nvSpPr>
            <p:cNvPr name="TextBox 4" id="4"/>
            <p:cNvSpPr txBox="true"/>
            <p:nvPr/>
          </p:nvSpPr>
          <p:spPr>
            <a:xfrm>
              <a:off x="0" y="-47625"/>
              <a:ext cx="31648323"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7450814" cy="1467918"/>
            <a:chOff x="0" y="0"/>
            <a:chExt cx="31554698" cy="1687371"/>
          </a:xfrm>
        </p:grpSpPr>
        <p:sp>
          <p:nvSpPr>
            <p:cNvPr name="Freeform 6" id="6"/>
            <p:cNvSpPr/>
            <p:nvPr/>
          </p:nvSpPr>
          <p:spPr>
            <a:xfrm flipH="false" flipV="false" rot="0">
              <a:off x="0" y="0"/>
              <a:ext cx="31554697" cy="1687371"/>
            </a:xfrm>
            <a:custGeom>
              <a:avLst/>
              <a:gdLst/>
              <a:ahLst/>
              <a:cxnLst/>
              <a:rect r="r" b="b" t="t" l="l"/>
              <a:pathLst>
                <a:path h="1687371" w="31554697">
                  <a:moveTo>
                    <a:pt x="0" y="0"/>
                  </a:moveTo>
                  <a:lnTo>
                    <a:pt x="31554697" y="0"/>
                  </a:lnTo>
                  <a:lnTo>
                    <a:pt x="31554697" y="1687371"/>
                  </a:lnTo>
                  <a:lnTo>
                    <a:pt x="0" y="1687371"/>
                  </a:lnTo>
                  <a:close/>
                </a:path>
              </a:pathLst>
            </a:custGeom>
            <a:solidFill>
              <a:srgbClr val="000000"/>
            </a:solidFill>
          </p:spPr>
        </p:sp>
        <p:sp>
          <p:nvSpPr>
            <p:cNvPr name="TextBox 7" id="7"/>
            <p:cNvSpPr txBox="true"/>
            <p:nvPr/>
          </p:nvSpPr>
          <p:spPr>
            <a:xfrm>
              <a:off x="0" y="-47625"/>
              <a:ext cx="31554698"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16360508"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2.</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Sub objetivos y preguntas analíticas</a:t>
            </a:r>
          </a:p>
        </p:txBody>
      </p:sp>
      <p:sp>
        <p:nvSpPr>
          <p:cNvPr name="TextBox 9" id="9"/>
          <p:cNvSpPr txBox="true"/>
          <p:nvPr/>
        </p:nvSpPr>
        <p:spPr>
          <a:xfrm rot="0">
            <a:off x="1372537" y="4719838"/>
            <a:ext cx="2343889" cy="842357"/>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01</a:t>
            </a:r>
          </a:p>
        </p:txBody>
      </p:sp>
      <p:sp>
        <p:nvSpPr>
          <p:cNvPr name="TextBox 10" id="10"/>
          <p:cNvSpPr txBox="true"/>
          <p:nvPr/>
        </p:nvSpPr>
        <p:spPr>
          <a:xfrm rot="0">
            <a:off x="7309580" y="4772767"/>
            <a:ext cx="2343889" cy="842416"/>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02</a:t>
            </a:r>
          </a:p>
        </p:txBody>
      </p:sp>
      <p:sp>
        <p:nvSpPr>
          <p:cNvPr name="TextBox 11" id="11"/>
          <p:cNvSpPr txBox="true"/>
          <p:nvPr/>
        </p:nvSpPr>
        <p:spPr>
          <a:xfrm rot="0">
            <a:off x="12953703" y="4808038"/>
            <a:ext cx="2343889" cy="842416"/>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03</a:t>
            </a:r>
          </a:p>
        </p:txBody>
      </p:sp>
      <p:grpSp>
        <p:nvGrpSpPr>
          <p:cNvPr name="Group 12" id="12"/>
          <p:cNvGrpSpPr/>
          <p:nvPr/>
        </p:nvGrpSpPr>
        <p:grpSpPr>
          <a:xfrm rot="0">
            <a:off x="1247797" y="5650454"/>
            <a:ext cx="4495206" cy="6261351"/>
            <a:chOff x="0" y="0"/>
            <a:chExt cx="5167237" cy="7197420"/>
          </a:xfrm>
        </p:grpSpPr>
        <p:sp>
          <p:nvSpPr>
            <p:cNvPr name="Freeform 13" id="13"/>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14" id="14"/>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2700000">
            <a:off x="858123" y="5047781"/>
            <a:ext cx="1028829" cy="102882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17" id="17"/>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2510347" y="5650454"/>
            <a:ext cx="4495206" cy="6261351"/>
            <a:chOff x="0" y="0"/>
            <a:chExt cx="5167237" cy="7197420"/>
          </a:xfrm>
        </p:grpSpPr>
        <p:sp>
          <p:nvSpPr>
            <p:cNvPr name="Freeform 19" id="19"/>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20" id="20"/>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2700000">
            <a:off x="12176180" y="5047781"/>
            <a:ext cx="1028829" cy="102882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6896397" y="5650454"/>
            <a:ext cx="4495206" cy="6261351"/>
            <a:chOff x="0" y="0"/>
            <a:chExt cx="5167237" cy="7197420"/>
          </a:xfrm>
        </p:grpSpPr>
        <p:sp>
          <p:nvSpPr>
            <p:cNvPr name="Freeform 25" id="25"/>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26" id="26"/>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2700000">
            <a:off x="6526928" y="5033123"/>
            <a:ext cx="1028829" cy="102882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29" id="29"/>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730711" y="6327862"/>
            <a:ext cx="3529379" cy="2453268"/>
          </a:xfrm>
          <a:prstGeom prst="rect">
            <a:avLst/>
          </a:prstGeom>
        </p:spPr>
        <p:txBody>
          <a:bodyPr anchor="t" rtlCol="false" tIns="0" lIns="0" bIns="0" rIns="0">
            <a:spAutoFit/>
          </a:bodyPr>
          <a:lstStyle/>
          <a:p>
            <a:pPr algn="ctr">
              <a:lnSpc>
                <a:spcPts val="3900"/>
              </a:lnSpc>
            </a:pPr>
            <a:r>
              <a:rPr lang="en-US" sz="2600">
                <a:solidFill>
                  <a:srgbClr val="F8F6F0"/>
                </a:solidFill>
                <a:latin typeface="Cy Grotesk Key"/>
                <a:ea typeface="Cy Grotesk Key"/>
                <a:cs typeface="Cy Grotesk Key"/>
                <a:sym typeface="Cy Grotesk Key"/>
              </a:rPr>
              <a:t>¿Qué combinación de materias reprobadas en 1er año predice el abandono?</a:t>
            </a:r>
          </a:p>
        </p:txBody>
      </p:sp>
      <p:sp>
        <p:nvSpPr>
          <p:cNvPr name="TextBox 31" id="31"/>
          <p:cNvSpPr txBox="true"/>
          <p:nvPr/>
        </p:nvSpPr>
        <p:spPr>
          <a:xfrm rot="0">
            <a:off x="7361986" y="6295859"/>
            <a:ext cx="3529379" cy="2485271"/>
          </a:xfrm>
          <a:prstGeom prst="rect">
            <a:avLst/>
          </a:prstGeom>
        </p:spPr>
        <p:txBody>
          <a:bodyPr anchor="t" rtlCol="false" tIns="0" lIns="0" bIns="0" rIns="0">
            <a:spAutoFit/>
          </a:bodyPr>
          <a:lstStyle/>
          <a:p>
            <a:pPr algn="ctr">
              <a:lnSpc>
                <a:spcPts val="3952"/>
              </a:lnSpc>
            </a:pPr>
            <a:r>
              <a:rPr lang="en-US" sz="2635">
                <a:solidFill>
                  <a:srgbClr val="F8F6F0"/>
                </a:solidFill>
                <a:latin typeface="Cy Grotesk Key"/>
                <a:ea typeface="Cy Grotesk Key"/>
                <a:cs typeface="Cy Grotesk Key"/>
                <a:sym typeface="Cy Grotesk Key"/>
              </a:rPr>
              <a:t>¿En qué cuatrimestre se concentra la mayor caída de inscripciones?</a:t>
            </a:r>
          </a:p>
        </p:txBody>
      </p:sp>
      <p:sp>
        <p:nvSpPr>
          <p:cNvPr name="TextBox 32" id="32"/>
          <p:cNvSpPr txBox="true"/>
          <p:nvPr/>
        </p:nvSpPr>
        <p:spPr>
          <a:xfrm rot="0">
            <a:off x="13052941" y="6213488"/>
            <a:ext cx="3410019" cy="1958042"/>
          </a:xfrm>
          <a:prstGeom prst="rect">
            <a:avLst/>
          </a:prstGeom>
        </p:spPr>
        <p:txBody>
          <a:bodyPr anchor="t" rtlCol="false" tIns="0" lIns="0" bIns="0" rIns="0">
            <a:spAutoFit/>
          </a:bodyPr>
          <a:lstStyle/>
          <a:p>
            <a:pPr algn="ctr">
              <a:lnSpc>
                <a:spcPts val="3900"/>
              </a:lnSpc>
            </a:pPr>
            <a:r>
              <a:rPr lang="en-US" sz="2600">
                <a:solidFill>
                  <a:srgbClr val="F8F6F0"/>
                </a:solidFill>
                <a:latin typeface="Cy Grotesk Key"/>
                <a:ea typeface="Cy Grotesk Key"/>
                <a:cs typeface="Cy Grotesk Key"/>
                <a:sym typeface="Cy Grotesk Key"/>
              </a:rPr>
              <a:t>¿El abandono varía por regional, carrera, nivel o género?</a:t>
            </a:r>
          </a:p>
        </p:txBody>
      </p:sp>
      <p:grpSp>
        <p:nvGrpSpPr>
          <p:cNvPr name="Group 33" id="33"/>
          <p:cNvGrpSpPr/>
          <p:nvPr/>
        </p:nvGrpSpPr>
        <p:grpSpPr>
          <a:xfrm rot="0">
            <a:off x="878333" y="2618749"/>
            <a:ext cx="16531335" cy="1475266"/>
            <a:chOff x="0" y="0"/>
            <a:chExt cx="4353932" cy="388547"/>
          </a:xfrm>
        </p:grpSpPr>
        <p:sp>
          <p:nvSpPr>
            <p:cNvPr name="Freeform 34" id="34"/>
            <p:cNvSpPr/>
            <p:nvPr/>
          </p:nvSpPr>
          <p:spPr>
            <a:xfrm flipH="false" flipV="false" rot="0">
              <a:off x="0" y="0"/>
              <a:ext cx="4353932" cy="388547"/>
            </a:xfrm>
            <a:custGeom>
              <a:avLst/>
              <a:gdLst/>
              <a:ahLst/>
              <a:cxnLst/>
              <a:rect r="r" b="b" t="t" l="l"/>
              <a:pathLst>
                <a:path h="388547" w="4353932">
                  <a:moveTo>
                    <a:pt x="23884" y="0"/>
                  </a:moveTo>
                  <a:lnTo>
                    <a:pt x="4330048" y="0"/>
                  </a:lnTo>
                  <a:cubicBezTo>
                    <a:pt x="4336382" y="0"/>
                    <a:pt x="4342457" y="2516"/>
                    <a:pt x="4346936" y="6996"/>
                  </a:cubicBezTo>
                  <a:cubicBezTo>
                    <a:pt x="4351415" y="11475"/>
                    <a:pt x="4353932" y="17550"/>
                    <a:pt x="4353932" y="23884"/>
                  </a:cubicBezTo>
                  <a:lnTo>
                    <a:pt x="4353932" y="364663"/>
                  </a:lnTo>
                  <a:cubicBezTo>
                    <a:pt x="4353932" y="377854"/>
                    <a:pt x="4343239" y="388547"/>
                    <a:pt x="4330048" y="388547"/>
                  </a:cubicBezTo>
                  <a:lnTo>
                    <a:pt x="23884" y="388547"/>
                  </a:lnTo>
                  <a:cubicBezTo>
                    <a:pt x="10693" y="388547"/>
                    <a:pt x="0" y="377854"/>
                    <a:pt x="0" y="364663"/>
                  </a:cubicBezTo>
                  <a:lnTo>
                    <a:pt x="0" y="23884"/>
                  </a:lnTo>
                  <a:cubicBezTo>
                    <a:pt x="0" y="10693"/>
                    <a:pt x="10693" y="0"/>
                    <a:pt x="23884" y="0"/>
                  </a:cubicBezTo>
                  <a:close/>
                </a:path>
              </a:pathLst>
            </a:custGeom>
            <a:solidFill>
              <a:srgbClr val="F8F6F0"/>
            </a:solidFill>
            <a:ln w="38100" cap="rnd">
              <a:solidFill>
                <a:srgbClr val="000000"/>
              </a:solidFill>
              <a:prstDash val="solid"/>
              <a:round/>
            </a:ln>
          </p:spPr>
        </p:sp>
        <p:sp>
          <p:nvSpPr>
            <p:cNvPr name="TextBox 35" id="35"/>
            <p:cNvSpPr txBox="true"/>
            <p:nvPr/>
          </p:nvSpPr>
          <p:spPr>
            <a:xfrm>
              <a:off x="0" y="-47625"/>
              <a:ext cx="4353932" cy="436172"/>
            </a:xfrm>
            <a:prstGeom prst="rect">
              <a:avLst/>
            </a:prstGeom>
          </p:spPr>
          <p:txBody>
            <a:bodyPr anchor="ctr" rtlCol="false" tIns="50800" lIns="50800" bIns="50800" rIns="50800"/>
            <a:lstStyle/>
            <a:p>
              <a:pPr algn="ctr">
                <a:lnSpc>
                  <a:spcPts val="3500"/>
                </a:lnSpc>
                <a:spcBef>
                  <a:spcPct val="0"/>
                </a:spcBef>
              </a:pPr>
              <a:r>
                <a:rPr lang="en-US" sz="2500">
                  <a:solidFill>
                    <a:srgbClr val="54DF64"/>
                  </a:solidFill>
                  <a:latin typeface="Cy Grotesk Wide"/>
                  <a:ea typeface="Cy Grotesk Wide"/>
                  <a:cs typeface="Cy Grotesk Wide"/>
                  <a:sym typeface="Cy Grotesk Wide"/>
                </a:rPr>
                <a:t>1. REDUCIR EL ABANDONO UNIVERSITARIO EN UN </a:t>
              </a:r>
              <a:r>
                <a:rPr lang="en-US" b="true" sz="2500">
                  <a:solidFill>
                    <a:srgbClr val="54DF64"/>
                  </a:solidFill>
                  <a:latin typeface="Cy Grotesk Wide Bold"/>
                  <a:ea typeface="Cy Grotesk Wide Bold"/>
                  <a:cs typeface="Cy Grotesk Wide Bold"/>
                  <a:sym typeface="Cy Grotesk Wide Bold"/>
                </a:rPr>
                <a:t>10% </a:t>
              </a:r>
              <a:r>
                <a:rPr lang="en-US" sz="2500">
                  <a:solidFill>
                    <a:srgbClr val="54DF64"/>
                  </a:solidFill>
                  <a:latin typeface="Cy Grotesk Wide"/>
                  <a:ea typeface="Cy Grotesk Wide"/>
                  <a:cs typeface="Cy Grotesk Wide"/>
                  <a:sym typeface="Cy Grotesk Wide"/>
                </a:rPr>
                <a:t>EN LOS PRÓXIMOS</a:t>
              </a:r>
              <a:r>
                <a:rPr lang="en-US" b="true" sz="2500">
                  <a:solidFill>
                    <a:srgbClr val="54DF64"/>
                  </a:solidFill>
                  <a:latin typeface="Cy Grotesk Wide Bold"/>
                  <a:ea typeface="Cy Grotesk Wide Bold"/>
                  <a:cs typeface="Cy Grotesk Wide Bold"/>
                  <a:sym typeface="Cy Grotesk Wide Bold"/>
                </a:rPr>
                <a:t> 3 AÑOS</a:t>
              </a:r>
              <a:r>
                <a:rPr lang="en-US" sz="2500">
                  <a:solidFill>
                    <a:srgbClr val="54DF64"/>
                  </a:solidFill>
                  <a:latin typeface="Cy Grotesk Wide"/>
                  <a:ea typeface="Cy Grotesk Wide"/>
                  <a:cs typeface="Cy Grotesk Wide"/>
                  <a:sym typeface="Cy Grotesk Wide"/>
                </a:rPr>
                <a:t>, IDENTIFICANDO TEMPRANAMENTE A LOS ESTUDIANTES EN RIESGO.</a:t>
              </a:r>
            </a:p>
          </p:txBody>
        </p:sp>
      </p:gr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96120">
            <a:off x="-10272231" y="702087"/>
            <a:ext cx="20355016" cy="1491048"/>
            <a:chOff x="0" y="0"/>
            <a:chExt cx="23398082" cy="1713959"/>
          </a:xfrm>
        </p:grpSpPr>
        <p:sp>
          <p:nvSpPr>
            <p:cNvPr name="Freeform 3" id="3"/>
            <p:cNvSpPr/>
            <p:nvPr/>
          </p:nvSpPr>
          <p:spPr>
            <a:xfrm flipH="false" flipV="false" rot="0">
              <a:off x="0" y="0"/>
              <a:ext cx="23398082" cy="1713959"/>
            </a:xfrm>
            <a:custGeom>
              <a:avLst/>
              <a:gdLst/>
              <a:ahLst/>
              <a:cxnLst/>
              <a:rect r="r" b="b" t="t" l="l"/>
              <a:pathLst>
                <a:path h="1713959" w="23398082">
                  <a:moveTo>
                    <a:pt x="0" y="0"/>
                  </a:moveTo>
                  <a:lnTo>
                    <a:pt x="23398082" y="0"/>
                  </a:lnTo>
                  <a:lnTo>
                    <a:pt x="23398082" y="1713959"/>
                  </a:lnTo>
                  <a:lnTo>
                    <a:pt x="0" y="1713959"/>
                  </a:lnTo>
                  <a:close/>
                </a:path>
              </a:pathLst>
            </a:custGeom>
            <a:solidFill>
              <a:srgbClr val="54DF64"/>
            </a:solidFill>
          </p:spPr>
        </p:sp>
        <p:sp>
          <p:nvSpPr>
            <p:cNvPr name="TextBox 4" id="4"/>
            <p:cNvSpPr txBox="true"/>
            <p:nvPr/>
          </p:nvSpPr>
          <p:spPr>
            <a:xfrm>
              <a:off x="0" y="-47625"/>
              <a:ext cx="23398082"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0299177" cy="1467918"/>
            <a:chOff x="0" y="0"/>
            <a:chExt cx="23333894" cy="1687371"/>
          </a:xfrm>
        </p:grpSpPr>
        <p:sp>
          <p:nvSpPr>
            <p:cNvPr name="Freeform 6" id="6"/>
            <p:cNvSpPr/>
            <p:nvPr/>
          </p:nvSpPr>
          <p:spPr>
            <a:xfrm flipH="false" flipV="false" rot="0">
              <a:off x="0" y="0"/>
              <a:ext cx="23333894" cy="1687371"/>
            </a:xfrm>
            <a:custGeom>
              <a:avLst/>
              <a:gdLst/>
              <a:ahLst/>
              <a:cxnLst/>
              <a:rect r="r" b="b" t="t" l="l"/>
              <a:pathLst>
                <a:path h="1687371" w="23333894">
                  <a:moveTo>
                    <a:pt x="0" y="0"/>
                  </a:moveTo>
                  <a:lnTo>
                    <a:pt x="23333894" y="0"/>
                  </a:lnTo>
                  <a:lnTo>
                    <a:pt x="23333894" y="1687371"/>
                  </a:lnTo>
                  <a:lnTo>
                    <a:pt x="0" y="1687371"/>
                  </a:lnTo>
                  <a:close/>
                </a:path>
              </a:pathLst>
            </a:custGeom>
            <a:solidFill>
              <a:srgbClr val="000000"/>
            </a:solidFill>
          </p:spPr>
        </p:sp>
        <p:sp>
          <p:nvSpPr>
            <p:cNvPr name="TextBox 7" id="7"/>
            <p:cNvSpPr txBox="true"/>
            <p:nvPr/>
          </p:nvSpPr>
          <p:spPr>
            <a:xfrm>
              <a:off x="0" y="-47625"/>
              <a:ext cx="23333894" cy="173499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18574" y="2959232"/>
            <a:ext cx="16850852" cy="6635023"/>
          </a:xfrm>
          <a:custGeom>
            <a:avLst/>
            <a:gdLst/>
            <a:ahLst/>
            <a:cxnLst/>
            <a:rect r="r" b="b" t="t" l="l"/>
            <a:pathLst>
              <a:path h="6635023" w="16850852">
                <a:moveTo>
                  <a:pt x="0" y="0"/>
                </a:moveTo>
                <a:lnTo>
                  <a:pt x="16850852" y="0"/>
                </a:lnTo>
                <a:lnTo>
                  <a:pt x="16850852" y="6635023"/>
                </a:lnTo>
                <a:lnTo>
                  <a:pt x="0" y="6635023"/>
                </a:lnTo>
                <a:lnTo>
                  <a:pt x="0" y="0"/>
                </a:lnTo>
                <a:close/>
              </a:path>
            </a:pathLst>
          </a:custGeom>
          <a:blipFill>
            <a:blip r:embed="rId3"/>
            <a:stretch>
              <a:fillRect l="0" t="0" r="0" b="0"/>
            </a:stretch>
          </a:blipFill>
        </p:spPr>
      </p:sp>
      <p:sp>
        <p:nvSpPr>
          <p:cNvPr name="TextBox 9" id="9"/>
          <p:cNvSpPr txBox="true"/>
          <p:nvPr/>
        </p:nvSpPr>
        <p:spPr>
          <a:xfrm rot="0">
            <a:off x="463140" y="1217119"/>
            <a:ext cx="9390775"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3.</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Origen de los datos</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0">
            <a:off x="0" y="-67693"/>
            <a:ext cx="18447379" cy="10354693"/>
            <a:chOff x="0" y="0"/>
            <a:chExt cx="21205253" cy="11902715"/>
          </a:xfrm>
        </p:grpSpPr>
        <p:sp>
          <p:nvSpPr>
            <p:cNvPr name="Freeform 3" id="3"/>
            <p:cNvSpPr/>
            <p:nvPr/>
          </p:nvSpPr>
          <p:spPr>
            <a:xfrm flipH="false" flipV="false" rot="0">
              <a:off x="0" y="0"/>
              <a:ext cx="21205253" cy="11902715"/>
            </a:xfrm>
            <a:custGeom>
              <a:avLst/>
              <a:gdLst/>
              <a:ahLst/>
              <a:cxnLst/>
              <a:rect r="r" b="b" t="t" l="l"/>
              <a:pathLst>
                <a:path h="11902715" w="21205253">
                  <a:moveTo>
                    <a:pt x="0" y="0"/>
                  </a:moveTo>
                  <a:lnTo>
                    <a:pt x="21205253" y="0"/>
                  </a:lnTo>
                  <a:lnTo>
                    <a:pt x="21205253" y="11902715"/>
                  </a:lnTo>
                  <a:lnTo>
                    <a:pt x="0" y="11902715"/>
                  </a:lnTo>
                  <a:close/>
                </a:path>
              </a:pathLst>
            </a:custGeom>
            <a:solidFill>
              <a:srgbClr val="000000"/>
            </a:solidFill>
          </p:spPr>
        </p:sp>
        <p:sp>
          <p:nvSpPr>
            <p:cNvPr name="TextBox 4" id="4"/>
            <p:cNvSpPr txBox="true"/>
            <p:nvPr/>
          </p:nvSpPr>
          <p:spPr>
            <a:xfrm>
              <a:off x="0" y="-47625"/>
              <a:ext cx="21205253" cy="119503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84203">
            <a:off x="-16340330" y="661456"/>
            <a:ext cx="27082879" cy="1491048"/>
            <a:chOff x="0" y="0"/>
            <a:chExt cx="31131756" cy="1713959"/>
          </a:xfrm>
        </p:grpSpPr>
        <p:sp>
          <p:nvSpPr>
            <p:cNvPr name="Freeform 6" id="6"/>
            <p:cNvSpPr/>
            <p:nvPr/>
          </p:nvSpPr>
          <p:spPr>
            <a:xfrm flipH="false" flipV="false" rot="0">
              <a:off x="0" y="0"/>
              <a:ext cx="31131756" cy="1713959"/>
            </a:xfrm>
            <a:custGeom>
              <a:avLst/>
              <a:gdLst/>
              <a:ahLst/>
              <a:cxnLst/>
              <a:rect r="r" b="b" t="t" l="l"/>
              <a:pathLst>
                <a:path h="1713959" w="31131756">
                  <a:moveTo>
                    <a:pt x="0" y="0"/>
                  </a:moveTo>
                  <a:lnTo>
                    <a:pt x="31131756" y="0"/>
                  </a:lnTo>
                  <a:lnTo>
                    <a:pt x="31131756" y="1713959"/>
                  </a:lnTo>
                  <a:lnTo>
                    <a:pt x="0" y="1713959"/>
                  </a:lnTo>
                  <a:close/>
                </a:path>
              </a:pathLst>
            </a:custGeom>
            <a:solidFill>
              <a:srgbClr val="F8F6F0"/>
            </a:solidFill>
          </p:spPr>
        </p:sp>
        <p:sp>
          <p:nvSpPr>
            <p:cNvPr name="TextBox 7" id="7"/>
            <p:cNvSpPr txBox="true"/>
            <p:nvPr/>
          </p:nvSpPr>
          <p:spPr>
            <a:xfrm>
              <a:off x="0" y="-47625"/>
              <a:ext cx="31131756" cy="176158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906864" y="616514"/>
            <a:ext cx="27403662" cy="1491048"/>
            <a:chOff x="0" y="0"/>
            <a:chExt cx="31500497" cy="1713959"/>
          </a:xfrm>
        </p:grpSpPr>
        <p:sp>
          <p:nvSpPr>
            <p:cNvPr name="Freeform 9" id="9"/>
            <p:cNvSpPr/>
            <p:nvPr/>
          </p:nvSpPr>
          <p:spPr>
            <a:xfrm flipH="false" flipV="false" rot="0">
              <a:off x="0" y="0"/>
              <a:ext cx="31500496" cy="1713959"/>
            </a:xfrm>
            <a:custGeom>
              <a:avLst/>
              <a:gdLst/>
              <a:ahLst/>
              <a:cxnLst/>
              <a:rect r="r" b="b" t="t" l="l"/>
              <a:pathLst>
                <a:path h="1713959" w="31500496">
                  <a:moveTo>
                    <a:pt x="0" y="0"/>
                  </a:moveTo>
                  <a:lnTo>
                    <a:pt x="31500496" y="0"/>
                  </a:lnTo>
                  <a:lnTo>
                    <a:pt x="31500496" y="1713959"/>
                  </a:lnTo>
                  <a:lnTo>
                    <a:pt x="0" y="1713959"/>
                  </a:lnTo>
                  <a:close/>
                </a:path>
              </a:pathLst>
            </a:custGeom>
            <a:solidFill>
              <a:srgbClr val="54DF64"/>
            </a:solidFill>
          </p:spPr>
        </p:sp>
        <p:sp>
          <p:nvSpPr>
            <p:cNvPr name="TextBox 10" id="10"/>
            <p:cNvSpPr txBox="true"/>
            <p:nvPr/>
          </p:nvSpPr>
          <p:spPr>
            <a:xfrm>
              <a:off x="0" y="-47625"/>
              <a:ext cx="31500497" cy="176158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61743" y="1069557"/>
            <a:ext cx="9828903" cy="718312"/>
          </a:xfrm>
          <a:prstGeom prst="rect">
            <a:avLst/>
          </a:prstGeom>
        </p:spPr>
        <p:txBody>
          <a:bodyPr anchor="t" rtlCol="false" tIns="0" lIns="0" bIns="0" rIns="0">
            <a:spAutoFit/>
          </a:bodyPr>
          <a:lstStyle/>
          <a:p>
            <a:pPr algn="l">
              <a:lnSpc>
                <a:spcPts val="5264"/>
              </a:lnSpc>
            </a:pPr>
            <a:r>
              <a:rPr lang="en-US" sz="5600" b="true">
                <a:solidFill>
                  <a:srgbClr val="000000"/>
                </a:solidFill>
                <a:latin typeface="Cy Grotesk Wide Bold"/>
                <a:ea typeface="Cy Grotesk Wide Bold"/>
                <a:cs typeface="Cy Grotesk Wide Bold"/>
                <a:sym typeface="Cy Grotesk Wide Bold"/>
              </a:rPr>
              <a:t>3.</a:t>
            </a:r>
            <a:r>
              <a:rPr lang="en-US" sz="5600">
                <a:solidFill>
                  <a:srgbClr val="F8F6F0"/>
                </a:solidFill>
                <a:latin typeface="Cy Grotesk Wide"/>
                <a:ea typeface="Cy Grotesk Wide"/>
                <a:cs typeface="Cy Grotesk Wide"/>
                <a:sym typeface="Cy Grotesk Wide"/>
              </a:rPr>
              <a:t> Alcance de los datos</a:t>
            </a:r>
          </a:p>
        </p:txBody>
      </p:sp>
      <p:sp>
        <p:nvSpPr>
          <p:cNvPr name="TextBox 12" id="12"/>
          <p:cNvSpPr txBox="true"/>
          <p:nvPr/>
        </p:nvSpPr>
        <p:spPr>
          <a:xfrm rot="0">
            <a:off x="1028700" y="3042639"/>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estudiante.csv</a:t>
            </a:r>
          </a:p>
        </p:txBody>
      </p:sp>
      <p:sp>
        <p:nvSpPr>
          <p:cNvPr name="TextBox 13" id="13"/>
          <p:cNvSpPr txBox="true"/>
          <p:nvPr/>
        </p:nvSpPr>
        <p:spPr>
          <a:xfrm rot="0">
            <a:off x="1028700" y="4211903"/>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inscripcion.csv</a:t>
            </a:r>
          </a:p>
        </p:txBody>
      </p:sp>
      <p:sp>
        <p:nvSpPr>
          <p:cNvPr name="TextBox 14" id="14"/>
          <p:cNvSpPr txBox="true"/>
          <p:nvPr/>
        </p:nvSpPr>
        <p:spPr>
          <a:xfrm rot="0">
            <a:off x="1028700" y="5333803"/>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examen.csv</a:t>
            </a:r>
          </a:p>
        </p:txBody>
      </p:sp>
      <p:sp>
        <p:nvSpPr>
          <p:cNvPr name="TextBox 15" id="15"/>
          <p:cNvSpPr txBox="true"/>
          <p:nvPr/>
        </p:nvSpPr>
        <p:spPr>
          <a:xfrm rot="0">
            <a:off x="1028700" y="6517353"/>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dictado.csv</a:t>
            </a:r>
          </a:p>
        </p:txBody>
      </p:sp>
      <p:sp>
        <p:nvSpPr>
          <p:cNvPr name="TextBox 16" id="16"/>
          <p:cNvSpPr txBox="true"/>
          <p:nvPr/>
        </p:nvSpPr>
        <p:spPr>
          <a:xfrm rot="0">
            <a:off x="1028700" y="7512277"/>
            <a:ext cx="2778095" cy="75556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evaluacion_curso.csv</a:t>
            </a:r>
          </a:p>
        </p:txBody>
      </p:sp>
      <p:sp>
        <p:nvSpPr>
          <p:cNvPr name="TextBox 17" id="17"/>
          <p:cNvSpPr txBox="true"/>
          <p:nvPr/>
        </p:nvSpPr>
        <p:spPr>
          <a:xfrm rot="0">
            <a:off x="1028700" y="8862801"/>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curso.csv</a:t>
            </a:r>
          </a:p>
        </p:txBody>
      </p:sp>
      <p:sp>
        <p:nvSpPr>
          <p:cNvPr name="TextBox 18" id="18"/>
          <p:cNvSpPr txBox="true"/>
          <p:nvPr/>
        </p:nvSpPr>
        <p:spPr>
          <a:xfrm rot="0">
            <a:off x="5427846" y="3040684"/>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130.000</a:t>
            </a:r>
          </a:p>
        </p:txBody>
      </p:sp>
      <p:sp>
        <p:nvSpPr>
          <p:cNvPr name="TextBox 19" id="19"/>
          <p:cNvSpPr txBox="true"/>
          <p:nvPr/>
        </p:nvSpPr>
        <p:spPr>
          <a:xfrm rot="0">
            <a:off x="5427846" y="4209948"/>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1.003.413</a:t>
            </a:r>
          </a:p>
        </p:txBody>
      </p:sp>
      <p:sp>
        <p:nvSpPr>
          <p:cNvPr name="TextBox 20" id="20"/>
          <p:cNvSpPr txBox="true"/>
          <p:nvPr/>
        </p:nvSpPr>
        <p:spPr>
          <a:xfrm rot="0">
            <a:off x="5427846" y="5331849"/>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890.389</a:t>
            </a:r>
          </a:p>
        </p:txBody>
      </p:sp>
      <p:sp>
        <p:nvSpPr>
          <p:cNvPr name="TextBox 21" id="21"/>
          <p:cNvSpPr txBox="true"/>
          <p:nvPr/>
        </p:nvSpPr>
        <p:spPr>
          <a:xfrm rot="0">
            <a:off x="5427846" y="6515398"/>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2.261</a:t>
            </a:r>
          </a:p>
        </p:txBody>
      </p:sp>
      <p:sp>
        <p:nvSpPr>
          <p:cNvPr name="TextBox 22" id="22"/>
          <p:cNvSpPr txBox="true"/>
          <p:nvPr/>
        </p:nvSpPr>
        <p:spPr>
          <a:xfrm rot="0">
            <a:off x="5427846" y="7690358"/>
            <a:ext cx="1767947"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8.360</a:t>
            </a:r>
          </a:p>
        </p:txBody>
      </p:sp>
      <p:sp>
        <p:nvSpPr>
          <p:cNvPr name="TextBox 23" id="23"/>
          <p:cNvSpPr txBox="true"/>
          <p:nvPr/>
        </p:nvSpPr>
        <p:spPr>
          <a:xfrm rot="0">
            <a:off x="5427846" y="8860846"/>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45</a:t>
            </a:r>
          </a:p>
        </p:txBody>
      </p:sp>
      <p:sp>
        <p:nvSpPr>
          <p:cNvPr name="TextBox 24" id="24"/>
          <p:cNvSpPr txBox="true"/>
          <p:nvPr/>
        </p:nvSpPr>
        <p:spPr>
          <a:xfrm rot="0">
            <a:off x="8854180" y="3072177"/>
            <a:ext cx="8602293"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Datos demográficos y académicos del alumno</a:t>
            </a:r>
          </a:p>
        </p:txBody>
      </p:sp>
      <p:sp>
        <p:nvSpPr>
          <p:cNvPr name="TextBox 25" id="25"/>
          <p:cNvSpPr txBox="true"/>
          <p:nvPr/>
        </p:nvSpPr>
        <p:spPr>
          <a:xfrm rot="0">
            <a:off x="8854180" y="4241441"/>
            <a:ext cx="8405120"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Inscripciones a dictados por período</a:t>
            </a:r>
          </a:p>
        </p:txBody>
      </p:sp>
      <p:sp>
        <p:nvSpPr>
          <p:cNvPr name="TextBox 26" id="26"/>
          <p:cNvSpPr txBox="true"/>
          <p:nvPr/>
        </p:nvSpPr>
        <p:spPr>
          <a:xfrm rot="0">
            <a:off x="8854180" y="5363341"/>
            <a:ext cx="8776195"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Resultados de exámenes con número de intento</a:t>
            </a:r>
          </a:p>
        </p:txBody>
      </p:sp>
      <p:sp>
        <p:nvSpPr>
          <p:cNvPr name="TextBox 27" id="27"/>
          <p:cNvSpPr txBox="true"/>
          <p:nvPr/>
        </p:nvSpPr>
        <p:spPr>
          <a:xfrm rot="0">
            <a:off x="8854180" y="6546891"/>
            <a:ext cx="8405120"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Instancias de cursado por período y turno</a:t>
            </a:r>
          </a:p>
        </p:txBody>
      </p:sp>
      <p:sp>
        <p:nvSpPr>
          <p:cNvPr name="TextBox 28" id="28"/>
          <p:cNvSpPr txBox="true"/>
          <p:nvPr/>
        </p:nvSpPr>
        <p:spPr>
          <a:xfrm rot="0">
            <a:off x="8854180" y="7721850"/>
            <a:ext cx="8405120"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Evaluaciones anónimas por dictado</a:t>
            </a:r>
          </a:p>
        </p:txBody>
      </p:sp>
      <p:sp>
        <p:nvSpPr>
          <p:cNvPr name="TextBox 29" id="29"/>
          <p:cNvSpPr txBox="true"/>
          <p:nvPr/>
        </p:nvSpPr>
        <p:spPr>
          <a:xfrm rot="0">
            <a:off x="8854180" y="8892339"/>
            <a:ext cx="8405120"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Materias con horas y nivel de carrera</a:t>
            </a:r>
          </a:p>
        </p:txBody>
      </p:sp>
      <p:sp>
        <p:nvSpPr>
          <p:cNvPr name="AutoShape 30" id="30"/>
          <p:cNvSpPr/>
          <p:nvPr/>
        </p:nvSpPr>
        <p:spPr>
          <a:xfrm flipH="true">
            <a:off x="1028700" y="3767437"/>
            <a:ext cx="16230600" cy="0"/>
          </a:xfrm>
          <a:prstGeom prst="line">
            <a:avLst/>
          </a:prstGeom>
          <a:ln cap="flat" w="38100">
            <a:solidFill>
              <a:srgbClr val="54DF64"/>
            </a:solidFill>
            <a:prstDash val="solid"/>
            <a:headEnd type="none" len="sm" w="sm"/>
            <a:tailEnd type="none" len="sm" w="sm"/>
          </a:ln>
        </p:spPr>
      </p:sp>
      <p:sp>
        <p:nvSpPr>
          <p:cNvPr name="AutoShape 31" id="31"/>
          <p:cNvSpPr/>
          <p:nvPr/>
        </p:nvSpPr>
        <p:spPr>
          <a:xfrm flipH="true">
            <a:off x="1028700" y="4940777"/>
            <a:ext cx="16230600" cy="0"/>
          </a:xfrm>
          <a:prstGeom prst="line">
            <a:avLst/>
          </a:prstGeom>
          <a:ln cap="flat" w="38100">
            <a:solidFill>
              <a:srgbClr val="54DF64"/>
            </a:solidFill>
            <a:prstDash val="solid"/>
            <a:headEnd type="none" len="sm" w="sm"/>
            <a:tailEnd type="none" len="sm" w="sm"/>
          </a:ln>
        </p:spPr>
      </p:sp>
      <p:sp>
        <p:nvSpPr>
          <p:cNvPr name="AutoShape 32" id="32"/>
          <p:cNvSpPr/>
          <p:nvPr/>
        </p:nvSpPr>
        <p:spPr>
          <a:xfrm flipH="true">
            <a:off x="1028700" y="6157927"/>
            <a:ext cx="16230600" cy="0"/>
          </a:xfrm>
          <a:prstGeom prst="line">
            <a:avLst/>
          </a:prstGeom>
          <a:ln cap="flat" w="38100">
            <a:solidFill>
              <a:srgbClr val="54DF64"/>
            </a:solidFill>
            <a:prstDash val="solid"/>
            <a:headEnd type="none" len="sm" w="sm"/>
            <a:tailEnd type="none" len="sm" w="sm"/>
          </a:ln>
        </p:spPr>
      </p:sp>
      <p:sp>
        <p:nvSpPr>
          <p:cNvPr name="AutoShape 33" id="33"/>
          <p:cNvSpPr/>
          <p:nvPr/>
        </p:nvSpPr>
        <p:spPr>
          <a:xfrm flipH="true">
            <a:off x="1028700" y="7208127"/>
            <a:ext cx="16230600" cy="0"/>
          </a:xfrm>
          <a:prstGeom prst="line">
            <a:avLst/>
          </a:prstGeom>
          <a:ln cap="flat" w="38100">
            <a:solidFill>
              <a:srgbClr val="54DF64"/>
            </a:solidFill>
            <a:prstDash val="solid"/>
            <a:headEnd type="none" len="sm" w="sm"/>
            <a:tailEnd type="none" len="sm" w="sm"/>
          </a:ln>
        </p:spPr>
      </p:sp>
      <p:sp>
        <p:nvSpPr>
          <p:cNvPr name="AutoShape 34" id="34"/>
          <p:cNvSpPr/>
          <p:nvPr/>
        </p:nvSpPr>
        <p:spPr>
          <a:xfrm flipH="true">
            <a:off x="1028700" y="8505971"/>
            <a:ext cx="16230600" cy="0"/>
          </a:xfrm>
          <a:prstGeom prst="line">
            <a:avLst/>
          </a:prstGeom>
          <a:ln cap="flat" w="38100">
            <a:solidFill>
              <a:srgbClr val="54DF64"/>
            </a:solidFill>
            <a:prstDash val="solid"/>
            <a:headEnd type="none" len="sm" w="sm"/>
            <a:tailEnd type="none" len="sm" w="sm"/>
          </a:ln>
        </p:spPr>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0">
            <a:off x="0" y="-67693"/>
            <a:ext cx="18447379" cy="10354693"/>
            <a:chOff x="0" y="0"/>
            <a:chExt cx="21205253" cy="11902715"/>
          </a:xfrm>
        </p:grpSpPr>
        <p:sp>
          <p:nvSpPr>
            <p:cNvPr name="Freeform 3" id="3"/>
            <p:cNvSpPr/>
            <p:nvPr/>
          </p:nvSpPr>
          <p:spPr>
            <a:xfrm flipH="false" flipV="false" rot="0">
              <a:off x="0" y="0"/>
              <a:ext cx="21205253" cy="11902715"/>
            </a:xfrm>
            <a:custGeom>
              <a:avLst/>
              <a:gdLst/>
              <a:ahLst/>
              <a:cxnLst/>
              <a:rect r="r" b="b" t="t" l="l"/>
              <a:pathLst>
                <a:path h="11902715" w="21205253">
                  <a:moveTo>
                    <a:pt x="0" y="0"/>
                  </a:moveTo>
                  <a:lnTo>
                    <a:pt x="21205253" y="0"/>
                  </a:lnTo>
                  <a:lnTo>
                    <a:pt x="21205253" y="11902715"/>
                  </a:lnTo>
                  <a:lnTo>
                    <a:pt x="0" y="11902715"/>
                  </a:lnTo>
                  <a:close/>
                </a:path>
              </a:pathLst>
            </a:custGeom>
            <a:solidFill>
              <a:srgbClr val="000000"/>
            </a:solidFill>
          </p:spPr>
        </p:sp>
        <p:sp>
          <p:nvSpPr>
            <p:cNvPr name="TextBox 4" id="4"/>
            <p:cNvSpPr txBox="true"/>
            <p:nvPr/>
          </p:nvSpPr>
          <p:spPr>
            <a:xfrm>
              <a:off x="0" y="-47625"/>
              <a:ext cx="21205253" cy="1195034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3048900"/>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programa.csv</a:t>
            </a:r>
          </a:p>
        </p:txBody>
      </p:sp>
      <p:sp>
        <p:nvSpPr>
          <p:cNvPr name="TextBox 6" id="6"/>
          <p:cNvSpPr txBox="true"/>
          <p:nvPr/>
        </p:nvSpPr>
        <p:spPr>
          <a:xfrm rot="0">
            <a:off x="1028700" y="4038214"/>
            <a:ext cx="3760537" cy="7553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curso_programa.csv</a:t>
            </a:r>
          </a:p>
        </p:txBody>
      </p:sp>
      <p:sp>
        <p:nvSpPr>
          <p:cNvPr name="TextBox 7" id="7"/>
          <p:cNvSpPr txBox="true"/>
          <p:nvPr/>
        </p:nvSpPr>
        <p:spPr>
          <a:xfrm rot="0">
            <a:off x="1028700" y="5520099"/>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facultad.csv</a:t>
            </a:r>
          </a:p>
        </p:txBody>
      </p:sp>
      <p:sp>
        <p:nvSpPr>
          <p:cNvPr name="TextBox 8" id="8"/>
          <p:cNvSpPr txBox="true"/>
          <p:nvPr/>
        </p:nvSpPr>
        <p:spPr>
          <a:xfrm rot="0">
            <a:off x="1028700" y="6543599"/>
            <a:ext cx="3561476" cy="75556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departamento.csv</a:t>
            </a:r>
          </a:p>
        </p:txBody>
      </p:sp>
      <p:sp>
        <p:nvSpPr>
          <p:cNvPr name="TextBox 9" id="9"/>
          <p:cNvSpPr txBox="true"/>
          <p:nvPr/>
        </p:nvSpPr>
        <p:spPr>
          <a:xfrm rot="0">
            <a:off x="1028700" y="7932222"/>
            <a:ext cx="4108164" cy="395499"/>
          </a:xfrm>
          <a:prstGeom prst="rect">
            <a:avLst/>
          </a:prstGeom>
        </p:spPr>
        <p:txBody>
          <a:bodyPr anchor="t" rtlCol="false" tIns="0" lIns="0" bIns="0" rIns="0">
            <a:spAutoFit/>
          </a:bodyPr>
          <a:lstStyle/>
          <a:p>
            <a:pPr algn="l">
              <a:lnSpc>
                <a:spcPts val="2906"/>
              </a:lnSpc>
            </a:pPr>
            <a:r>
              <a:rPr lang="en-US" sz="3092">
                <a:solidFill>
                  <a:srgbClr val="F8F6F0"/>
                </a:solidFill>
                <a:latin typeface="Cy Grotesk Wide"/>
                <a:ea typeface="Cy Grotesk Wide"/>
                <a:cs typeface="Cy Grotesk Wide"/>
                <a:sym typeface="Cy Grotesk Wide"/>
              </a:rPr>
              <a:t>docente.csv</a:t>
            </a:r>
          </a:p>
        </p:txBody>
      </p:sp>
      <p:sp>
        <p:nvSpPr>
          <p:cNvPr name="TextBox 10" id="10"/>
          <p:cNvSpPr txBox="true"/>
          <p:nvPr/>
        </p:nvSpPr>
        <p:spPr>
          <a:xfrm rot="0">
            <a:off x="6050482" y="3046945"/>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50</a:t>
            </a:r>
          </a:p>
        </p:txBody>
      </p:sp>
      <p:sp>
        <p:nvSpPr>
          <p:cNvPr name="TextBox 11" id="11"/>
          <p:cNvSpPr txBox="true"/>
          <p:nvPr/>
        </p:nvSpPr>
        <p:spPr>
          <a:xfrm rot="0">
            <a:off x="6050482" y="4216209"/>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694</a:t>
            </a:r>
          </a:p>
        </p:txBody>
      </p:sp>
      <p:sp>
        <p:nvSpPr>
          <p:cNvPr name="TextBox 12" id="12"/>
          <p:cNvSpPr txBox="true"/>
          <p:nvPr/>
        </p:nvSpPr>
        <p:spPr>
          <a:xfrm rot="0">
            <a:off x="6050482" y="5471460"/>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25</a:t>
            </a:r>
          </a:p>
        </p:txBody>
      </p:sp>
      <p:sp>
        <p:nvSpPr>
          <p:cNvPr name="TextBox 13" id="13"/>
          <p:cNvSpPr txBox="true"/>
          <p:nvPr/>
        </p:nvSpPr>
        <p:spPr>
          <a:xfrm rot="0">
            <a:off x="6050482" y="6721679"/>
            <a:ext cx="1767947"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58</a:t>
            </a:r>
          </a:p>
        </p:txBody>
      </p:sp>
      <p:sp>
        <p:nvSpPr>
          <p:cNvPr name="TextBox 14" id="14"/>
          <p:cNvSpPr txBox="true"/>
          <p:nvPr/>
        </p:nvSpPr>
        <p:spPr>
          <a:xfrm rot="0">
            <a:off x="6050482" y="7930268"/>
            <a:ext cx="2213930" cy="397454"/>
          </a:xfrm>
          <a:prstGeom prst="rect">
            <a:avLst/>
          </a:prstGeom>
        </p:spPr>
        <p:txBody>
          <a:bodyPr anchor="t" rtlCol="false" tIns="0" lIns="0" bIns="0" rIns="0">
            <a:spAutoFit/>
          </a:bodyPr>
          <a:lstStyle/>
          <a:p>
            <a:pPr algn="l">
              <a:lnSpc>
                <a:spcPts val="2906"/>
              </a:lnSpc>
            </a:pPr>
            <a:r>
              <a:rPr lang="en-US" sz="3092" b="true">
                <a:solidFill>
                  <a:srgbClr val="F8F6F0"/>
                </a:solidFill>
                <a:latin typeface="Cy Grotesk Wide Bold"/>
                <a:ea typeface="Cy Grotesk Wide Bold"/>
                <a:cs typeface="Cy Grotesk Wide Bold"/>
                <a:sym typeface="Cy Grotesk Wide Bold"/>
              </a:rPr>
              <a:t>40</a:t>
            </a:r>
          </a:p>
        </p:txBody>
      </p:sp>
      <p:sp>
        <p:nvSpPr>
          <p:cNvPr name="TextBox 15" id="15"/>
          <p:cNvSpPr txBox="true"/>
          <p:nvPr/>
        </p:nvSpPr>
        <p:spPr>
          <a:xfrm rot="0">
            <a:off x="8854180" y="3078438"/>
            <a:ext cx="8602293"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Define carreras con tipo y duración </a:t>
            </a:r>
          </a:p>
        </p:txBody>
      </p:sp>
      <p:sp>
        <p:nvSpPr>
          <p:cNvPr name="TextBox 16" id="16"/>
          <p:cNvSpPr txBox="true"/>
          <p:nvPr/>
        </p:nvSpPr>
        <p:spPr>
          <a:xfrm rot="0">
            <a:off x="8854180" y="4247702"/>
            <a:ext cx="8405120"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Relación de cada curso con su programa</a:t>
            </a:r>
          </a:p>
        </p:txBody>
      </p:sp>
      <p:sp>
        <p:nvSpPr>
          <p:cNvPr name="TextBox 17" id="17"/>
          <p:cNvSpPr txBox="true"/>
          <p:nvPr/>
        </p:nvSpPr>
        <p:spPr>
          <a:xfrm rot="0">
            <a:off x="8854180" y="5502952"/>
            <a:ext cx="8776195"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Facultades regionales, por ciudad y provincia.</a:t>
            </a:r>
          </a:p>
        </p:txBody>
      </p:sp>
      <p:sp>
        <p:nvSpPr>
          <p:cNvPr name="TextBox 18" id="18"/>
          <p:cNvSpPr txBox="true"/>
          <p:nvPr/>
        </p:nvSpPr>
        <p:spPr>
          <a:xfrm rot="0">
            <a:off x="8854180" y="6753172"/>
            <a:ext cx="8405120"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Departamentos académicos por a facultad</a:t>
            </a:r>
          </a:p>
        </p:txBody>
      </p:sp>
      <p:sp>
        <p:nvSpPr>
          <p:cNvPr name="TextBox 19" id="19"/>
          <p:cNvSpPr txBox="true"/>
          <p:nvPr/>
        </p:nvSpPr>
        <p:spPr>
          <a:xfrm rot="0">
            <a:off x="8854180" y="7961760"/>
            <a:ext cx="8405120" cy="317373"/>
          </a:xfrm>
          <a:prstGeom prst="rect">
            <a:avLst/>
          </a:prstGeom>
        </p:spPr>
        <p:txBody>
          <a:bodyPr anchor="t" rtlCol="false" tIns="0" lIns="0" bIns="0" rIns="0">
            <a:spAutoFit/>
          </a:bodyPr>
          <a:lstStyle/>
          <a:p>
            <a:pPr algn="l">
              <a:lnSpc>
                <a:spcPts val="2256"/>
              </a:lnSpc>
            </a:pPr>
            <a:r>
              <a:rPr lang="en-US" sz="2400">
                <a:solidFill>
                  <a:srgbClr val="F8F6F0"/>
                </a:solidFill>
                <a:latin typeface="Cy Grotesk Wide"/>
                <a:ea typeface="Cy Grotesk Wide"/>
                <a:cs typeface="Cy Grotesk Wide"/>
                <a:sym typeface="Cy Grotesk Wide"/>
              </a:rPr>
              <a:t>Datos y categoría del docente</a:t>
            </a:r>
          </a:p>
        </p:txBody>
      </p:sp>
      <p:sp>
        <p:nvSpPr>
          <p:cNvPr name="AutoShape 20" id="20"/>
          <p:cNvSpPr/>
          <p:nvPr/>
        </p:nvSpPr>
        <p:spPr>
          <a:xfrm flipH="true">
            <a:off x="1028700" y="3773698"/>
            <a:ext cx="16230600" cy="0"/>
          </a:xfrm>
          <a:prstGeom prst="line">
            <a:avLst/>
          </a:prstGeom>
          <a:ln cap="flat" w="38100">
            <a:solidFill>
              <a:srgbClr val="54DF64"/>
            </a:solidFill>
            <a:prstDash val="solid"/>
            <a:headEnd type="none" len="sm" w="sm"/>
            <a:tailEnd type="none" len="sm" w="sm"/>
          </a:ln>
        </p:spPr>
      </p:sp>
      <p:sp>
        <p:nvSpPr>
          <p:cNvPr name="AutoShape 21" id="21"/>
          <p:cNvSpPr/>
          <p:nvPr/>
        </p:nvSpPr>
        <p:spPr>
          <a:xfrm flipH="true">
            <a:off x="1028700" y="5127073"/>
            <a:ext cx="16230600" cy="0"/>
          </a:xfrm>
          <a:prstGeom prst="line">
            <a:avLst/>
          </a:prstGeom>
          <a:ln cap="flat" w="38100">
            <a:solidFill>
              <a:srgbClr val="54DF64"/>
            </a:solidFill>
            <a:prstDash val="solid"/>
            <a:headEnd type="none" len="sm" w="sm"/>
            <a:tailEnd type="none" len="sm" w="sm"/>
          </a:ln>
        </p:spPr>
      </p:sp>
      <p:sp>
        <p:nvSpPr>
          <p:cNvPr name="AutoShape 22" id="22"/>
          <p:cNvSpPr/>
          <p:nvPr/>
        </p:nvSpPr>
        <p:spPr>
          <a:xfrm flipH="true">
            <a:off x="1028700" y="6239448"/>
            <a:ext cx="16230600" cy="0"/>
          </a:xfrm>
          <a:prstGeom prst="line">
            <a:avLst/>
          </a:prstGeom>
          <a:ln cap="flat" w="38100">
            <a:solidFill>
              <a:srgbClr val="54DF64"/>
            </a:solidFill>
            <a:prstDash val="solid"/>
            <a:headEnd type="none" len="sm" w="sm"/>
            <a:tailEnd type="none" len="sm" w="sm"/>
          </a:ln>
        </p:spPr>
      </p:sp>
      <p:sp>
        <p:nvSpPr>
          <p:cNvPr name="AutoShape 23" id="23"/>
          <p:cNvSpPr/>
          <p:nvPr/>
        </p:nvSpPr>
        <p:spPr>
          <a:xfrm flipH="true">
            <a:off x="1028700" y="7575393"/>
            <a:ext cx="16230600" cy="0"/>
          </a:xfrm>
          <a:prstGeom prst="line">
            <a:avLst/>
          </a:prstGeom>
          <a:ln cap="flat" w="38100">
            <a:solidFill>
              <a:srgbClr val="54DF64"/>
            </a:solidFill>
            <a:prstDash val="solid"/>
            <a:headEnd type="none" len="sm" w="sm"/>
            <a:tailEnd type="none" len="sm" w="sm"/>
          </a:ln>
        </p:spPr>
      </p:sp>
      <p:grpSp>
        <p:nvGrpSpPr>
          <p:cNvPr name="Group 24" id="24"/>
          <p:cNvGrpSpPr/>
          <p:nvPr/>
        </p:nvGrpSpPr>
        <p:grpSpPr>
          <a:xfrm rot="-84203">
            <a:off x="-16340330" y="661456"/>
            <a:ext cx="27082879" cy="1491048"/>
            <a:chOff x="0" y="0"/>
            <a:chExt cx="31131756" cy="1713959"/>
          </a:xfrm>
        </p:grpSpPr>
        <p:sp>
          <p:nvSpPr>
            <p:cNvPr name="Freeform 25" id="25"/>
            <p:cNvSpPr/>
            <p:nvPr/>
          </p:nvSpPr>
          <p:spPr>
            <a:xfrm flipH="false" flipV="false" rot="0">
              <a:off x="0" y="0"/>
              <a:ext cx="31131756" cy="1713959"/>
            </a:xfrm>
            <a:custGeom>
              <a:avLst/>
              <a:gdLst/>
              <a:ahLst/>
              <a:cxnLst/>
              <a:rect r="r" b="b" t="t" l="l"/>
              <a:pathLst>
                <a:path h="1713959" w="31131756">
                  <a:moveTo>
                    <a:pt x="0" y="0"/>
                  </a:moveTo>
                  <a:lnTo>
                    <a:pt x="31131756" y="0"/>
                  </a:lnTo>
                  <a:lnTo>
                    <a:pt x="31131756" y="1713959"/>
                  </a:lnTo>
                  <a:lnTo>
                    <a:pt x="0" y="1713959"/>
                  </a:lnTo>
                  <a:close/>
                </a:path>
              </a:pathLst>
            </a:custGeom>
            <a:solidFill>
              <a:srgbClr val="F8F6F0"/>
            </a:solidFill>
          </p:spPr>
        </p:sp>
        <p:sp>
          <p:nvSpPr>
            <p:cNvPr name="TextBox 26" id="26"/>
            <p:cNvSpPr txBox="true"/>
            <p:nvPr/>
          </p:nvSpPr>
          <p:spPr>
            <a:xfrm>
              <a:off x="0" y="-47625"/>
              <a:ext cx="31131756" cy="1761584"/>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6906864" y="616514"/>
            <a:ext cx="27403662" cy="1491048"/>
            <a:chOff x="0" y="0"/>
            <a:chExt cx="31500497" cy="1713959"/>
          </a:xfrm>
        </p:grpSpPr>
        <p:sp>
          <p:nvSpPr>
            <p:cNvPr name="Freeform 28" id="28"/>
            <p:cNvSpPr/>
            <p:nvPr/>
          </p:nvSpPr>
          <p:spPr>
            <a:xfrm flipH="false" flipV="false" rot="0">
              <a:off x="0" y="0"/>
              <a:ext cx="31500496" cy="1713959"/>
            </a:xfrm>
            <a:custGeom>
              <a:avLst/>
              <a:gdLst/>
              <a:ahLst/>
              <a:cxnLst/>
              <a:rect r="r" b="b" t="t" l="l"/>
              <a:pathLst>
                <a:path h="1713959" w="31500496">
                  <a:moveTo>
                    <a:pt x="0" y="0"/>
                  </a:moveTo>
                  <a:lnTo>
                    <a:pt x="31500496" y="0"/>
                  </a:lnTo>
                  <a:lnTo>
                    <a:pt x="31500496" y="1713959"/>
                  </a:lnTo>
                  <a:lnTo>
                    <a:pt x="0" y="1713959"/>
                  </a:lnTo>
                  <a:close/>
                </a:path>
              </a:pathLst>
            </a:custGeom>
            <a:solidFill>
              <a:srgbClr val="54DF64"/>
            </a:solidFill>
          </p:spPr>
        </p:sp>
        <p:sp>
          <p:nvSpPr>
            <p:cNvPr name="TextBox 29" id="29"/>
            <p:cNvSpPr txBox="true"/>
            <p:nvPr/>
          </p:nvSpPr>
          <p:spPr>
            <a:xfrm>
              <a:off x="0" y="-47625"/>
              <a:ext cx="31500497" cy="1761584"/>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461743" y="1069557"/>
            <a:ext cx="9828903" cy="718312"/>
          </a:xfrm>
          <a:prstGeom prst="rect">
            <a:avLst/>
          </a:prstGeom>
        </p:spPr>
        <p:txBody>
          <a:bodyPr anchor="t" rtlCol="false" tIns="0" lIns="0" bIns="0" rIns="0">
            <a:spAutoFit/>
          </a:bodyPr>
          <a:lstStyle/>
          <a:p>
            <a:pPr algn="l">
              <a:lnSpc>
                <a:spcPts val="5264"/>
              </a:lnSpc>
            </a:pPr>
            <a:r>
              <a:rPr lang="en-US" sz="5600" b="true">
                <a:solidFill>
                  <a:srgbClr val="000000"/>
                </a:solidFill>
                <a:latin typeface="Cy Grotesk Wide Bold"/>
                <a:ea typeface="Cy Grotesk Wide Bold"/>
                <a:cs typeface="Cy Grotesk Wide Bold"/>
                <a:sym typeface="Cy Grotesk Wide Bold"/>
              </a:rPr>
              <a:t>3.</a:t>
            </a:r>
            <a:r>
              <a:rPr lang="en-US" sz="5600">
                <a:solidFill>
                  <a:srgbClr val="F8F6F0"/>
                </a:solidFill>
                <a:latin typeface="Cy Grotesk Wide"/>
                <a:ea typeface="Cy Grotesk Wide"/>
                <a:cs typeface="Cy Grotesk Wide"/>
                <a:sym typeface="Cy Grotesk Wide"/>
              </a:rPr>
              <a:t> Alcance de los datos</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7535" y="635915"/>
            <a:ext cx="22979505" cy="1491048"/>
            <a:chOff x="0" y="0"/>
            <a:chExt cx="26414931" cy="1713959"/>
          </a:xfrm>
        </p:grpSpPr>
        <p:sp>
          <p:nvSpPr>
            <p:cNvPr name="Freeform 3" id="3"/>
            <p:cNvSpPr/>
            <p:nvPr/>
          </p:nvSpPr>
          <p:spPr>
            <a:xfrm flipH="false" flipV="false" rot="0">
              <a:off x="0" y="0"/>
              <a:ext cx="26414930" cy="1713959"/>
            </a:xfrm>
            <a:custGeom>
              <a:avLst/>
              <a:gdLst/>
              <a:ahLst/>
              <a:cxnLst/>
              <a:rect r="r" b="b" t="t" l="l"/>
              <a:pathLst>
                <a:path h="1713959" w="26414930">
                  <a:moveTo>
                    <a:pt x="0" y="0"/>
                  </a:moveTo>
                  <a:lnTo>
                    <a:pt x="26414930" y="0"/>
                  </a:lnTo>
                  <a:lnTo>
                    <a:pt x="26414930" y="1713959"/>
                  </a:lnTo>
                  <a:lnTo>
                    <a:pt x="0" y="1713959"/>
                  </a:lnTo>
                  <a:close/>
                </a:path>
              </a:pathLst>
            </a:custGeom>
            <a:solidFill>
              <a:srgbClr val="54DF64"/>
            </a:solidFill>
          </p:spPr>
        </p:sp>
        <p:sp>
          <p:nvSpPr>
            <p:cNvPr name="TextBox 4" id="4"/>
            <p:cNvSpPr txBox="true"/>
            <p:nvPr/>
          </p:nvSpPr>
          <p:spPr>
            <a:xfrm>
              <a:off x="0" y="-47625"/>
              <a:ext cx="26414931"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2987104" cy="1467918"/>
            <a:chOff x="0" y="0"/>
            <a:chExt cx="26423665" cy="1687371"/>
          </a:xfrm>
        </p:grpSpPr>
        <p:sp>
          <p:nvSpPr>
            <p:cNvPr name="Freeform 6" id="6"/>
            <p:cNvSpPr/>
            <p:nvPr/>
          </p:nvSpPr>
          <p:spPr>
            <a:xfrm flipH="false" flipV="false" rot="0">
              <a:off x="0" y="0"/>
              <a:ext cx="26423665" cy="1687371"/>
            </a:xfrm>
            <a:custGeom>
              <a:avLst/>
              <a:gdLst/>
              <a:ahLst/>
              <a:cxnLst/>
              <a:rect r="r" b="b" t="t" l="l"/>
              <a:pathLst>
                <a:path h="1687371" w="26423665">
                  <a:moveTo>
                    <a:pt x="0" y="0"/>
                  </a:moveTo>
                  <a:lnTo>
                    <a:pt x="26423665" y="0"/>
                  </a:lnTo>
                  <a:lnTo>
                    <a:pt x="26423665" y="1687371"/>
                  </a:lnTo>
                  <a:lnTo>
                    <a:pt x="0" y="1687371"/>
                  </a:lnTo>
                  <a:close/>
                </a:path>
              </a:pathLst>
            </a:custGeom>
            <a:solidFill>
              <a:srgbClr val="000000"/>
            </a:solidFill>
          </p:spPr>
        </p:sp>
        <p:sp>
          <p:nvSpPr>
            <p:cNvPr name="TextBox 7" id="7"/>
            <p:cNvSpPr txBox="true"/>
            <p:nvPr/>
          </p:nvSpPr>
          <p:spPr>
            <a:xfrm>
              <a:off x="0" y="-47625"/>
              <a:ext cx="26423665"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12350333"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3.</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Limitaciones de los datos</a:t>
            </a:r>
          </a:p>
        </p:txBody>
      </p:sp>
      <p:grpSp>
        <p:nvGrpSpPr>
          <p:cNvPr name="Group 9" id="9"/>
          <p:cNvGrpSpPr/>
          <p:nvPr/>
        </p:nvGrpSpPr>
        <p:grpSpPr>
          <a:xfrm rot="0">
            <a:off x="-683981" y="2587338"/>
            <a:ext cx="5469911" cy="981436"/>
            <a:chOff x="0" y="0"/>
            <a:chExt cx="6287660" cy="1128160"/>
          </a:xfrm>
        </p:grpSpPr>
        <p:sp>
          <p:nvSpPr>
            <p:cNvPr name="Freeform 10" id="10"/>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54DF64"/>
            </a:solidFill>
          </p:spPr>
        </p:sp>
        <p:sp>
          <p:nvSpPr>
            <p:cNvPr name="TextBox 11" id="11"/>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878714" y="2910923"/>
            <a:ext cx="3693104" cy="410464"/>
          </a:xfrm>
          <a:prstGeom prst="rect">
            <a:avLst/>
          </a:prstGeom>
        </p:spPr>
        <p:txBody>
          <a:bodyPr anchor="t" rtlCol="false" tIns="0" lIns="0" bIns="0" rIns="0">
            <a:spAutoFit/>
          </a:bodyPr>
          <a:lstStyle/>
          <a:p>
            <a:pPr algn="r">
              <a:lnSpc>
                <a:spcPts val="3008"/>
              </a:lnSpc>
            </a:pPr>
            <a:r>
              <a:rPr lang="en-US" sz="3200">
                <a:solidFill>
                  <a:srgbClr val="000000"/>
                </a:solidFill>
                <a:latin typeface="Cy Grotesk Wide"/>
                <a:ea typeface="Cy Grotesk Wide"/>
                <a:cs typeface="Cy Grotesk Wide"/>
                <a:sym typeface="Cy Grotesk Wide"/>
              </a:rPr>
              <a:t>Facultades</a:t>
            </a:r>
          </a:p>
        </p:txBody>
      </p:sp>
      <p:grpSp>
        <p:nvGrpSpPr>
          <p:cNvPr name="Group 13" id="13"/>
          <p:cNvGrpSpPr/>
          <p:nvPr/>
        </p:nvGrpSpPr>
        <p:grpSpPr>
          <a:xfrm rot="0">
            <a:off x="4785930" y="2587338"/>
            <a:ext cx="13519008" cy="981436"/>
            <a:chOff x="0" y="0"/>
            <a:chExt cx="15540093" cy="1128160"/>
          </a:xfrm>
        </p:grpSpPr>
        <p:sp>
          <p:nvSpPr>
            <p:cNvPr name="Freeform 14" id="14"/>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000000"/>
            </a:solidFill>
          </p:spPr>
        </p:sp>
        <p:sp>
          <p:nvSpPr>
            <p:cNvPr name="TextBox 15" id="15"/>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215084" y="2703087"/>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F8F6F0"/>
                </a:solidFill>
                <a:latin typeface="Cy Grotesk Key"/>
                <a:ea typeface="Cy Grotesk Key"/>
                <a:cs typeface="Cy Grotesk Key"/>
                <a:sym typeface="Cy Grotesk Key"/>
              </a:rPr>
              <a:t>25 registradas, solo 11 con actividad</a:t>
            </a:r>
          </a:p>
        </p:txBody>
      </p:sp>
      <p:grpSp>
        <p:nvGrpSpPr>
          <p:cNvPr name="Group 17" id="17"/>
          <p:cNvGrpSpPr/>
          <p:nvPr/>
        </p:nvGrpSpPr>
        <p:grpSpPr>
          <a:xfrm rot="0">
            <a:off x="-683981" y="3854523"/>
            <a:ext cx="5469911" cy="981436"/>
            <a:chOff x="0" y="0"/>
            <a:chExt cx="6287660" cy="1128160"/>
          </a:xfrm>
        </p:grpSpPr>
        <p:sp>
          <p:nvSpPr>
            <p:cNvPr name="Freeform 18" id="18"/>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54DF64"/>
            </a:solidFill>
          </p:spPr>
        </p:sp>
        <p:sp>
          <p:nvSpPr>
            <p:cNvPr name="TextBox 19" id="19"/>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991831" y="4178109"/>
            <a:ext cx="3579987" cy="410464"/>
          </a:xfrm>
          <a:prstGeom prst="rect">
            <a:avLst/>
          </a:prstGeom>
        </p:spPr>
        <p:txBody>
          <a:bodyPr anchor="t" rtlCol="false" tIns="0" lIns="0" bIns="0" rIns="0">
            <a:spAutoFit/>
          </a:bodyPr>
          <a:lstStyle/>
          <a:p>
            <a:pPr algn="r">
              <a:lnSpc>
                <a:spcPts val="3008"/>
              </a:lnSpc>
            </a:pPr>
            <a:r>
              <a:rPr lang="en-US" sz="3200">
                <a:solidFill>
                  <a:srgbClr val="000000"/>
                </a:solidFill>
                <a:latin typeface="Cy Grotesk Wide"/>
                <a:ea typeface="Cy Grotesk Wide"/>
                <a:cs typeface="Cy Grotesk Wide"/>
                <a:sym typeface="Cy Grotesk Wide"/>
              </a:rPr>
              <a:t>Programas</a:t>
            </a:r>
          </a:p>
        </p:txBody>
      </p:sp>
      <p:grpSp>
        <p:nvGrpSpPr>
          <p:cNvPr name="Group 21" id="21"/>
          <p:cNvGrpSpPr/>
          <p:nvPr/>
        </p:nvGrpSpPr>
        <p:grpSpPr>
          <a:xfrm rot="0">
            <a:off x="4785930" y="3854523"/>
            <a:ext cx="13519008" cy="981436"/>
            <a:chOff x="0" y="0"/>
            <a:chExt cx="15540093" cy="1128160"/>
          </a:xfrm>
        </p:grpSpPr>
        <p:sp>
          <p:nvSpPr>
            <p:cNvPr name="Freeform 22" id="22"/>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000000"/>
            </a:solidFill>
          </p:spPr>
        </p:sp>
        <p:sp>
          <p:nvSpPr>
            <p:cNvPr name="TextBox 23" id="23"/>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4785930" y="5121709"/>
            <a:ext cx="13519008" cy="981436"/>
            <a:chOff x="0" y="0"/>
            <a:chExt cx="15540093" cy="1128160"/>
          </a:xfrm>
        </p:grpSpPr>
        <p:sp>
          <p:nvSpPr>
            <p:cNvPr name="Freeform 25" id="25"/>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000000"/>
            </a:solidFill>
          </p:spPr>
        </p:sp>
        <p:sp>
          <p:nvSpPr>
            <p:cNvPr name="TextBox 26" id="26"/>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4785930" y="6388894"/>
            <a:ext cx="13519008" cy="981436"/>
            <a:chOff x="0" y="0"/>
            <a:chExt cx="15540093" cy="1128160"/>
          </a:xfrm>
        </p:grpSpPr>
        <p:sp>
          <p:nvSpPr>
            <p:cNvPr name="Freeform 28" id="28"/>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000000"/>
            </a:solidFill>
          </p:spPr>
        </p:sp>
        <p:sp>
          <p:nvSpPr>
            <p:cNvPr name="TextBox 29" id="29"/>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4785930" y="7656080"/>
            <a:ext cx="13519008" cy="981436"/>
            <a:chOff x="0" y="0"/>
            <a:chExt cx="15540093" cy="1128160"/>
          </a:xfrm>
        </p:grpSpPr>
        <p:sp>
          <p:nvSpPr>
            <p:cNvPr name="Freeform 31" id="31"/>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000000"/>
            </a:solidFill>
          </p:spPr>
        </p:sp>
        <p:sp>
          <p:nvSpPr>
            <p:cNvPr name="TextBox 32" id="32"/>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4785930" y="8923265"/>
            <a:ext cx="13519008" cy="981436"/>
            <a:chOff x="0" y="0"/>
            <a:chExt cx="15540093" cy="1128160"/>
          </a:xfrm>
        </p:grpSpPr>
        <p:sp>
          <p:nvSpPr>
            <p:cNvPr name="Freeform 34" id="34"/>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000000"/>
            </a:solidFill>
          </p:spPr>
        </p:sp>
        <p:sp>
          <p:nvSpPr>
            <p:cNvPr name="TextBox 35" id="35"/>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5215084" y="3970273"/>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F8F6F0"/>
                </a:solidFill>
                <a:latin typeface="Cy Grotesk Key"/>
                <a:ea typeface="Cy Grotesk Key"/>
                <a:cs typeface="Cy Grotesk Key"/>
                <a:sym typeface="Cy Grotesk Key"/>
              </a:rPr>
              <a:t>50 registrados, solo 9 con estudiantes asociados</a:t>
            </a:r>
          </a:p>
        </p:txBody>
      </p:sp>
      <p:grpSp>
        <p:nvGrpSpPr>
          <p:cNvPr name="Group 37" id="37"/>
          <p:cNvGrpSpPr/>
          <p:nvPr/>
        </p:nvGrpSpPr>
        <p:grpSpPr>
          <a:xfrm rot="0">
            <a:off x="-683981" y="5121709"/>
            <a:ext cx="5469911" cy="981436"/>
            <a:chOff x="0" y="0"/>
            <a:chExt cx="6287660" cy="1128160"/>
          </a:xfrm>
        </p:grpSpPr>
        <p:sp>
          <p:nvSpPr>
            <p:cNvPr name="Freeform 38" id="38"/>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54DF64"/>
            </a:solidFill>
          </p:spPr>
        </p:sp>
        <p:sp>
          <p:nvSpPr>
            <p:cNvPr name="TextBox 39" id="39"/>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176606" y="5445294"/>
            <a:ext cx="4395212" cy="410464"/>
          </a:xfrm>
          <a:prstGeom prst="rect">
            <a:avLst/>
          </a:prstGeom>
        </p:spPr>
        <p:txBody>
          <a:bodyPr anchor="t" rtlCol="false" tIns="0" lIns="0" bIns="0" rIns="0">
            <a:spAutoFit/>
          </a:bodyPr>
          <a:lstStyle/>
          <a:p>
            <a:pPr algn="r">
              <a:lnSpc>
                <a:spcPts val="3008"/>
              </a:lnSpc>
            </a:pPr>
            <a:r>
              <a:rPr lang="en-US" sz="3200">
                <a:solidFill>
                  <a:srgbClr val="000000"/>
                </a:solidFill>
                <a:latin typeface="Cy Grotesk Wide"/>
                <a:ea typeface="Cy Grotesk Wide"/>
                <a:cs typeface="Cy Grotesk Wide"/>
                <a:sym typeface="Cy Grotesk Wide"/>
              </a:rPr>
              <a:t>Plan de estudio</a:t>
            </a:r>
          </a:p>
        </p:txBody>
      </p:sp>
      <p:sp>
        <p:nvSpPr>
          <p:cNvPr name="TextBox 41" id="41"/>
          <p:cNvSpPr txBox="true"/>
          <p:nvPr/>
        </p:nvSpPr>
        <p:spPr>
          <a:xfrm rot="0">
            <a:off x="5215084" y="5237458"/>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F8F6F0"/>
                </a:solidFill>
                <a:latin typeface="Cy Grotesk Key"/>
                <a:ea typeface="Cy Grotesk Key"/>
                <a:cs typeface="Cy Grotesk Key"/>
                <a:sym typeface="Cy Grotesk Key"/>
              </a:rPr>
              <a:t>36</a:t>
            </a:r>
            <a:r>
              <a:rPr lang="en-US" sz="2599">
                <a:solidFill>
                  <a:srgbClr val="F8F6F0"/>
                </a:solidFill>
                <a:latin typeface="Cy Grotesk Key"/>
                <a:ea typeface="Cy Grotesk Key"/>
                <a:cs typeface="Cy Grotesk Key"/>
                <a:sym typeface="Cy Grotesk Key"/>
              </a:rPr>
              <a:t> programas de cinco años con algún nivel faltante</a:t>
            </a:r>
          </a:p>
        </p:txBody>
      </p:sp>
      <p:grpSp>
        <p:nvGrpSpPr>
          <p:cNvPr name="Group 42" id="42"/>
          <p:cNvGrpSpPr/>
          <p:nvPr/>
        </p:nvGrpSpPr>
        <p:grpSpPr>
          <a:xfrm rot="0">
            <a:off x="-683981" y="6388894"/>
            <a:ext cx="5469911" cy="981436"/>
            <a:chOff x="0" y="0"/>
            <a:chExt cx="6287660" cy="1128160"/>
          </a:xfrm>
        </p:grpSpPr>
        <p:sp>
          <p:nvSpPr>
            <p:cNvPr name="Freeform 43" id="43"/>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54DF64"/>
            </a:solidFill>
          </p:spPr>
        </p:sp>
        <p:sp>
          <p:nvSpPr>
            <p:cNvPr name="TextBox 44" id="44"/>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1271196" y="6712480"/>
            <a:ext cx="3300622" cy="410464"/>
          </a:xfrm>
          <a:prstGeom prst="rect">
            <a:avLst/>
          </a:prstGeom>
        </p:spPr>
        <p:txBody>
          <a:bodyPr anchor="t" rtlCol="false" tIns="0" lIns="0" bIns="0" rIns="0">
            <a:spAutoFit/>
          </a:bodyPr>
          <a:lstStyle/>
          <a:p>
            <a:pPr algn="r">
              <a:lnSpc>
                <a:spcPts val="3008"/>
              </a:lnSpc>
            </a:pPr>
            <a:r>
              <a:rPr lang="en-US" sz="3200">
                <a:solidFill>
                  <a:srgbClr val="000000"/>
                </a:solidFill>
                <a:latin typeface="Cy Grotesk Wide"/>
                <a:ea typeface="Cy Grotesk Wide"/>
                <a:cs typeface="Cy Grotesk Wide"/>
                <a:sym typeface="Cy Grotesk Wide"/>
              </a:rPr>
              <a:t>Profesores</a:t>
            </a:r>
          </a:p>
        </p:txBody>
      </p:sp>
      <p:sp>
        <p:nvSpPr>
          <p:cNvPr name="TextBox 46" id="46"/>
          <p:cNvSpPr txBox="true"/>
          <p:nvPr/>
        </p:nvSpPr>
        <p:spPr>
          <a:xfrm rot="0">
            <a:off x="5215084" y="6504644"/>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F8F6F0"/>
                </a:solidFill>
                <a:latin typeface="Cy Grotesk Key"/>
                <a:ea typeface="Cy Grotesk Key"/>
                <a:cs typeface="Cy Grotesk Key"/>
                <a:sym typeface="Cy Grotesk Key"/>
              </a:rPr>
              <a:t>Los mismos 40 profesores asociados a múltiples facultades</a:t>
            </a:r>
          </a:p>
        </p:txBody>
      </p:sp>
      <p:grpSp>
        <p:nvGrpSpPr>
          <p:cNvPr name="Group 47" id="47"/>
          <p:cNvGrpSpPr/>
          <p:nvPr/>
        </p:nvGrpSpPr>
        <p:grpSpPr>
          <a:xfrm rot="0">
            <a:off x="-683981" y="7656080"/>
            <a:ext cx="5469911" cy="981436"/>
            <a:chOff x="0" y="0"/>
            <a:chExt cx="6287660" cy="1128160"/>
          </a:xfrm>
        </p:grpSpPr>
        <p:sp>
          <p:nvSpPr>
            <p:cNvPr name="Freeform 48" id="48"/>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54DF64"/>
            </a:solidFill>
          </p:spPr>
        </p:sp>
        <p:sp>
          <p:nvSpPr>
            <p:cNvPr name="TextBox 49" id="49"/>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50" id="50"/>
          <p:cNvSpPr txBox="true"/>
          <p:nvPr/>
        </p:nvSpPr>
        <p:spPr>
          <a:xfrm rot="0">
            <a:off x="4988514" y="9037565"/>
            <a:ext cx="12471822"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F8F6F0"/>
                </a:solidFill>
                <a:latin typeface="Cy Grotesk Key"/>
                <a:ea typeface="Cy Grotesk Key"/>
                <a:cs typeface="Cy Grotesk Key"/>
                <a:sym typeface="Cy Grotesk Key"/>
              </a:rPr>
              <a:t>3.044 no tienen ninguna inscripción y 4.833 no tienen ningún examen</a:t>
            </a:r>
          </a:p>
        </p:txBody>
      </p:sp>
      <p:grpSp>
        <p:nvGrpSpPr>
          <p:cNvPr name="Group 51" id="51"/>
          <p:cNvGrpSpPr/>
          <p:nvPr/>
        </p:nvGrpSpPr>
        <p:grpSpPr>
          <a:xfrm rot="0">
            <a:off x="-683981" y="8923265"/>
            <a:ext cx="5469911" cy="981436"/>
            <a:chOff x="0" y="0"/>
            <a:chExt cx="6287660" cy="1128160"/>
          </a:xfrm>
        </p:grpSpPr>
        <p:sp>
          <p:nvSpPr>
            <p:cNvPr name="Freeform 52" id="52"/>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54DF64"/>
            </a:solidFill>
          </p:spPr>
        </p:sp>
        <p:sp>
          <p:nvSpPr>
            <p:cNvPr name="TextBox 53" id="53"/>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54" id="54"/>
          <p:cNvSpPr txBox="true"/>
          <p:nvPr/>
        </p:nvSpPr>
        <p:spPr>
          <a:xfrm rot="0">
            <a:off x="1271196" y="8037080"/>
            <a:ext cx="3300622" cy="410464"/>
          </a:xfrm>
          <a:prstGeom prst="rect">
            <a:avLst/>
          </a:prstGeom>
        </p:spPr>
        <p:txBody>
          <a:bodyPr anchor="t" rtlCol="false" tIns="0" lIns="0" bIns="0" rIns="0">
            <a:spAutoFit/>
          </a:bodyPr>
          <a:lstStyle/>
          <a:p>
            <a:pPr algn="r">
              <a:lnSpc>
                <a:spcPts val="3008"/>
              </a:lnSpc>
            </a:pPr>
            <a:r>
              <a:rPr lang="en-US" sz="3200">
                <a:solidFill>
                  <a:srgbClr val="000000"/>
                </a:solidFill>
                <a:latin typeface="Cy Grotesk Wide"/>
                <a:ea typeface="Cy Grotesk Wide"/>
                <a:cs typeface="Cy Grotesk Wide"/>
                <a:sym typeface="Cy Grotesk Wide"/>
              </a:rPr>
              <a:t>Dictados</a:t>
            </a:r>
          </a:p>
        </p:txBody>
      </p:sp>
      <p:sp>
        <p:nvSpPr>
          <p:cNvPr name="TextBox 55" id="55"/>
          <p:cNvSpPr txBox="true"/>
          <p:nvPr/>
        </p:nvSpPr>
        <p:spPr>
          <a:xfrm rot="0">
            <a:off x="1202218" y="9247115"/>
            <a:ext cx="3300622" cy="410464"/>
          </a:xfrm>
          <a:prstGeom prst="rect">
            <a:avLst/>
          </a:prstGeom>
        </p:spPr>
        <p:txBody>
          <a:bodyPr anchor="t" rtlCol="false" tIns="0" lIns="0" bIns="0" rIns="0">
            <a:spAutoFit/>
          </a:bodyPr>
          <a:lstStyle/>
          <a:p>
            <a:pPr algn="r">
              <a:lnSpc>
                <a:spcPts val="3008"/>
              </a:lnSpc>
            </a:pPr>
            <a:r>
              <a:rPr lang="en-US" sz="3200">
                <a:solidFill>
                  <a:srgbClr val="000000"/>
                </a:solidFill>
                <a:latin typeface="Cy Grotesk Wide"/>
                <a:ea typeface="Cy Grotesk Wide"/>
                <a:cs typeface="Cy Grotesk Wide"/>
                <a:sym typeface="Cy Grotesk Wide"/>
              </a:rPr>
              <a:t>Estudiantes</a:t>
            </a:r>
          </a:p>
        </p:txBody>
      </p:sp>
      <p:sp>
        <p:nvSpPr>
          <p:cNvPr name="TextBox 56" id="56"/>
          <p:cNvSpPr txBox="true"/>
          <p:nvPr/>
        </p:nvSpPr>
        <p:spPr>
          <a:xfrm rot="0">
            <a:off x="4988514" y="7722491"/>
            <a:ext cx="12698392"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F8F6F0"/>
                </a:solidFill>
                <a:latin typeface="Cy Grotesk Key"/>
                <a:ea typeface="Cy Grotesk Key"/>
                <a:cs typeface="Cy Grotesk Key"/>
                <a:sym typeface="Cy Grotesk Key"/>
              </a:rPr>
              <a:t>2.261 registrados, solo 975 con inscripciones y 932 con evaluaciones</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7149" y="663463"/>
            <a:ext cx="21008705" cy="1491048"/>
            <a:chOff x="0" y="0"/>
            <a:chExt cx="24149497" cy="1713959"/>
          </a:xfrm>
        </p:grpSpPr>
        <p:sp>
          <p:nvSpPr>
            <p:cNvPr name="Freeform 3" id="3"/>
            <p:cNvSpPr/>
            <p:nvPr/>
          </p:nvSpPr>
          <p:spPr>
            <a:xfrm flipH="false" flipV="false" rot="0">
              <a:off x="0" y="0"/>
              <a:ext cx="24149496" cy="1713959"/>
            </a:xfrm>
            <a:custGeom>
              <a:avLst/>
              <a:gdLst/>
              <a:ahLst/>
              <a:cxnLst/>
              <a:rect r="r" b="b" t="t" l="l"/>
              <a:pathLst>
                <a:path h="1713959" w="24149496">
                  <a:moveTo>
                    <a:pt x="0" y="0"/>
                  </a:moveTo>
                  <a:lnTo>
                    <a:pt x="24149496" y="0"/>
                  </a:lnTo>
                  <a:lnTo>
                    <a:pt x="24149496" y="1713959"/>
                  </a:lnTo>
                  <a:lnTo>
                    <a:pt x="0" y="1713959"/>
                  </a:lnTo>
                  <a:close/>
                </a:path>
              </a:pathLst>
            </a:custGeom>
            <a:solidFill>
              <a:srgbClr val="54DF64"/>
            </a:solidFill>
          </p:spPr>
        </p:sp>
        <p:sp>
          <p:nvSpPr>
            <p:cNvPr name="TextBox 4" id="4"/>
            <p:cNvSpPr txBox="true"/>
            <p:nvPr/>
          </p:nvSpPr>
          <p:spPr>
            <a:xfrm>
              <a:off x="0" y="-47625"/>
              <a:ext cx="24149497"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0904961" cy="1467918"/>
            <a:chOff x="0" y="0"/>
            <a:chExt cx="24030243" cy="1687371"/>
          </a:xfrm>
        </p:grpSpPr>
        <p:sp>
          <p:nvSpPr>
            <p:cNvPr name="Freeform 6" id="6"/>
            <p:cNvSpPr/>
            <p:nvPr/>
          </p:nvSpPr>
          <p:spPr>
            <a:xfrm flipH="false" flipV="false" rot="0">
              <a:off x="0" y="0"/>
              <a:ext cx="24030243" cy="1687371"/>
            </a:xfrm>
            <a:custGeom>
              <a:avLst/>
              <a:gdLst/>
              <a:ahLst/>
              <a:cxnLst/>
              <a:rect r="r" b="b" t="t" l="l"/>
              <a:pathLst>
                <a:path h="1687371" w="24030243">
                  <a:moveTo>
                    <a:pt x="0" y="0"/>
                  </a:moveTo>
                  <a:lnTo>
                    <a:pt x="24030243" y="0"/>
                  </a:lnTo>
                  <a:lnTo>
                    <a:pt x="24030243" y="1687371"/>
                  </a:lnTo>
                  <a:lnTo>
                    <a:pt x="0" y="1687371"/>
                  </a:lnTo>
                  <a:close/>
                </a:path>
              </a:pathLst>
            </a:custGeom>
            <a:solidFill>
              <a:srgbClr val="000000"/>
            </a:solidFill>
          </p:spPr>
        </p:sp>
        <p:sp>
          <p:nvSpPr>
            <p:cNvPr name="TextBox 7" id="7"/>
            <p:cNvSpPr txBox="true"/>
            <p:nvPr/>
          </p:nvSpPr>
          <p:spPr>
            <a:xfrm>
              <a:off x="0" y="-47625"/>
              <a:ext cx="24030243"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9958962"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3.</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Calidad de los datos</a:t>
            </a:r>
          </a:p>
        </p:txBody>
      </p:sp>
      <p:grpSp>
        <p:nvGrpSpPr>
          <p:cNvPr name="Group 9" id="9"/>
          <p:cNvGrpSpPr/>
          <p:nvPr/>
        </p:nvGrpSpPr>
        <p:grpSpPr>
          <a:xfrm rot="0">
            <a:off x="-683981" y="2587338"/>
            <a:ext cx="5469911" cy="981436"/>
            <a:chOff x="0" y="0"/>
            <a:chExt cx="6287660" cy="1128160"/>
          </a:xfrm>
        </p:grpSpPr>
        <p:sp>
          <p:nvSpPr>
            <p:cNvPr name="Freeform 10" id="10"/>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000000"/>
            </a:solidFill>
          </p:spPr>
        </p:sp>
        <p:sp>
          <p:nvSpPr>
            <p:cNvPr name="TextBox 11" id="11"/>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878714" y="2910923"/>
            <a:ext cx="3693104" cy="410464"/>
          </a:xfrm>
          <a:prstGeom prst="rect">
            <a:avLst/>
          </a:prstGeom>
        </p:spPr>
        <p:txBody>
          <a:bodyPr anchor="t" rtlCol="false" tIns="0" lIns="0" bIns="0" rIns="0">
            <a:spAutoFit/>
          </a:bodyPr>
          <a:lstStyle/>
          <a:p>
            <a:pPr algn="r">
              <a:lnSpc>
                <a:spcPts val="3008"/>
              </a:lnSpc>
            </a:pPr>
            <a:r>
              <a:rPr lang="en-US" sz="3200">
                <a:solidFill>
                  <a:srgbClr val="F8F6F0"/>
                </a:solidFill>
                <a:latin typeface="Cy Grotesk Wide"/>
                <a:ea typeface="Cy Grotesk Wide"/>
                <a:cs typeface="Cy Grotesk Wide"/>
                <a:sym typeface="Cy Grotesk Wide"/>
              </a:rPr>
              <a:t>Género</a:t>
            </a:r>
          </a:p>
        </p:txBody>
      </p:sp>
      <p:grpSp>
        <p:nvGrpSpPr>
          <p:cNvPr name="Group 13" id="13"/>
          <p:cNvGrpSpPr/>
          <p:nvPr/>
        </p:nvGrpSpPr>
        <p:grpSpPr>
          <a:xfrm rot="0">
            <a:off x="4785930" y="2587338"/>
            <a:ext cx="13519008" cy="981436"/>
            <a:chOff x="0" y="0"/>
            <a:chExt cx="15540093" cy="1128160"/>
          </a:xfrm>
        </p:grpSpPr>
        <p:sp>
          <p:nvSpPr>
            <p:cNvPr name="Freeform 14" id="14"/>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54DF64"/>
            </a:solidFill>
          </p:spPr>
        </p:sp>
        <p:sp>
          <p:nvSpPr>
            <p:cNvPr name="TextBox 15" id="15"/>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215084" y="2703087"/>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000000"/>
                </a:solidFill>
                <a:latin typeface="Cy Grotesk Key"/>
                <a:ea typeface="Cy Grotesk Key"/>
                <a:cs typeface="Cy Grotesk Key"/>
                <a:sym typeface="Cy Grotesk Key"/>
              </a:rPr>
              <a:t>M, m,</a:t>
            </a:r>
            <a:r>
              <a:rPr lang="en-US" sz="2599">
                <a:solidFill>
                  <a:srgbClr val="000000"/>
                </a:solidFill>
                <a:latin typeface="Cy Grotesk Key"/>
                <a:ea typeface="Cy Grotesk Key"/>
                <a:cs typeface="Cy Grotesk Key"/>
                <a:sym typeface="Cy Grotesk Key"/>
              </a:rPr>
              <a:t> Masculino, male, 1, F, f, Femenino, female, 2</a:t>
            </a:r>
          </a:p>
        </p:txBody>
      </p:sp>
      <p:grpSp>
        <p:nvGrpSpPr>
          <p:cNvPr name="Group 17" id="17"/>
          <p:cNvGrpSpPr/>
          <p:nvPr/>
        </p:nvGrpSpPr>
        <p:grpSpPr>
          <a:xfrm rot="0">
            <a:off x="-683981" y="3854523"/>
            <a:ext cx="5469911" cy="981436"/>
            <a:chOff x="0" y="0"/>
            <a:chExt cx="6287660" cy="1128160"/>
          </a:xfrm>
        </p:grpSpPr>
        <p:sp>
          <p:nvSpPr>
            <p:cNvPr name="Freeform 18" id="18"/>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000000"/>
            </a:solidFill>
          </p:spPr>
        </p:sp>
        <p:sp>
          <p:nvSpPr>
            <p:cNvPr name="TextBox 19" id="19"/>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991831" y="4178109"/>
            <a:ext cx="3579987" cy="410464"/>
          </a:xfrm>
          <a:prstGeom prst="rect">
            <a:avLst/>
          </a:prstGeom>
        </p:spPr>
        <p:txBody>
          <a:bodyPr anchor="t" rtlCol="false" tIns="0" lIns="0" bIns="0" rIns="0">
            <a:spAutoFit/>
          </a:bodyPr>
          <a:lstStyle/>
          <a:p>
            <a:pPr algn="r">
              <a:lnSpc>
                <a:spcPts val="3008"/>
              </a:lnSpc>
            </a:pPr>
            <a:r>
              <a:rPr lang="en-US" sz="3200">
                <a:solidFill>
                  <a:srgbClr val="F8F6F0"/>
                </a:solidFill>
                <a:latin typeface="Cy Grotesk Wide"/>
                <a:ea typeface="Cy Grotesk Wide"/>
                <a:cs typeface="Cy Grotesk Wide"/>
                <a:sym typeface="Cy Grotesk Wide"/>
              </a:rPr>
              <a:t>Email</a:t>
            </a:r>
          </a:p>
        </p:txBody>
      </p:sp>
      <p:grpSp>
        <p:nvGrpSpPr>
          <p:cNvPr name="Group 21" id="21"/>
          <p:cNvGrpSpPr/>
          <p:nvPr/>
        </p:nvGrpSpPr>
        <p:grpSpPr>
          <a:xfrm rot="0">
            <a:off x="4785930" y="3854523"/>
            <a:ext cx="13519008" cy="981436"/>
            <a:chOff x="0" y="0"/>
            <a:chExt cx="15540093" cy="1128160"/>
          </a:xfrm>
        </p:grpSpPr>
        <p:sp>
          <p:nvSpPr>
            <p:cNvPr name="Freeform 22" id="22"/>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54DF64"/>
            </a:solidFill>
          </p:spPr>
        </p:sp>
        <p:sp>
          <p:nvSpPr>
            <p:cNvPr name="TextBox 23" id="23"/>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4785930" y="5121709"/>
            <a:ext cx="13519008" cy="981436"/>
            <a:chOff x="0" y="0"/>
            <a:chExt cx="15540093" cy="1128160"/>
          </a:xfrm>
        </p:grpSpPr>
        <p:sp>
          <p:nvSpPr>
            <p:cNvPr name="Freeform 25" id="25"/>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54DF64"/>
            </a:solidFill>
          </p:spPr>
        </p:sp>
        <p:sp>
          <p:nvSpPr>
            <p:cNvPr name="TextBox 26" id="26"/>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4785930" y="6388894"/>
            <a:ext cx="13519008" cy="981436"/>
            <a:chOff x="0" y="0"/>
            <a:chExt cx="15540093" cy="1128160"/>
          </a:xfrm>
        </p:grpSpPr>
        <p:sp>
          <p:nvSpPr>
            <p:cNvPr name="Freeform 28" id="28"/>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54DF64"/>
            </a:solidFill>
          </p:spPr>
        </p:sp>
        <p:sp>
          <p:nvSpPr>
            <p:cNvPr name="TextBox 29" id="29"/>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4785930" y="7656080"/>
            <a:ext cx="13519008" cy="981436"/>
            <a:chOff x="0" y="0"/>
            <a:chExt cx="15540093" cy="1128160"/>
          </a:xfrm>
        </p:grpSpPr>
        <p:sp>
          <p:nvSpPr>
            <p:cNvPr name="Freeform 31" id="31"/>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54DF64"/>
            </a:solidFill>
          </p:spPr>
        </p:sp>
        <p:sp>
          <p:nvSpPr>
            <p:cNvPr name="TextBox 32" id="32"/>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4785930" y="8923265"/>
            <a:ext cx="13519008" cy="981436"/>
            <a:chOff x="0" y="0"/>
            <a:chExt cx="15540093" cy="1128160"/>
          </a:xfrm>
        </p:grpSpPr>
        <p:sp>
          <p:nvSpPr>
            <p:cNvPr name="Freeform 34" id="34"/>
            <p:cNvSpPr/>
            <p:nvPr/>
          </p:nvSpPr>
          <p:spPr>
            <a:xfrm flipH="false" flipV="false" rot="0">
              <a:off x="0" y="0"/>
              <a:ext cx="15540093" cy="1128160"/>
            </a:xfrm>
            <a:custGeom>
              <a:avLst/>
              <a:gdLst/>
              <a:ahLst/>
              <a:cxnLst/>
              <a:rect r="r" b="b" t="t" l="l"/>
              <a:pathLst>
                <a:path h="1128160" w="15540093">
                  <a:moveTo>
                    <a:pt x="0" y="0"/>
                  </a:moveTo>
                  <a:lnTo>
                    <a:pt x="15540093" y="0"/>
                  </a:lnTo>
                  <a:lnTo>
                    <a:pt x="15540093" y="1128160"/>
                  </a:lnTo>
                  <a:lnTo>
                    <a:pt x="0" y="1128160"/>
                  </a:lnTo>
                  <a:close/>
                </a:path>
              </a:pathLst>
            </a:custGeom>
            <a:solidFill>
              <a:srgbClr val="54DF64"/>
            </a:solidFill>
          </p:spPr>
        </p:sp>
        <p:sp>
          <p:nvSpPr>
            <p:cNvPr name="TextBox 35" id="35"/>
            <p:cNvSpPr txBox="true"/>
            <p:nvPr/>
          </p:nvSpPr>
          <p:spPr>
            <a:xfrm>
              <a:off x="0" y="-47625"/>
              <a:ext cx="15540093" cy="1175785"/>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5215084" y="3970273"/>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000000"/>
                </a:solidFill>
                <a:latin typeface="Cy Grotesk Key"/>
                <a:ea typeface="Cy Grotesk Key"/>
                <a:cs typeface="Cy Grotesk Key"/>
                <a:sym typeface="Cy Grotesk Key"/>
              </a:rPr>
              <a:t>3.97</a:t>
            </a:r>
            <a:r>
              <a:rPr lang="en-US" sz="2599">
                <a:solidFill>
                  <a:srgbClr val="000000"/>
                </a:solidFill>
                <a:latin typeface="Cy Grotesk Key"/>
                <a:ea typeface="Cy Grotesk Key"/>
                <a:cs typeface="Cy Grotesk Key"/>
                <a:sym typeface="Cy Grotesk Key"/>
              </a:rPr>
              <a:t>0 valores vacíos y 6.193 formatos inválidos</a:t>
            </a:r>
          </a:p>
        </p:txBody>
      </p:sp>
      <p:grpSp>
        <p:nvGrpSpPr>
          <p:cNvPr name="Group 37" id="37"/>
          <p:cNvGrpSpPr/>
          <p:nvPr/>
        </p:nvGrpSpPr>
        <p:grpSpPr>
          <a:xfrm rot="0">
            <a:off x="-683981" y="5121709"/>
            <a:ext cx="5469911" cy="981436"/>
            <a:chOff x="0" y="0"/>
            <a:chExt cx="6287660" cy="1128160"/>
          </a:xfrm>
        </p:grpSpPr>
        <p:sp>
          <p:nvSpPr>
            <p:cNvPr name="Freeform 38" id="38"/>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000000"/>
            </a:solidFill>
          </p:spPr>
        </p:sp>
        <p:sp>
          <p:nvSpPr>
            <p:cNvPr name="TextBox 39" id="39"/>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176606" y="5445294"/>
            <a:ext cx="4395212" cy="410464"/>
          </a:xfrm>
          <a:prstGeom prst="rect">
            <a:avLst/>
          </a:prstGeom>
        </p:spPr>
        <p:txBody>
          <a:bodyPr anchor="t" rtlCol="false" tIns="0" lIns="0" bIns="0" rIns="0">
            <a:spAutoFit/>
          </a:bodyPr>
          <a:lstStyle/>
          <a:p>
            <a:pPr algn="r">
              <a:lnSpc>
                <a:spcPts val="3008"/>
              </a:lnSpc>
            </a:pPr>
            <a:r>
              <a:rPr lang="en-US" sz="3200">
                <a:solidFill>
                  <a:srgbClr val="F8F6F0"/>
                </a:solidFill>
                <a:latin typeface="Cy Grotesk Wide"/>
                <a:ea typeface="Cy Grotesk Wide"/>
                <a:cs typeface="Cy Grotesk Wide"/>
                <a:sym typeface="Cy Grotesk Wide"/>
              </a:rPr>
              <a:t>Teléfono</a:t>
            </a:r>
          </a:p>
        </p:txBody>
      </p:sp>
      <p:sp>
        <p:nvSpPr>
          <p:cNvPr name="TextBox 41" id="41"/>
          <p:cNvSpPr txBox="true"/>
          <p:nvPr/>
        </p:nvSpPr>
        <p:spPr>
          <a:xfrm rot="0">
            <a:off x="5215084" y="5237458"/>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000000"/>
                </a:solidFill>
                <a:latin typeface="Cy Grotesk Key"/>
                <a:ea typeface="Cy Grotesk Key"/>
                <a:cs typeface="Cy Grotesk Key"/>
                <a:sym typeface="Cy Grotesk Key"/>
              </a:rPr>
              <a:t>6.451 valores vacíos y 15.937 formatos no normalizados o inválidos</a:t>
            </a:r>
          </a:p>
        </p:txBody>
      </p:sp>
      <p:grpSp>
        <p:nvGrpSpPr>
          <p:cNvPr name="Group 42" id="42"/>
          <p:cNvGrpSpPr/>
          <p:nvPr/>
        </p:nvGrpSpPr>
        <p:grpSpPr>
          <a:xfrm rot="0">
            <a:off x="-683981" y="6388894"/>
            <a:ext cx="5469911" cy="981436"/>
            <a:chOff x="0" y="0"/>
            <a:chExt cx="6287660" cy="1128160"/>
          </a:xfrm>
        </p:grpSpPr>
        <p:sp>
          <p:nvSpPr>
            <p:cNvPr name="Freeform 43" id="43"/>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000000"/>
            </a:solidFill>
          </p:spPr>
        </p:sp>
        <p:sp>
          <p:nvSpPr>
            <p:cNvPr name="TextBox 44" id="44"/>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12173" y="6712480"/>
            <a:ext cx="4583990" cy="410464"/>
          </a:xfrm>
          <a:prstGeom prst="rect">
            <a:avLst/>
          </a:prstGeom>
        </p:spPr>
        <p:txBody>
          <a:bodyPr anchor="t" rtlCol="false" tIns="0" lIns="0" bIns="0" rIns="0">
            <a:spAutoFit/>
          </a:bodyPr>
          <a:lstStyle/>
          <a:p>
            <a:pPr algn="r">
              <a:lnSpc>
                <a:spcPts val="3008"/>
              </a:lnSpc>
            </a:pPr>
            <a:r>
              <a:rPr lang="en-US" sz="3200">
                <a:solidFill>
                  <a:srgbClr val="F8F6F0"/>
                </a:solidFill>
                <a:latin typeface="Cy Grotesk Wide"/>
                <a:ea typeface="Cy Grotesk Wide"/>
                <a:cs typeface="Cy Grotesk Wide"/>
                <a:sym typeface="Cy Grotesk Wide"/>
              </a:rPr>
              <a:t>Fecha nacimiento</a:t>
            </a:r>
          </a:p>
        </p:txBody>
      </p:sp>
      <p:sp>
        <p:nvSpPr>
          <p:cNvPr name="TextBox 46" id="46"/>
          <p:cNvSpPr txBox="true"/>
          <p:nvPr/>
        </p:nvSpPr>
        <p:spPr>
          <a:xfrm rot="0">
            <a:off x="5215084" y="6504644"/>
            <a:ext cx="11564750"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000000"/>
                </a:solidFill>
                <a:latin typeface="Cy Grotesk Key"/>
                <a:ea typeface="Cy Grotesk Key"/>
                <a:cs typeface="Cy Grotesk Key"/>
                <a:sym typeface="Cy Grotesk Key"/>
              </a:rPr>
              <a:t>15.538 val</a:t>
            </a:r>
            <a:r>
              <a:rPr lang="en-US" sz="2599">
                <a:solidFill>
                  <a:srgbClr val="000000"/>
                </a:solidFill>
                <a:latin typeface="Cy Grotesk Key"/>
                <a:ea typeface="Cy Grotesk Key"/>
                <a:cs typeface="Cy Grotesk Key"/>
                <a:sym typeface="Cy Grotesk Key"/>
              </a:rPr>
              <a:t>ores no normalizados, incluyendo 3.894 con solo año</a:t>
            </a:r>
          </a:p>
        </p:txBody>
      </p:sp>
      <p:grpSp>
        <p:nvGrpSpPr>
          <p:cNvPr name="Group 47" id="47"/>
          <p:cNvGrpSpPr/>
          <p:nvPr/>
        </p:nvGrpSpPr>
        <p:grpSpPr>
          <a:xfrm rot="0">
            <a:off x="-683981" y="7656080"/>
            <a:ext cx="5469911" cy="981436"/>
            <a:chOff x="0" y="0"/>
            <a:chExt cx="6287660" cy="1128160"/>
          </a:xfrm>
        </p:grpSpPr>
        <p:sp>
          <p:nvSpPr>
            <p:cNvPr name="Freeform 48" id="48"/>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000000"/>
            </a:solidFill>
          </p:spPr>
        </p:sp>
        <p:sp>
          <p:nvSpPr>
            <p:cNvPr name="TextBox 49" id="49"/>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50" id="50"/>
          <p:cNvSpPr txBox="true"/>
          <p:nvPr/>
        </p:nvSpPr>
        <p:spPr>
          <a:xfrm rot="0">
            <a:off x="0" y="7979666"/>
            <a:ext cx="4571817" cy="410464"/>
          </a:xfrm>
          <a:prstGeom prst="rect">
            <a:avLst/>
          </a:prstGeom>
        </p:spPr>
        <p:txBody>
          <a:bodyPr anchor="t" rtlCol="false" tIns="0" lIns="0" bIns="0" rIns="0">
            <a:spAutoFit/>
          </a:bodyPr>
          <a:lstStyle/>
          <a:p>
            <a:pPr algn="r">
              <a:lnSpc>
                <a:spcPts val="3008"/>
              </a:lnSpc>
            </a:pPr>
            <a:r>
              <a:rPr lang="en-US" sz="3200">
                <a:solidFill>
                  <a:srgbClr val="F8F6F0"/>
                </a:solidFill>
                <a:latin typeface="Cy Grotesk Wide"/>
                <a:ea typeface="Cy Grotesk Wide"/>
                <a:cs typeface="Cy Grotesk Wide"/>
                <a:sym typeface="Cy Grotesk Wide"/>
              </a:rPr>
              <a:t>Nacionalidad</a:t>
            </a:r>
          </a:p>
        </p:txBody>
      </p:sp>
      <p:sp>
        <p:nvSpPr>
          <p:cNvPr name="TextBox 51" id="51"/>
          <p:cNvSpPr txBox="true"/>
          <p:nvPr/>
        </p:nvSpPr>
        <p:spPr>
          <a:xfrm rot="0">
            <a:off x="5215084" y="7771829"/>
            <a:ext cx="12471822"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000000"/>
                </a:solidFill>
                <a:latin typeface="Cy Grotesk Key"/>
                <a:ea typeface="Cy Grotesk Key"/>
                <a:cs typeface="Cy Grotesk Key"/>
                <a:sym typeface="Cy Grotesk Key"/>
              </a:rPr>
              <a:t>2</a:t>
            </a:r>
            <a:r>
              <a:rPr lang="en-US" sz="2599">
                <a:solidFill>
                  <a:srgbClr val="000000"/>
                </a:solidFill>
                <a:latin typeface="Cy Grotesk Key"/>
                <a:ea typeface="Cy Grotesk Key"/>
                <a:cs typeface="Cy Grotesk Key"/>
                <a:sym typeface="Cy Grotesk Key"/>
              </a:rPr>
              <a:t>.736 valores vacíos</a:t>
            </a:r>
          </a:p>
        </p:txBody>
      </p:sp>
      <p:grpSp>
        <p:nvGrpSpPr>
          <p:cNvPr name="Group 52" id="52"/>
          <p:cNvGrpSpPr/>
          <p:nvPr/>
        </p:nvGrpSpPr>
        <p:grpSpPr>
          <a:xfrm rot="0">
            <a:off x="-683981" y="8923265"/>
            <a:ext cx="5469911" cy="981436"/>
            <a:chOff x="0" y="0"/>
            <a:chExt cx="6287660" cy="1128160"/>
          </a:xfrm>
        </p:grpSpPr>
        <p:sp>
          <p:nvSpPr>
            <p:cNvPr name="Freeform 53" id="53"/>
            <p:cNvSpPr/>
            <p:nvPr/>
          </p:nvSpPr>
          <p:spPr>
            <a:xfrm flipH="false" flipV="false" rot="0">
              <a:off x="0" y="0"/>
              <a:ext cx="6287660" cy="1128160"/>
            </a:xfrm>
            <a:custGeom>
              <a:avLst/>
              <a:gdLst/>
              <a:ahLst/>
              <a:cxnLst/>
              <a:rect r="r" b="b" t="t" l="l"/>
              <a:pathLst>
                <a:path h="1128160" w="6287660">
                  <a:moveTo>
                    <a:pt x="0" y="0"/>
                  </a:moveTo>
                  <a:lnTo>
                    <a:pt x="6287660" y="0"/>
                  </a:lnTo>
                  <a:lnTo>
                    <a:pt x="6287660" y="1128160"/>
                  </a:lnTo>
                  <a:lnTo>
                    <a:pt x="0" y="1128160"/>
                  </a:lnTo>
                  <a:close/>
                </a:path>
              </a:pathLst>
            </a:custGeom>
            <a:solidFill>
              <a:srgbClr val="000000"/>
            </a:solidFill>
          </p:spPr>
        </p:sp>
        <p:sp>
          <p:nvSpPr>
            <p:cNvPr name="TextBox 54" id="54"/>
            <p:cNvSpPr txBox="true"/>
            <p:nvPr/>
          </p:nvSpPr>
          <p:spPr>
            <a:xfrm>
              <a:off x="0" y="-47625"/>
              <a:ext cx="6287660" cy="1175785"/>
            </a:xfrm>
            <a:prstGeom prst="rect">
              <a:avLst/>
            </a:prstGeom>
          </p:spPr>
          <p:txBody>
            <a:bodyPr anchor="ctr" rtlCol="false" tIns="50800" lIns="50800" bIns="50800" rIns="50800"/>
            <a:lstStyle/>
            <a:p>
              <a:pPr algn="ctr">
                <a:lnSpc>
                  <a:spcPts val="2659"/>
                </a:lnSpc>
              </a:pPr>
            </a:p>
          </p:txBody>
        </p:sp>
      </p:grpSp>
      <p:sp>
        <p:nvSpPr>
          <p:cNvPr name="TextBox 55" id="55"/>
          <p:cNvSpPr txBox="true"/>
          <p:nvPr/>
        </p:nvSpPr>
        <p:spPr>
          <a:xfrm rot="0">
            <a:off x="1271196" y="9246851"/>
            <a:ext cx="3300622" cy="410464"/>
          </a:xfrm>
          <a:prstGeom prst="rect">
            <a:avLst/>
          </a:prstGeom>
        </p:spPr>
        <p:txBody>
          <a:bodyPr anchor="t" rtlCol="false" tIns="0" lIns="0" bIns="0" rIns="0">
            <a:spAutoFit/>
          </a:bodyPr>
          <a:lstStyle/>
          <a:p>
            <a:pPr algn="r">
              <a:lnSpc>
                <a:spcPts val="3008"/>
              </a:lnSpc>
            </a:pPr>
            <a:r>
              <a:rPr lang="en-US" sz="3200">
                <a:solidFill>
                  <a:srgbClr val="F8F6F0"/>
                </a:solidFill>
                <a:latin typeface="Cy Grotesk Wide"/>
                <a:ea typeface="Cy Grotesk Wide"/>
                <a:cs typeface="Cy Grotesk Wide"/>
                <a:sym typeface="Cy Grotesk Wide"/>
              </a:rPr>
              <a:t>Dni</a:t>
            </a:r>
          </a:p>
        </p:txBody>
      </p:sp>
      <p:sp>
        <p:nvSpPr>
          <p:cNvPr name="TextBox 56" id="56"/>
          <p:cNvSpPr txBox="true"/>
          <p:nvPr/>
        </p:nvSpPr>
        <p:spPr>
          <a:xfrm rot="0">
            <a:off x="5215084" y="9039015"/>
            <a:ext cx="12698392" cy="568962"/>
          </a:xfrm>
          <a:prstGeom prst="rect">
            <a:avLst/>
          </a:prstGeom>
        </p:spPr>
        <p:txBody>
          <a:bodyPr anchor="t" rtlCol="false" tIns="0" lIns="0" bIns="0" rIns="0">
            <a:spAutoFit/>
          </a:bodyPr>
          <a:lstStyle/>
          <a:p>
            <a:pPr algn="l" marL="0" indent="0" lvl="1">
              <a:lnSpc>
                <a:spcPts val="4939"/>
              </a:lnSpc>
              <a:spcBef>
                <a:spcPct val="0"/>
              </a:spcBef>
            </a:pPr>
            <a:r>
              <a:rPr lang="en-US" sz="2599">
                <a:solidFill>
                  <a:srgbClr val="000000"/>
                </a:solidFill>
                <a:latin typeface="Cy Grotesk Key"/>
                <a:ea typeface="Cy Grotesk Key"/>
                <a:cs typeface="Cy Grotesk Key"/>
                <a:sym typeface="Cy Grotesk Key"/>
              </a:rPr>
              <a:t>10</a:t>
            </a:r>
            <a:r>
              <a:rPr lang="en-US" sz="2599">
                <a:solidFill>
                  <a:srgbClr val="000000"/>
                </a:solidFill>
                <a:latin typeface="Cy Grotesk Key"/>
                <a:ea typeface="Cy Grotesk Key"/>
                <a:cs typeface="Cy Grotesk Key"/>
                <a:sym typeface="Cy Grotesk Key"/>
              </a:rPr>
              <a:t>.499 valores inválidos y 2.474 repetidos, afectando 5.041 filas</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96120">
            <a:off x="-10272649" y="672175"/>
            <a:ext cx="22494922" cy="1491048"/>
            <a:chOff x="0" y="0"/>
            <a:chExt cx="25857902" cy="1713959"/>
          </a:xfrm>
        </p:grpSpPr>
        <p:sp>
          <p:nvSpPr>
            <p:cNvPr name="Freeform 3" id="3"/>
            <p:cNvSpPr/>
            <p:nvPr/>
          </p:nvSpPr>
          <p:spPr>
            <a:xfrm flipH="false" flipV="false" rot="0">
              <a:off x="0" y="0"/>
              <a:ext cx="25857902" cy="1713959"/>
            </a:xfrm>
            <a:custGeom>
              <a:avLst/>
              <a:gdLst/>
              <a:ahLst/>
              <a:cxnLst/>
              <a:rect r="r" b="b" t="t" l="l"/>
              <a:pathLst>
                <a:path h="1713959" w="25857902">
                  <a:moveTo>
                    <a:pt x="0" y="0"/>
                  </a:moveTo>
                  <a:lnTo>
                    <a:pt x="25857902" y="0"/>
                  </a:lnTo>
                  <a:lnTo>
                    <a:pt x="25857902" y="1713959"/>
                  </a:lnTo>
                  <a:lnTo>
                    <a:pt x="0" y="1713959"/>
                  </a:lnTo>
                  <a:close/>
                </a:path>
              </a:pathLst>
            </a:custGeom>
            <a:solidFill>
              <a:srgbClr val="54DF64"/>
            </a:solidFill>
          </p:spPr>
        </p:sp>
        <p:sp>
          <p:nvSpPr>
            <p:cNvPr name="TextBox 4" id="4"/>
            <p:cNvSpPr txBox="true"/>
            <p:nvPr/>
          </p:nvSpPr>
          <p:spPr>
            <a:xfrm>
              <a:off x="0" y="-47625"/>
              <a:ext cx="25857902"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2395345" cy="1467918"/>
            <a:chOff x="0" y="0"/>
            <a:chExt cx="25743438" cy="1687371"/>
          </a:xfrm>
        </p:grpSpPr>
        <p:sp>
          <p:nvSpPr>
            <p:cNvPr name="Freeform 6" id="6"/>
            <p:cNvSpPr/>
            <p:nvPr/>
          </p:nvSpPr>
          <p:spPr>
            <a:xfrm flipH="false" flipV="false" rot="0">
              <a:off x="0" y="0"/>
              <a:ext cx="25743438" cy="1687371"/>
            </a:xfrm>
            <a:custGeom>
              <a:avLst/>
              <a:gdLst/>
              <a:ahLst/>
              <a:cxnLst/>
              <a:rect r="r" b="b" t="t" l="l"/>
              <a:pathLst>
                <a:path h="1687371" w="25743438">
                  <a:moveTo>
                    <a:pt x="0" y="0"/>
                  </a:moveTo>
                  <a:lnTo>
                    <a:pt x="25743438" y="0"/>
                  </a:lnTo>
                  <a:lnTo>
                    <a:pt x="25743438" y="1687371"/>
                  </a:lnTo>
                  <a:lnTo>
                    <a:pt x="0" y="1687371"/>
                  </a:lnTo>
                  <a:close/>
                </a:path>
              </a:pathLst>
            </a:custGeom>
            <a:solidFill>
              <a:srgbClr val="000000"/>
            </a:solidFill>
          </p:spPr>
        </p:sp>
        <p:sp>
          <p:nvSpPr>
            <p:cNvPr name="TextBox 7" id="7"/>
            <p:cNvSpPr txBox="true"/>
            <p:nvPr/>
          </p:nvSpPr>
          <p:spPr>
            <a:xfrm>
              <a:off x="0" y="-47625"/>
              <a:ext cx="25743438" cy="173499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0737" y="2439272"/>
            <a:ext cx="14786525" cy="7559611"/>
          </a:xfrm>
          <a:custGeom>
            <a:avLst/>
            <a:gdLst/>
            <a:ahLst/>
            <a:cxnLst/>
            <a:rect r="r" b="b" t="t" l="l"/>
            <a:pathLst>
              <a:path h="7559611" w="14786525">
                <a:moveTo>
                  <a:pt x="0" y="0"/>
                </a:moveTo>
                <a:lnTo>
                  <a:pt x="14786526" y="0"/>
                </a:lnTo>
                <a:lnTo>
                  <a:pt x="14786526" y="7559611"/>
                </a:lnTo>
                <a:lnTo>
                  <a:pt x="0" y="7559611"/>
                </a:lnTo>
                <a:lnTo>
                  <a:pt x="0" y="0"/>
                </a:lnTo>
                <a:close/>
              </a:path>
            </a:pathLst>
          </a:custGeom>
          <a:blipFill>
            <a:blip r:embed="rId3"/>
            <a:stretch>
              <a:fillRect l="0" t="0" r="0" b="0"/>
            </a:stretch>
          </a:blipFill>
        </p:spPr>
      </p:sp>
      <p:sp>
        <p:nvSpPr>
          <p:cNvPr name="TextBox 9" id="9"/>
          <p:cNvSpPr txBox="true"/>
          <p:nvPr/>
        </p:nvSpPr>
        <p:spPr>
          <a:xfrm rot="0">
            <a:off x="463140" y="1217119"/>
            <a:ext cx="11486944"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4.</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Modelo Multidimensional</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96120">
            <a:off x="-10271789" y="733691"/>
            <a:ext cx="18094059" cy="1491048"/>
            <a:chOff x="0" y="0"/>
            <a:chExt cx="20799112" cy="1713959"/>
          </a:xfrm>
        </p:grpSpPr>
        <p:sp>
          <p:nvSpPr>
            <p:cNvPr name="Freeform 3" id="3"/>
            <p:cNvSpPr/>
            <p:nvPr/>
          </p:nvSpPr>
          <p:spPr>
            <a:xfrm flipH="false" flipV="false" rot="0">
              <a:off x="0" y="0"/>
              <a:ext cx="20799112" cy="1713959"/>
            </a:xfrm>
            <a:custGeom>
              <a:avLst/>
              <a:gdLst/>
              <a:ahLst/>
              <a:cxnLst/>
              <a:rect r="r" b="b" t="t" l="l"/>
              <a:pathLst>
                <a:path h="1713959" w="20799112">
                  <a:moveTo>
                    <a:pt x="0" y="0"/>
                  </a:moveTo>
                  <a:lnTo>
                    <a:pt x="20799112" y="0"/>
                  </a:lnTo>
                  <a:lnTo>
                    <a:pt x="20799112" y="1713959"/>
                  </a:lnTo>
                  <a:lnTo>
                    <a:pt x="0" y="1713959"/>
                  </a:lnTo>
                  <a:close/>
                </a:path>
              </a:pathLst>
            </a:custGeom>
            <a:solidFill>
              <a:srgbClr val="54DF64"/>
            </a:solidFill>
          </p:spPr>
        </p:sp>
        <p:sp>
          <p:nvSpPr>
            <p:cNvPr name="TextBox 4" id="4"/>
            <p:cNvSpPr txBox="true"/>
            <p:nvPr/>
          </p:nvSpPr>
          <p:spPr>
            <a:xfrm>
              <a:off x="0" y="-47625"/>
              <a:ext cx="20799112"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17901216" cy="1467918"/>
            <a:chOff x="0" y="0"/>
            <a:chExt cx="20577439" cy="1687371"/>
          </a:xfrm>
        </p:grpSpPr>
        <p:sp>
          <p:nvSpPr>
            <p:cNvPr name="Freeform 6" id="6"/>
            <p:cNvSpPr/>
            <p:nvPr/>
          </p:nvSpPr>
          <p:spPr>
            <a:xfrm flipH="false" flipV="false" rot="0">
              <a:off x="0" y="0"/>
              <a:ext cx="20577439" cy="1687371"/>
            </a:xfrm>
            <a:custGeom>
              <a:avLst/>
              <a:gdLst/>
              <a:ahLst/>
              <a:cxnLst/>
              <a:rect r="r" b="b" t="t" l="l"/>
              <a:pathLst>
                <a:path h="1687371" w="20577439">
                  <a:moveTo>
                    <a:pt x="0" y="0"/>
                  </a:moveTo>
                  <a:lnTo>
                    <a:pt x="20577439" y="0"/>
                  </a:lnTo>
                  <a:lnTo>
                    <a:pt x="20577439" y="1687371"/>
                  </a:lnTo>
                  <a:lnTo>
                    <a:pt x="0" y="1687371"/>
                  </a:lnTo>
                  <a:close/>
                </a:path>
              </a:pathLst>
            </a:custGeom>
            <a:solidFill>
              <a:srgbClr val="000000"/>
            </a:solidFill>
          </p:spPr>
        </p:sp>
        <p:sp>
          <p:nvSpPr>
            <p:cNvPr name="TextBox 7" id="7"/>
            <p:cNvSpPr txBox="true"/>
            <p:nvPr/>
          </p:nvSpPr>
          <p:spPr>
            <a:xfrm>
              <a:off x="0" y="-47625"/>
              <a:ext cx="20577439" cy="173499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672362" y="2406134"/>
            <a:ext cx="15082788" cy="7701649"/>
          </a:xfrm>
          <a:custGeom>
            <a:avLst/>
            <a:gdLst/>
            <a:ahLst/>
            <a:cxnLst/>
            <a:rect r="r" b="b" t="t" l="l"/>
            <a:pathLst>
              <a:path h="7701649" w="15082788">
                <a:moveTo>
                  <a:pt x="0" y="0"/>
                </a:moveTo>
                <a:lnTo>
                  <a:pt x="15082788" y="0"/>
                </a:lnTo>
                <a:lnTo>
                  <a:pt x="15082788" y="7701649"/>
                </a:lnTo>
                <a:lnTo>
                  <a:pt x="0" y="7701649"/>
                </a:lnTo>
                <a:lnTo>
                  <a:pt x="0" y="0"/>
                </a:lnTo>
                <a:close/>
              </a:path>
            </a:pathLst>
          </a:custGeom>
          <a:blipFill>
            <a:blip r:embed="rId3"/>
            <a:stretch>
              <a:fillRect l="0" t="0" r="0" b="0"/>
            </a:stretch>
          </a:blipFill>
        </p:spPr>
      </p:sp>
      <p:sp>
        <p:nvSpPr>
          <p:cNvPr name="TextBox 9" id="9"/>
          <p:cNvSpPr txBox="true"/>
          <p:nvPr/>
        </p:nvSpPr>
        <p:spPr>
          <a:xfrm rot="0">
            <a:off x="463140" y="1217119"/>
            <a:ext cx="6992815"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4.</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Diseño Lógico</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4250536" y="4414024"/>
            <a:ext cx="504610" cy="837528"/>
          </a:xfrm>
          <a:custGeom>
            <a:avLst/>
            <a:gdLst/>
            <a:ahLst/>
            <a:cxnLst/>
            <a:rect r="r" b="b" t="t" l="l"/>
            <a:pathLst>
              <a:path h="837528" w="504610">
                <a:moveTo>
                  <a:pt x="0" y="0"/>
                </a:moveTo>
                <a:lnTo>
                  <a:pt x="504610" y="0"/>
                </a:lnTo>
                <a:lnTo>
                  <a:pt x="504610" y="837528"/>
                </a:lnTo>
                <a:lnTo>
                  <a:pt x="0" y="8375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10800000">
            <a:off x="8891695" y="4392432"/>
            <a:ext cx="504610" cy="837528"/>
          </a:xfrm>
          <a:custGeom>
            <a:avLst/>
            <a:gdLst/>
            <a:ahLst/>
            <a:cxnLst/>
            <a:rect r="r" b="b" t="t" l="l"/>
            <a:pathLst>
              <a:path h="837528" w="504610">
                <a:moveTo>
                  <a:pt x="0" y="0"/>
                </a:moveTo>
                <a:lnTo>
                  <a:pt x="504610" y="0"/>
                </a:lnTo>
                <a:lnTo>
                  <a:pt x="504610" y="837527"/>
                </a:lnTo>
                <a:lnTo>
                  <a:pt x="0" y="837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3532854" y="4392432"/>
            <a:ext cx="504610" cy="837528"/>
          </a:xfrm>
          <a:custGeom>
            <a:avLst/>
            <a:gdLst/>
            <a:ahLst/>
            <a:cxnLst/>
            <a:rect r="r" b="b" t="t" l="l"/>
            <a:pathLst>
              <a:path h="837528" w="504610">
                <a:moveTo>
                  <a:pt x="0" y="0"/>
                </a:moveTo>
                <a:lnTo>
                  <a:pt x="504610" y="0"/>
                </a:lnTo>
                <a:lnTo>
                  <a:pt x="504610" y="837527"/>
                </a:lnTo>
                <a:lnTo>
                  <a:pt x="0" y="837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03575" y="6624748"/>
            <a:ext cx="2604327" cy="766019"/>
            <a:chOff x="0" y="0"/>
            <a:chExt cx="685913" cy="201750"/>
          </a:xfrm>
        </p:grpSpPr>
        <p:sp>
          <p:nvSpPr>
            <p:cNvPr name="Freeform 6" id="6"/>
            <p:cNvSpPr/>
            <p:nvPr/>
          </p:nvSpPr>
          <p:spPr>
            <a:xfrm flipH="false" flipV="false" rot="0">
              <a:off x="0" y="0"/>
              <a:ext cx="685913" cy="201750"/>
            </a:xfrm>
            <a:custGeom>
              <a:avLst/>
              <a:gdLst/>
              <a:ahLst/>
              <a:cxnLst/>
              <a:rect r="r" b="b" t="t" l="l"/>
              <a:pathLst>
                <a:path h="201750" w="685913">
                  <a:moveTo>
                    <a:pt x="100875" y="0"/>
                  </a:moveTo>
                  <a:lnTo>
                    <a:pt x="585038" y="0"/>
                  </a:lnTo>
                  <a:cubicBezTo>
                    <a:pt x="611792" y="0"/>
                    <a:pt x="637450" y="10628"/>
                    <a:pt x="656368" y="29546"/>
                  </a:cubicBezTo>
                  <a:cubicBezTo>
                    <a:pt x="675285" y="48463"/>
                    <a:pt x="685913" y="74121"/>
                    <a:pt x="685913" y="100875"/>
                  </a:cubicBezTo>
                  <a:lnTo>
                    <a:pt x="685913" y="100875"/>
                  </a:lnTo>
                  <a:cubicBezTo>
                    <a:pt x="685913" y="156587"/>
                    <a:pt x="640750" y="201750"/>
                    <a:pt x="585038"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7" id="7"/>
            <p:cNvSpPr txBox="true"/>
            <p:nvPr/>
          </p:nvSpPr>
          <p:spPr>
            <a:xfrm>
              <a:off x="0" y="-47625"/>
              <a:ext cx="685913"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CARGA DW</a:t>
              </a:r>
            </a:p>
          </p:txBody>
        </p:sp>
      </p:grpSp>
      <p:grpSp>
        <p:nvGrpSpPr>
          <p:cNvPr name="Group 8" id="8"/>
          <p:cNvGrpSpPr/>
          <p:nvPr/>
        </p:nvGrpSpPr>
        <p:grpSpPr>
          <a:xfrm rot="0">
            <a:off x="14188093" y="2896233"/>
            <a:ext cx="3600703" cy="3493509"/>
            <a:chOff x="0" y="0"/>
            <a:chExt cx="4800938" cy="4658012"/>
          </a:xfrm>
        </p:grpSpPr>
        <p:grpSp>
          <p:nvGrpSpPr>
            <p:cNvPr name="Group 9" id="9"/>
            <p:cNvGrpSpPr/>
            <p:nvPr/>
          </p:nvGrpSpPr>
          <p:grpSpPr>
            <a:xfrm rot="0">
              <a:off x="0" y="169856"/>
              <a:ext cx="4488156" cy="448815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12782" y="0"/>
              <a:ext cx="4488156" cy="448815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08678" y="921734"/>
              <a:ext cx="2984400" cy="2984400"/>
            </a:xfrm>
            <a:custGeom>
              <a:avLst/>
              <a:gdLst/>
              <a:ahLst/>
              <a:cxnLst/>
              <a:rect r="r" b="b" t="t" l="l"/>
              <a:pathLst>
                <a:path h="2984400" w="2984400">
                  <a:moveTo>
                    <a:pt x="0" y="0"/>
                  </a:moveTo>
                  <a:lnTo>
                    <a:pt x="2984400" y="0"/>
                  </a:lnTo>
                  <a:lnTo>
                    <a:pt x="2984400" y="2984400"/>
                  </a:lnTo>
                  <a:lnTo>
                    <a:pt x="0" y="2984400"/>
                  </a:lnTo>
                  <a:lnTo>
                    <a:pt x="0" y="0"/>
                  </a:lnTo>
                  <a:close/>
                </a:path>
              </a:pathLst>
            </a:custGeom>
            <a:blipFill>
              <a:blip r:embed="rId5"/>
              <a:stretch>
                <a:fillRect l="0" t="0" r="0" b="0"/>
              </a:stretch>
            </a:blipFill>
          </p:spPr>
        </p:sp>
      </p:grpSp>
      <p:grpSp>
        <p:nvGrpSpPr>
          <p:cNvPr name="Group 16" id="16"/>
          <p:cNvGrpSpPr/>
          <p:nvPr/>
        </p:nvGrpSpPr>
        <p:grpSpPr>
          <a:xfrm rot="0">
            <a:off x="9894201" y="6624748"/>
            <a:ext cx="3140757" cy="766019"/>
            <a:chOff x="0" y="0"/>
            <a:chExt cx="827195" cy="201750"/>
          </a:xfrm>
        </p:grpSpPr>
        <p:sp>
          <p:nvSpPr>
            <p:cNvPr name="Freeform 17" id="17"/>
            <p:cNvSpPr/>
            <p:nvPr/>
          </p:nvSpPr>
          <p:spPr>
            <a:xfrm flipH="false" flipV="false" rot="0">
              <a:off x="0" y="0"/>
              <a:ext cx="827195" cy="201750"/>
            </a:xfrm>
            <a:custGeom>
              <a:avLst/>
              <a:gdLst/>
              <a:ahLst/>
              <a:cxnLst/>
              <a:rect r="r" b="b" t="t" l="l"/>
              <a:pathLst>
                <a:path h="201750" w="827195">
                  <a:moveTo>
                    <a:pt x="100875" y="0"/>
                  </a:moveTo>
                  <a:lnTo>
                    <a:pt x="726320" y="0"/>
                  </a:lnTo>
                  <a:cubicBezTo>
                    <a:pt x="753074" y="0"/>
                    <a:pt x="778732" y="10628"/>
                    <a:pt x="797650" y="29546"/>
                  </a:cubicBezTo>
                  <a:cubicBezTo>
                    <a:pt x="816567" y="48463"/>
                    <a:pt x="827195" y="74121"/>
                    <a:pt x="827195" y="100875"/>
                  </a:cubicBezTo>
                  <a:lnTo>
                    <a:pt x="827195" y="100875"/>
                  </a:lnTo>
                  <a:cubicBezTo>
                    <a:pt x="827195" y="156587"/>
                    <a:pt x="782032" y="201750"/>
                    <a:pt x="726320"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18" id="18"/>
            <p:cNvSpPr txBox="true"/>
            <p:nvPr/>
          </p:nvSpPr>
          <p:spPr>
            <a:xfrm>
              <a:off x="0" y="-47625"/>
              <a:ext cx="827195"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TRANSFORMACIÓN</a:t>
              </a:r>
            </a:p>
          </p:txBody>
        </p:sp>
      </p:grpSp>
      <p:grpSp>
        <p:nvGrpSpPr>
          <p:cNvPr name="Group 19" id="19"/>
          <p:cNvGrpSpPr/>
          <p:nvPr/>
        </p:nvGrpSpPr>
        <p:grpSpPr>
          <a:xfrm rot="0">
            <a:off x="9546935" y="2896233"/>
            <a:ext cx="3600703" cy="3493509"/>
            <a:chOff x="0" y="0"/>
            <a:chExt cx="4800938" cy="4658012"/>
          </a:xfrm>
        </p:grpSpPr>
        <p:grpSp>
          <p:nvGrpSpPr>
            <p:cNvPr name="Group 20" id="20"/>
            <p:cNvGrpSpPr/>
            <p:nvPr/>
          </p:nvGrpSpPr>
          <p:grpSpPr>
            <a:xfrm rot="0">
              <a:off x="0" y="169856"/>
              <a:ext cx="4488156" cy="448815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2" id="2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312782" y="0"/>
              <a:ext cx="4488156" cy="448815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false" flipV="false" rot="0">
              <a:off x="1116834" y="804052"/>
              <a:ext cx="2880053" cy="2880053"/>
            </a:xfrm>
            <a:custGeom>
              <a:avLst/>
              <a:gdLst/>
              <a:ahLst/>
              <a:cxnLst/>
              <a:rect r="r" b="b" t="t" l="l"/>
              <a:pathLst>
                <a:path h="2880053" w="2880053">
                  <a:moveTo>
                    <a:pt x="0" y="0"/>
                  </a:moveTo>
                  <a:lnTo>
                    <a:pt x="2880052" y="0"/>
                  </a:lnTo>
                  <a:lnTo>
                    <a:pt x="2880052" y="2880052"/>
                  </a:lnTo>
                  <a:lnTo>
                    <a:pt x="0" y="2880052"/>
                  </a:lnTo>
                  <a:lnTo>
                    <a:pt x="0" y="0"/>
                  </a:lnTo>
                  <a:close/>
                </a:path>
              </a:pathLst>
            </a:custGeom>
            <a:blipFill>
              <a:blip r:embed="rId6"/>
              <a:stretch>
                <a:fillRect l="0" t="0" r="0" b="0"/>
              </a:stretch>
            </a:blipFill>
          </p:spPr>
        </p:sp>
      </p:grpSp>
      <p:grpSp>
        <p:nvGrpSpPr>
          <p:cNvPr name="Group 27" id="27"/>
          <p:cNvGrpSpPr/>
          <p:nvPr/>
        </p:nvGrpSpPr>
        <p:grpSpPr>
          <a:xfrm rot="0">
            <a:off x="5521257" y="6624748"/>
            <a:ext cx="2604327" cy="766019"/>
            <a:chOff x="0" y="0"/>
            <a:chExt cx="685913" cy="201750"/>
          </a:xfrm>
        </p:grpSpPr>
        <p:sp>
          <p:nvSpPr>
            <p:cNvPr name="Freeform 28" id="28"/>
            <p:cNvSpPr/>
            <p:nvPr/>
          </p:nvSpPr>
          <p:spPr>
            <a:xfrm flipH="false" flipV="false" rot="0">
              <a:off x="0" y="0"/>
              <a:ext cx="685913" cy="201750"/>
            </a:xfrm>
            <a:custGeom>
              <a:avLst/>
              <a:gdLst/>
              <a:ahLst/>
              <a:cxnLst/>
              <a:rect r="r" b="b" t="t" l="l"/>
              <a:pathLst>
                <a:path h="201750" w="685913">
                  <a:moveTo>
                    <a:pt x="100875" y="0"/>
                  </a:moveTo>
                  <a:lnTo>
                    <a:pt x="585038" y="0"/>
                  </a:lnTo>
                  <a:cubicBezTo>
                    <a:pt x="611792" y="0"/>
                    <a:pt x="637450" y="10628"/>
                    <a:pt x="656368" y="29546"/>
                  </a:cubicBezTo>
                  <a:cubicBezTo>
                    <a:pt x="675285" y="48463"/>
                    <a:pt x="685913" y="74121"/>
                    <a:pt x="685913" y="100875"/>
                  </a:cubicBezTo>
                  <a:lnTo>
                    <a:pt x="685913" y="100875"/>
                  </a:lnTo>
                  <a:cubicBezTo>
                    <a:pt x="685913" y="156587"/>
                    <a:pt x="640750" y="201750"/>
                    <a:pt x="585038"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29" id="29"/>
            <p:cNvSpPr txBox="true"/>
            <p:nvPr/>
          </p:nvSpPr>
          <p:spPr>
            <a:xfrm>
              <a:off x="0" y="-47625"/>
              <a:ext cx="685913"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STAGING</a:t>
              </a:r>
            </a:p>
          </p:txBody>
        </p:sp>
      </p:grpSp>
      <p:grpSp>
        <p:nvGrpSpPr>
          <p:cNvPr name="Group 30" id="30"/>
          <p:cNvGrpSpPr/>
          <p:nvPr/>
        </p:nvGrpSpPr>
        <p:grpSpPr>
          <a:xfrm rot="0">
            <a:off x="4908221" y="2896233"/>
            <a:ext cx="3598258" cy="3493509"/>
            <a:chOff x="0" y="0"/>
            <a:chExt cx="4797677" cy="4658012"/>
          </a:xfrm>
        </p:grpSpPr>
        <p:grpSp>
          <p:nvGrpSpPr>
            <p:cNvPr name="Group 31" id="31"/>
            <p:cNvGrpSpPr/>
            <p:nvPr/>
          </p:nvGrpSpPr>
          <p:grpSpPr>
            <a:xfrm rot="0">
              <a:off x="0" y="169856"/>
              <a:ext cx="4488156" cy="448815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3" id="3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309522" y="0"/>
              <a:ext cx="4488156" cy="448815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37" id="37"/>
            <p:cNvSpPr/>
            <p:nvPr/>
          </p:nvSpPr>
          <p:spPr>
            <a:xfrm flipH="false" flipV="false" rot="0">
              <a:off x="1058939" y="749417"/>
              <a:ext cx="2989322" cy="2989322"/>
            </a:xfrm>
            <a:custGeom>
              <a:avLst/>
              <a:gdLst/>
              <a:ahLst/>
              <a:cxnLst/>
              <a:rect r="r" b="b" t="t" l="l"/>
              <a:pathLst>
                <a:path h="2989322" w="2989322">
                  <a:moveTo>
                    <a:pt x="0" y="0"/>
                  </a:moveTo>
                  <a:lnTo>
                    <a:pt x="2989321" y="0"/>
                  </a:lnTo>
                  <a:lnTo>
                    <a:pt x="2989321" y="2989322"/>
                  </a:lnTo>
                  <a:lnTo>
                    <a:pt x="0" y="2989322"/>
                  </a:lnTo>
                  <a:lnTo>
                    <a:pt x="0" y="0"/>
                  </a:lnTo>
                  <a:close/>
                </a:path>
              </a:pathLst>
            </a:custGeom>
            <a:blipFill>
              <a:blip r:embed="rId7"/>
              <a:stretch>
                <a:fillRect l="0" t="0" r="0" b="0"/>
              </a:stretch>
            </a:blipFill>
          </p:spPr>
        </p:sp>
      </p:grpSp>
      <p:grpSp>
        <p:nvGrpSpPr>
          <p:cNvPr name="Group 38" id="38"/>
          <p:cNvGrpSpPr/>
          <p:nvPr/>
        </p:nvGrpSpPr>
        <p:grpSpPr>
          <a:xfrm rot="0">
            <a:off x="880098" y="6624748"/>
            <a:ext cx="2604327" cy="766019"/>
            <a:chOff x="0" y="0"/>
            <a:chExt cx="685913" cy="201750"/>
          </a:xfrm>
        </p:grpSpPr>
        <p:sp>
          <p:nvSpPr>
            <p:cNvPr name="Freeform 39" id="39"/>
            <p:cNvSpPr/>
            <p:nvPr/>
          </p:nvSpPr>
          <p:spPr>
            <a:xfrm flipH="false" flipV="false" rot="0">
              <a:off x="0" y="0"/>
              <a:ext cx="685913" cy="201750"/>
            </a:xfrm>
            <a:custGeom>
              <a:avLst/>
              <a:gdLst/>
              <a:ahLst/>
              <a:cxnLst/>
              <a:rect r="r" b="b" t="t" l="l"/>
              <a:pathLst>
                <a:path h="201750" w="685913">
                  <a:moveTo>
                    <a:pt x="100875" y="0"/>
                  </a:moveTo>
                  <a:lnTo>
                    <a:pt x="585038" y="0"/>
                  </a:lnTo>
                  <a:cubicBezTo>
                    <a:pt x="611792" y="0"/>
                    <a:pt x="637450" y="10628"/>
                    <a:pt x="656368" y="29546"/>
                  </a:cubicBezTo>
                  <a:cubicBezTo>
                    <a:pt x="675285" y="48463"/>
                    <a:pt x="685913" y="74121"/>
                    <a:pt x="685913" y="100875"/>
                  </a:cubicBezTo>
                  <a:lnTo>
                    <a:pt x="685913" y="100875"/>
                  </a:lnTo>
                  <a:cubicBezTo>
                    <a:pt x="685913" y="156587"/>
                    <a:pt x="640750" y="201750"/>
                    <a:pt x="585038"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40" id="40"/>
            <p:cNvSpPr txBox="true"/>
            <p:nvPr/>
          </p:nvSpPr>
          <p:spPr>
            <a:xfrm>
              <a:off x="0" y="-47625"/>
              <a:ext cx="685913"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EXTRACCIÓN</a:t>
              </a:r>
            </a:p>
          </p:txBody>
        </p:sp>
      </p:grpSp>
      <p:grpSp>
        <p:nvGrpSpPr>
          <p:cNvPr name="Group 41" id="41"/>
          <p:cNvGrpSpPr/>
          <p:nvPr/>
        </p:nvGrpSpPr>
        <p:grpSpPr>
          <a:xfrm rot="0">
            <a:off x="228698" y="2896233"/>
            <a:ext cx="3636622" cy="3493509"/>
            <a:chOff x="0" y="0"/>
            <a:chExt cx="4848830" cy="4658012"/>
          </a:xfrm>
        </p:grpSpPr>
        <p:grpSp>
          <p:nvGrpSpPr>
            <p:cNvPr name="Group 42" id="42"/>
            <p:cNvGrpSpPr/>
            <p:nvPr/>
          </p:nvGrpSpPr>
          <p:grpSpPr>
            <a:xfrm rot="0">
              <a:off x="0" y="169856"/>
              <a:ext cx="4488156" cy="4488156"/>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4" id="4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360674" y="0"/>
              <a:ext cx="4488156" cy="4488156"/>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47" id="4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48" id="48"/>
            <p:cNvSpPr/>
            <p:nvPr/>
          </p:nvSpPr>
          <p:spPr>
            <a:xfrm flipH="false" flipV="false" rot="0">
              <a:off x="995797" y="557789"/>
              <a:ext cx="3219765" cy="3219765"/>
            </a:xfrm>
            <a:custGeom>
              <a:avLst/>
              <a:gdLst/>
              <a:ahLst/>
              <a:cxnLst/>
              <a:rect r="r" b="b" t="t" l="l"/>
              <a:pathLst>
                <a:path h="3219765" w="3219765">
                  <a:moveTo>
                    <a:pt x="0" y="0"/>
                  </a:moveTo>
                  <a:lnTo>
                    <a:pt x="3219765" y="0"/>
                  </a:lnTo>
                  <a:lnTo>
                    <a:pt x="3219765" y="3219765"/>
                  </a:lnTo>
                  <a:lnTo>
                    <a:pt x="0" y="3219765"/>
                  </a:lnTo>
                  <a:lnTo>
                    <a:pt x="0" y="0"/>
                  </a:lnTo>
                  <a:close/>
                </a:path>
              </a:pathLst>
            </a:custGeom>
            <a:blipFill>
              <a:blip r:embed="rId8"/>
              <a:stretch>
                <a:fillRect l="0" t="0" r="0" b="0"/>
              </a:stretch>
            </a:blipFill>
          </p:spPr>
        </p:sp>
      </p:grpSp>
      <p:grpSp>
        <p:nvGrpSpPr>
          <p:cNvPr name="Group 49" id="49"/>
          <p:cNvGrpSpPr/>
          <p:nvPr/>
        </p:nvGrpSpPr>
        <p:grpSpPr>
          <a:xfrm rot="-96120">
            <a:off x="-10285803" y="759732"/>
            <a:ext cx="14121721" cy="1491048"/>
            <a:chOff x="0" y="0"/>
            <a:chExt cx="16232912" cy="1713959"/>
          </a:xfrm>
        </p:grpSpPr>
        <p:sp>
          <p:nvSpPr>
            <p:cNvPr name="Freeform 50" id="50"/>
            <p:cNvSpPr/>
            <p:nvPr/>
          </p:nvSpPr>
          <p:spPr>
            <a:xfrm flipH="false" flipV="false" rot="0">
              <a:off x="0" y="0"/>
              <a:ext cx="16232911" cy="1713959"/>
            </a:xfrm>
            <a:custGeom>
              <a:avLst/>
              <a:gdLst/>
              <a:ahLst/>
              <a:cxnLst/>
              <a:rect r="r" b="b" t="t" l="l"/>
              <a:pathLst>
                <a:path h="1713959" w="16232911">
                  <a:moveTo>
                    <a:pt x="0" y="0"/>
                  </a:moveTo>
                  <a:lnTo>
                    <a:pt x="16232911" y="0"/>
                  </a:lnTo>
                  <a:lnTo>
                    <a:pt x="16232911" y="1713959"/>
                  </a:lnTo>
                  <a:lnTo>
                    <a:pt x="0" y="1713959"/>
                  </a:lnTo>
                  <a:close/>
                </a:path>
              </a:pathLst>
            </a:custGeom>
            <a:solidFill>
              <a:srgbClr val="54DF64"/>
            </a:solidFill>
          </p:spPr>
        </p:sp>
        <p:sp>
          <p:nvSpPr>
            <p:cNvPr name="TextBox 51" id="51"/>
            <p:cNvSpPr txBox="true"/>
            <p:nvPr/>
          </p:nvSpPr>
          <p:spPr>
            <a:xfrm>
              <a:off x="0" y="-47625"/>
              <a:ext cx="16232912" cy="1761584"/>
            </a:xfrm>
            <a:prstGeom prst="rect">
              <a:avLst/>
            </a:prstGeom>
          </p:spPr>
          <p:txBody>
            <a:bodyPr anchor="ctr" rtlCol="false" tIns="50800" lIns="50800" bIns="50800" rIns="50800"/>
            <a:lstStyle/>
            <a:p>
              <a:pPr algn="ctr">
                <a:lnSpc>
                  <a:spcPts val="2659"/>
                </a:lnSpc>
              </a:pPr>
            </a:p>
          </p:txBody>
        </p:sp>
      </p:grpSp>
      <p:grpSp>
        <p:nvGrpSpPr>
          <p:cNvPr name="Group 52" id="52"/>
          <p:cNvGrpSpPr/>
          <p:nvPr/>
        </p:nvGrpSpPr>
        <p:grpSpPr>
          <a:xfrm rot="0">
            <a:off x="-10445261" y="775641"/>
            <a:ext cx="14040076" cy="1467918"/>
            <a:chOff x="0" y="0"/>
            <a:chExt cx="16139061" cy="1687371"/>
          </a:xfrm>
        </p:grpSpPr>
        <p:sp>
          <p:nvSpPr>
            <p:cNvPr name="Freeform 53" id="53"/>
            <p:cNvSpPr/>
            <p:nvPr/>
          </p:nvSpPr>
          <p:spPr>
            <a:xfrm flipH="false" flipV="false" rot="0">
              <a:off x="0" y="0"/>
              <a:ext cx="16139061" cy="1687371"/>
            </a:xfrm>
            <a:custGeom>
              <a:avLst/>
              <a:gdLst/>
              <a:ahLst/>
              <a:cxnLst/>
              <a:rect r="r" b="b" t="t" l="l"/>
              <a:pathLst>
                <a:path h="1687371" w="16139061">
                  <a:moveTo>
                    <a:pt x="0" y="0"/>
                  </a:moveTo>
                  <a:lnTo>
                    <a:pt x="16139061" y="0"/>
                  </a:lnTo>
                  <a:lnTo>
                    <a:pt x="16139061" y="1687371"/>
                  </a:lnTo>
                  <a:lnTo>
                    <a:pt x="0" y="1687371"/>
                  </a:lnTo>
                  <a:close/>
                </a:path>
              </a:pathLst>
            </a:custGeom>
            <a:solidFill>
              <a:srgbClr val="000000"/>
            </a:solidFill>
          </p:spPr>
        </p:sp>
        <p:sp>
          <p:nvSpPr>
            <p:cNvPr name="TextBox 54" id="54"/>
            <p:cNvSpPr txBox="true"/>
            <p:nvPr/>
          </p:nvSpPr>
          <p:spPr>
            <a:xfrm>
              <a:off x="0" y="-47625"/>
              <a:ext cx="16139061" cy="1734996"/>
            </a:xfrm>
            <a:prstGeom prst="rect">
              <a:avLst/>
            </a:prstGeom>
          </p:spPr>
          <p:txBody>
            <a:bodyPr anchor="ctr" rtlCol="false" tIns="50800" lIns="50800" bIns="50800" rIns="50800"/>
            <a:lstStyle/>
            <a:p>
              <a:pPr algn="ctr">
                <a:lnSpc>
                  <a:spcPts val="2659"/>
                </a:lnSpc>
              </a:pPr>
            </a:p>
          </p:txBody>
        </p:sp>
      </p:grpSp>
      <p:sp>
        <p:nvSpPr>
          <p:cNvPr name="TextBox 55" id="55"/>
          <p:cNvSpPr txBox="true"/>
          <p:nvPr/>
        </p:nvSpPr>
        <p:spPr>
          <a:xfrm rot="0">
            <a:off x="645045" y="1162050"/>
            <a:ext cx="2702386"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5.</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ETL</a:t>
            </a:r>
          </a:p>
        </p:txBody>
      </p:sp>
      <p:grpSp>
        <p:nvGrpSpPr>
          <p:cNvPr name="Group 56" id="56"/>
          <p:cNvGrpSpPr/>
          <p:nvPr/>
        </p:nvGrpSpPr>
        <p:grpSpPr>
          <a:xfrm rot="0">
            <a:off x="267758" y="7838442"/>
            <a:ext cx="3830399" cy="11990319"/>
            <a:chOff x="0" y="0"/>
            <a:chExt cx="4403042" cy="13782865"/>
          </a:xfrm>
        </p:grpSpPr>
        <p:sp>
          <p:nvSpPr>
            <p:cNvPr name="Freeform 57" id="57"/>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58" id="58"/>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59" id="59"/>
          <p:cNvSpPr txBox="true"/>
          <p:nvPr/>
        </p:nvSpPr>
        <p:spPr>
          <a:xfrm rot="0">
            <a:off x="572124" y="8187468"/>
            <a:ext cx="3220275" cy="1070832"/>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Lectu</a:t>
            </a:r>
            <a:r>
              <a:rPr lang="en-US" sz="1900">
                <a:solidFill>
                  <a:srgbClr val="F8F6F0"/>
                </a:solidFill>
                <a:latin typeface="Cy Grotesk Key"/>
                <a:ea typeface="Cy Grotesk Key"/>
                <a:cs typeface="Cy Grotesk Key"/>
                <a:sym typeface="Cy Grotesk Key"/>
              </a:rPr>
              <a:t>ra de fuentes OLTP</a:t>
            </a:r>
          </a:p>
          <a:p>
            <a:pPr algn="ctr">
              <a:lnSpc>
                <a:spcPts val="2850"/>
              </a:lnSpc>
            </a:pPr>
            <a:r>
              <a:rPr lang="en-US" sz="1900">
                <a:solidFill>
                  <a:srgbClr val="F8F6F0"/>
                </a:solidFill>
                <a:latin typeface="Cy Grotesk Key"/>
                <a:ea typeface="Cy Grotesk Key"/>
                <a:cs typeface="Cy Grotesk Key"/>
                <a:sym typeface="Cy Grotesk Key"/>
              </a:rPr>
              <a:t>Full Load inicial</a:t>
            </a:r>
          </a:p>
          <a:p>
            <a:pPr algn="ctr">
              <a:lnSpc>
                <a:spcPts val="2850"/>
              </a:lnSpc>
            </a:pPr>
            <a:r>
              <a:rPr lang="en-US" sz="1900">
                <a:solidFill>
                  <a:srgbClr val="F8F6F0"/>
                </a:solidFill>
                <a:latin typeface="Cy Grotesk Key"/>
                <a:ea typeface="Cy Grotesk Key"/>
                <a:cs typeface="Cy Grotesk Key"/>
                <a:sym typeface="Cy Grotesk Key"/>
              </a:rPr>
              <a:t>Delta-Based incremental</a:t>
            </a:r>
          </a:p>
        </p:txBody>
      </p:sp>
      <p:grpSp>
        <p:nvGrpSpPr>
          <p:cNvPr name="Group 60" id="60"/>
          <p:cNvGrpSpPr/>
          <p:nvPr/>
        </p:nvGrpSpPr>
        <p:grpSpPr>
          <a:xfrm rot="0">
            <a:off x="4908221" y="7838442"/>
            <a:ext cx="3830399" cy="11990319"/>
            <a:chOff x="0" y="0"/>
            <a:chExt cx="4403042" cy="13782865"/>
          </a:xfrm>
        </p:grpSpPr>
        <p:sp>
          <p:nvSpPr>
            <p:cNvPr name="Freeform 61" id="61"/>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62" id="62"/>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63" id="63"/>
          <p:cNvSpPr txBox="true"/>
          <p:nvPr/>
        </p:nvSpPr>
        <p:spPr>
          <a:xfrm rot="0">
            <a:off x="5214680" y="8187468"/>
            <a:ext cx="3220275" cy="1070832"/>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Datos sin transformar</a:t>
            </a:r>
          </a:p>
          <a:p>
            <a:pPr algn="ctr">
              <a:lnSpc>
                <a:spcPts val="2850"/>
              </a:lnSpc>
            </a:pPr>
            <a:r>
              <a:rPr lang="en-US" sz="1900">
                <a:solidFill>
                  <a:srgbClr val="F8F6F0"/>
                </a:solidFill>
                <a:latin typeface="Cy Grotesk Key"/>
                <a:ea typeface="Cy Grotesk Key"/>
                <a:cs typeface="Cy Grotesk Key"/>
                <a:sym typeface="Cy Grotesk Key"/>
              </a:rPr>
              <a:t>Metadatos de carga</a:t>
            </a:r>
          </a:p>
          <a:p>
            <a:pPr algn="ctr">
              <a:lnSpc>
                <a:spcPts val="2850"/>
              </a:lnSpc>
            </a:pPr>
            <a:r>
              <a:rPr lang="en-US" sz="1900">
                <a:solidFill>
                  <a:srgbClr val="F8F6F0"/>
                </a:solidFill>
                <a:latin typeface="Cy Grotesk Key"/>
                <a:ea typeface="Cy Grotesk Key"/>
                <a:cs typeface="Cy Grotesk Key"/>
                <a:sym typeface="Cy Grotesk Key"/>
              </a:rPr>
              <a:t>Tablas de auditoría</a:t>
            </a:r>
          </a:p>
        </p:txBody>
      </p:sp>
      <p:grpSp>
        <p:nvGrpSpPr>
          <p:cNvPr name="Group 64" id="64"/>
          <p:cNvGrpSpPr/>
          <p:nvPr/>
        </p:nvGrpSpPr>
        <p:grpSpPr>
          <a:xfrm rot="0">
            <a:off x="9549380" y="7838442"/>
            <a:ext cx="3830399" cy="11990319"/>
            <a:chOff x="0" y="0"/>
            <a:chExt cx="4403042" cy="13782865"/>
          </a:xfrm>
        </p:grpSpPr>
        <p:sp>
          <p:nvSpPr>
            <p:cNvPr name="Freeform 65" id="65"/>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66" id="66"/>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67" id="67"/>
          <p:cNvSpPr txBox="true"/>
          <p:nvPr/>
        </p:nvSpPr>
        <p:spPr>
          <a:xfrm rot="0">
            <a:off x="9854442" y="8187468"/>
            <a:ext cx="3220275" cy="1070832"/>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Limpiez</a:t>
            </a:r>
            <a:r>
              <a:rPr lang="en-US" sz="1900">
                <a:solidFill>
                  <a:srgbClr val="F8F6F0"/>
                </a:solidFill>
                <a:latin typeface="Cy Grotesk Key"/>
                <a:ea typeface="Cy Grotesk Key"/>
                <a:cs typeface="Cy Grotesk Key"/>
                <a:sym typeface="Cy Grotesk Key"/>
              </a:rPr>
              <a:t>a y normalización</a:t>
            </a:r>
          </a:p>
          <a:p>
            <a:pPr algn="ctr">
              <a:lnSpc>
                <a:spcPts val="2850"/>
              </a:lnSpc>
            </a:pPr>
            <a:r>
              <a:rPr lang="en-US" sz="1900">
                <a:solidFill>
                  <a:srgbClr val="F8F6F0"/>
                </a:solidFill>
                <a:latin typeface="Cy Grotesk Key"/>
                <a:ea typeface="Cy Grotesk Key"/>
                <a:cs typeface="Cy Grotesk Key"/>
                <a:sym typeface="Cy Grotesk Key"/>
              </a:rPr>
              <a:t>Mapeo de </a:t>
            </a:r>
            <a:r>
              <a:rPr lang="en-US" sz="1900">
                <a:solidFill>
                  <a:srgbClr val="F8F6F0"/>
                </a:solidFill>
                <a:latin typeface="Cy Grotesk Key"/>
                <a:ea typeface="Cy Grotesk Key"/>
                <a:cs typeface="Cy Grotesk Key"/>
                <a:sym typeface="Cy Grotesk Key"/>
              </a:rPr>
              <a:t>deduplicados</a:t>
            </a:r>
          </a:p>
          <a:p>
            <a:pPr algn="ctr">
              <a:lnSpc>
                <a:spcPts val="2850"/>
              </a:lnSpc>
            </a:pPr>
            <a:r>
              <a:rPr lang="en-US" sz="1900">
                <a:solidFill>
                  <a:srgbClr val="F8F6F0"/>
                </a:solidFill>
                <a:latin typeface="Cy Grotesk Key"/>
                <a:ea typeface="Cy Grotesk Key"/>
                <a:cs typeface="Cy Grotesk Key"/>
                <a:sym typeface="Cy Grotesk Key"/>
              </a:rPr>
              <a:t>SCD y Surrog</a:t>
            </a:r>
            <a:r>
              <a:rPr lang="en-US" sz="1900">
                <a:solidFill>
                  <a:srgbClr val="F8F6F0"/>
                </a:solidFill>
                <a:latin typeface="Cy Grotesk Key"/>
                <a:ea typeface="Cy Grotesk Key"/>
                <a:cs typeface="Cy Grotesk Key"/>
                <a:sym typeface="Cy Grotesk Key"/>
              </a:rPr>
              <a:t>ate Keys</a:t>
            </a:r>
          </a:p>
        </p:txBody>
      </p:sp>
      <p:grpSp>
        <p:nvGrpSpPr>
          <p:cNvPr name="Group 68" id="68"/>
          <p:cNvGrpSpPr/>
          <p:nvPr/>
        </p:nvGrpSpPr>
        <p:grpSpPr>
          <a:xfrm rot="0">
            <a:off x="14189404" y="7838442"/>
            <a:ext cx="3830399" cy="11990319"/>
            <a:chOff x="0" y="0"/>
            <a:chExt cx="4403042" cy="13782865"/>
          </a:xfrm>
        </p:grpSpPr>
        <p:sp>
          <p:nvSpPr>
            <p:cNvPr name="Freeform 69" id="69"/>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70" id="70"/>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71" id="71"/>
          <p:cNvSpPr txBox="true"/>
          <p:nvPr/>
        </p:nvSpPr>
        <p:spPr>
          <a:xfrm rot="0">
            <a:off x="14494466" y="8200392"/>
            <a:ext cx="3220275" cy="1432857"/>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Ca</a:t>
            </a:r>
            <a:r>
              <a:rPr lang="en-US" sz="1900">
                <a:solidFill>
                  <a:srgbClr val="F8F6F0"/>
                </a:solidFill>
                <a:latin typeface="Cy Grotesk Key"/>
                <a:ea typeface="Cy Grotesk Key"/>
                <a:cs typeface="Cy Grotesk Key"/>
                <a:sym typeface="Cy Grotesk Key"/>
              </a:rPr>
              <a:t>rga por lotes</a:t>
            </a:r>
          </a:p>
          <a:p>
            <a:pPr algn="ctr">
              <a:lnSpc>
                <a:spcPts val="2850"/>
              </a:lnSpc>
            </a:pPr>
            <a:r>
              <a:rPr lang="en-US" sz="1900">
                <a:solidFill>
                  <a:srgbClr val="F8F6F0"/>
                </a:solidFill>
                <a:latin typeface="Cy Grotesk Key"/>
                <a:ea typeface="Cy Grotesk Key"/>
                <a:cs typeface="Cy Grotesk Key"/>
                <a:sym typeface="Cy Grotesk Key"/>
              </a:rPr>
              <a:t>Inserción en dimensiones y hechos</a:t>
            </a:r>
          </a:p>
          <a:p>
            <a:pPr algn="ctr">
              <a:lnSpc>
                <a:spcPts val="2850"/>
              </a:lnSpc>
            </a:pP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0">
            <a:off x="0" y="-67693"/>
            <a:ext cx="18447379" cy="10354693"/>
            <a:chOff x="0" y="0"/>
            <a:chExt cx="21205253" cy="11902715"/>
          </a:xfrm>
        </p:grpSpPr>
        <p:sp>
          <p:nvSpPr>
            <p:cNvPr name="Freeform 3" id="3"/>
            <p:cNvSpPr/>
            <p:nvPr/>
          </p:nvSpPr>
          <p:spPr>
            <a:xfrm flipH="false" flipV="false" rot="0">
              <a:off x="0" y="0"/>
              <a:ext cx="21205253" cy="11902715"/>
            </a:xfrm>
            <a:custGeom>
              <a:avLst/>
              <a:gdLst/>
              <a:ahLst/>
              <a:cxnLst/>
              <a:rect r="r" b="b" t="t" l="l"/>
              <a:pathLst>
                <a:path h="11902715" w="21205253">
                  <a:moveTo>
                    <a:pt x="0" y="0"/>
                  </a:moveTo>
                  <a:lnTo>
                    <a:pt x="21205253" y="0"/>
                  </a:lnTo>
                  <a:lnTo>
                    <a:pt x="21205253" y="11902715"/>
                  </a:lnTo>
                  <a:lnTo>
                    <a:pt x="0" y="11902715"/>
                  </a:lnTo>
                  <a:close/>
                </a:path>
              </a:pathLst>
            </a:custGeom>
            <a:solidFill>
              <a:srgbClr val="000000"/>
            </a:solidFill>
          </p:spPr>
        </p:sp>
        <p:sp>
          <p:nvSpPr>
            <p:cNvPr name="TextBox 4" id="4"/>
            <p:cNvSpPr txBox="true"/>
            <p:nvPr/>
          </p:nvSpPr>
          <p:spPr>
            <a:xfrm>
              <a:off x="0" y="-47625"/>
              <a:ext cx="21205253" cy="119503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11392" y="2483928"/>
            <a:ext cx="16047908" cy="6311362"/>
            <a:chOff x="0" y="0"/>
            <a:chExt cx="4510314" cy="1773828"/>
          </a:xfrm>
        </p:grpSpPr>
        <p:sp>
          <p:nvSpPr>
            <p:cNvPr name="Freeform 6" id="6"/>
            <p:cNvSpPr/>
            <p:nvPr/>
          </p:nvSpPr>
          <p:spPr>
            <a:xfrm flipH="false" flipV="false" rot="0">
              <a:off x="0" y="0"/>
              <a:ext cx="4510314" cy="1773828"/>
            </a:xfrm>
            <a:custGeom>
              <a:avLst/>
              <a:gdLst/>
              <a:ahLst/>
              <a:cxnLst/>
              <a:rect r="r" b="b" t="t" l="l"/>
              <a:pathLst>
                <a:path h="1773828" w="4510314">
                  <a:moveTo>
                    <a:pt x="8201" y="0"/>
                  </a:moveTo>
                  <a:lnTo>
                    <a:pt x="4502113" y="0"/>
                  </a:lnTo>
                  <a:cubicBezTo>
                    <a:pt x="4504288" y="0"/>
                    <a:pt x="4506374" y="864"/>
                    <a:pt x="4507912" y="2402"/>
                  </a:cubicBezTo>
                  <a:cubicBezTo>
                    <a:pt x="4509450" y="3940"/>
                    <a:pt x="4510314" y="6026"/>
                    <a:pt x="4510314" y="8201"/>
                  </a:cubicBezTo>
                  <a:lnTo>
                    <a:pt x="4510314" y="1765627"/>
                  </a:lnTo>
                  <a:cubicBezTo>
                    <a:pt x="4510314" y="1767802"/>
                    <a:pt x="4509450" y="1769888"/>
                    <a:pt x="4507912" y="1771426"/>
                  </a:cubicBezTo>
                  <a:cubicBezTo>
                    <a:pt x="4506374" y="1772964"/>
                    <a:pt x="4504288" y="1773828"/>
                    <a:pt x="4502113" y="1773828"/>
                  </a:cubicBezTo>
                  <a:lnTo>
                    <a:pt x="8201" y="1773828"/>
                  </a:lnTo>
                  <a:cubicBezTo>
                    <a:pt x="6026" y="1773828"/>
                    <a:pt x="3940" y="1772964"/>
                    <a:pt x="2402" y="1771426"/>
                  </a:cubicBezTo>
                  <a:cubicBezTo>
                    <a:pt x="864" y="1769888"/>
                    <a:pt x="0" y="1767802"/>
                    <a:pt x="0" y="1765627"/>
                  </a:cubicBezTo>
                  <a:lnTo>
                    <a:pt x="0" y="8201"/>
                  </a:lnTo>
                  <a:cubicBezTo>
                    <a:pt x="0" y="6026"/>
                    <a:pt x="864" y="3940"/>
                    <a:pt x="2402" y="2402"/>
                  </a:cubicBezTo>
                  <a:cubicBezTo>
                    <a:pt x="3940" y="864"/>
                    <a:pt x="6026" y="0"/>
                    <a:pt x="8201" y="0"/>
                  </a:cubicBezTo>
                  <a:close/>
                </a:path>
              </a:pathLst>
            </a:custGeom>
            <a:ln w="47625" cap="sq">
              <a:solidFill>
                <a:srgbClr val="54DF64"/>
              </a:solidFill>
              <a:prstDash val="solid"/>
              <a:miter/>
            </a:ln>
          </p:spPr>
        </p:sp>
        <p:sp>
          <p:nvSpPr>
            <p:cNvPr name="TextBox 7" id="7"/>
            <p:cNvSpPr txBox="true"/>
            <p:nvPr/>
          </p:nvSpPr>
          <p:spPr>
            <a:xfrm>
              <a:off x="0" y="-47625"/>
              <a:ext cx="4510314" cy="182145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42766" y="4029219"/>
            <a:ext cx="4705905" cy="332371"/>
          </a:xfrm>
          <a:prstGeom prst="rect">
            <a:avLst/>
          </a:prstGeom>
        </p:spPr>
        <p:txBody>
          <a:bodyPr anchor="t" rtlCol="false" tIns="0" lIns="0" bIns="0" rIns="0">
            <a:spAutoFit/>
          </a:bodyPr>
          <a:lstStyle/>
          <a:p>
            <a:pPr algn="l">
              <a:lnSpc>
                <a:spcPts val="2466"/>
              </a:lnSpc>
            </a:pPr>
            <a:r>
              <a:rPr lang="en-US" sz="2623">
                <a:solidFill>
                  <a:srgbClr val="F8F6F0"/>
                </a:solidFill>
                <a:latin typeface="Cy Grotesk Wide"/>
                <a:ea typeface="Cy Grotesk Wide"/>
                <a:cs typeface="Cy Grotesk Wide"/>
                <a:sym typeface="Cy Grotesk Wide"/>
              </a:rPr>
              <a:t>Fecha de Nacimiento</a:t>
            </a:r>
          </a:p>
        </p:txBody>
      </p:sp>
      <p:sp>
        <p:nvSpPr>
          <p:cNvPr name="TextBox 9" id="9"/>
          <p:cNvSpPr txBox="true"/>
          <p:nvPr/>
        </p:nvSpPr>
        <p:spPr>
          <a:xfrm rot="0">
            <a:off x="1642766" y="5061531"/>
            <a:ext cx="3523995" cy="332371"/>
          </a:xfrm>
          <a:prstGeom prst="rect">
            <a:avLst/>
          </a:prstGeom>
        </p:spPr>
        <p:txBody>
          <a:bodyPr anchor="t" rtlCol="false" tIns="0" lIns="0" bIns="0" rIns="0">
            <a:spAutoFit/>
          </a:bodyPr>
          <a:lstStyle/>
          <a:p>
            <a:pPr algn="l">
              <a:lnSpc>
                <a:spcPts val="2466"/>
              </a:lnSpc>
            </a:pPr>
            <a:r>
              <a:rPr lang="en-US" sz="2623">
                <a:solidFill>
                  <a:srgbClr val="F8F6F0"/>
                </a:solidFill>
                <a:latin typeface="Cy Grotesk Wide"/>
                <a:ea typeface="Cy Grotesk Wide"/>
                <a:cs typeface="Cy Grotesk Wide"/>
                <a:sym typeface="Cy Grotesk Wide"/>
              </a:rPr>
              <a:t>Genero</a:t>
            </a:r>
          </a:p>
        </p:txBody>
      </p:sp>
      <p:sp>
        <p:nvSpPr>
          <p:cNvPr name="TextBox 10" id="10"/>
          <p:cNvSpPr txBox="true"/>
          <p:nvPr/>
        </p:nvSpPr>
        <p:spPr>
          <a:xfrm rot="0">
            <a:off x="1642766" y="6093843"/>
            <a:ext cx="3849755" cy="332371"/>
          </a:xfrm>
          <a:prstGeom prst="rect">
            <a:avLst/>
          </a:prstGeom>
        </p:spPr>
        <p:txBody>
          <a:bodyPr anchor="t" rtlCol="false" tIns="0" lIns="0" bIns="0" rIns="0">
            <a:spAutoFit/>
          </a:bodyPr>
          <a:lstStyle/>
          <a:p>
            <a:pPr algn="l">
              <a:lnSpc>
                <a:spcPts val="2466"/>
              </a:lnSpc>
            </a:pPr>
            <a:r>
              <a:rPr lang="en-US" sz="2623">
                <a:solidFill>
                  <a:srgbClr val="F8F6F0"/>
                </a:solidFill>
                <a:latin typeface="Cy Grotesk Wide"/>
                <a:ea typeface="Cy Grotesk Wide"/>
                <a:cs typeface="Cy Grotesk Wide"/>
                <a:sym typeface="Cy Grotesk Wide"/>
              </a:rPr>
              <a:t>DNI</a:t>
            </a:r>
          </a:p>
        </p:txBody>
      </p:sp>
      <p:sp>
        <p:nvSpPr>
          <p:cNvPr name="TextBox 11" id="11"/>
          <p:cNvSpPr txBox="true"/>
          <p:nvPr/>
        </p:nvSpPr>
        <p:spPr>
          <a:xfrm rot="0">
            <a:off x="1652571" y="7126155"/>
            <a:ext cx="3337454" cy="332371"/>
          </a:xfrm>
          <a:prstGeom prst="rect">
            <a:avLst/>
          </a:prstGeom>
        </p:spPr>
        <p:txBody>
          <a:bodyPr anchor="t" rtlCol="false" tIns="0" lIns="0" bIns="0" rIns="0">
            <a:spAutoFit/>
          </a:bodyPr>
          <a:lstStyle/>
          <a:p>
            <a:pPr algn="l">
              <a:lnSpc>
                <a:spcPts val="2466"/>
              </a:lnSpc>
            </a:pPr>
            <a:r>
              <a:rPr lang="en-US" sz="2623">
                <a:solidFill>
                  <a:srgbClr val="F8F6F0"/>
                </a:solidFill>
                <a:latin typeface="Cy Grotesk Wide"/>
                <a:ea typeface="Cy Grotesk Wide"/>
                <a:cs typeface="Cy Grotesk Wide"/>
                <a:sym typeface="Cy Grotesk Wide"/>
              </a:rPr>
              <a:t>Nacionalidad</a:t>
            </a:r>
          </a:p>
        </p:txBody>
      </p:sp>
      <p:sp>
        <p:nvSpPr>
          <p:cNvPr name="TextBox 12" id="12"/>
          <p:cNvSpPr txBox="true"/>
          <p:nvPr/>
        </p:nvSpPr>
        <p:spPr>
          <a:xfrm rot="0">
            <a:off x="1652571" y="8158468"/>
            <a:ext cx="4696100" cy="332371"/>
          </a:xfrm>
          <a:prstGeom prst="rect">
            <a:avLst/>
          </a:prstGeom>
        </p:spPr>
        <p:txBody>
          <a:bodyPr anchor="t" rtlCol="false" tIns="0" lIns="0" bIns="0" rIns="0">
            <a:spAutoFit/>
          </a:bodyPr>
          <a:lstStyle/>
          <a:p>
            <a:pPr algn="l">
              <a:lnSpc>
                <a:spcPts val="2466"/>
              </a:lnSpc>
            </a:pPr>
            <a:r>
              <a:rPr lang="en-US" sz="2623">
                <a:solidFill>
                  <a:srgbClr val="F8F6F0"/>
                </a:solidFill>
                <a:latin typeface="Cy Grotesk Wide"/>
                <a:ea typeface="Cy Grotesk Wide"/>
                <a:cs typeface="Cy Grotesk Wide"/>
                <a:sym typeface="Cy Grotesk Wide"/>
              </a:rPr>
              <a:t>Nombres y Apellidos</a:t>
            </a:r>
          </a:p>
        </p:txBody>
      </p:sp>
      <p:sp>
        <p:nvSpPr>
          <p:cNvPr name="TextBox 13" id="13"/>
          <p:cNvSpPr txBox="true"/>
          <p:nvPr/>
        </p:nvSpPr>
        <p:spPr>
          <a:xfrm rot="0">
            <a:off x="6846354" y="4067176"/>
            <a:ext cx="9557140" cy="294414"/>
          </a:xfrm>
          <a:prstGeom prst="rect">
            <a:avLst/>
          </a:prstGeom>
        </p:spPr>
        <p:txBody>
          <a:bodyPr anchor="t" rtlCol="false" tIns="0" lIns="0" bIns="0" rIns="0">
            <a:spAutoFit/>
          </a:bodyPr>
          <a:lstStyle/>
          <a:p>
            <a:pPr algn="l">
              <a:lnSpc>
                <a:spcPts val="2114"/>
              </a:lnSpc>
            </a:pPr>
            <a:r>
              <a:rPr lang="en-US" sz="2249">
                <a:solidFill>
                  <a:srgbClr val="F8F6F0"/>
                </a:solidFill>
                <a:latin typeface="Cy Grotesk Wide"/>
                <a:ea typeface="Cy Grotesk Wide"/>
                <a:cs typeface="Cy Grotesk Wide"/>
                <a:sym typeface="Cy Grotesk Wide"/>
              </a:rPr>
              <a:t>Normalizar formato: YYYY-MM-DD. Completar fecha</a:t>
            </a:r>
          </a:p>
        </p:txBody>
      </p:sp>
      <p:sp>
        <p:nvSpPr>
          <p:cNvPr name="TextBox 14" id="14"/>
          <p:cNvSpPr txBox="true"/>
          <p:nvPr/>
        </p:nvSpPr>
        <p:spPr>
          <a:xfrm rot="0">
            <a:off x="6846354" y="5099488"/>
            <a:ext cx="7876427" cy="294414"/>
          </a:xfrm>
          <a:prstGeom prst="rect">
            <a:avLst/>
          </a:prstGeom>
        </p:spPr>
        <p:txBody>
          <a:bodyPr anchor="t" rtlCol="false" tIns="0" lIns="0" bIns="0" rIns="0">
            <a:spAutoFit/>
          </a:bodyPr>
          <a:lstStyle/>
          <a:p>
            <a:pPr algn="l">
              <a:lnSpc>
                <a:spcPts val="2114"/>
              </a:lnSpc>
            </a:pPr>
            <a:r>
              <a:rPr lang="en-US" sz="2249">
                <a:solidFill>
                  <a:srgbClr val="F8F6F0"/>
                </a:solidFill>
                <a:latin typeface="Cy Grotesk Wide"/>
                <a:ea typeface="Cy Grotesk Wide"/>
                <a:cs typeface="Cy Grotesk Wide"/>
                <a:sym typeface="Cy Grotesk Wide"/>
              </a:rPr>
              <a:t>Normalizar formatos a M o F</a:t>
            </a:r>
          </a:p>
        </p:txBody>
      </p:sp>
      <p:sp>
        <p:nvSpPr>
          <p:cNvPr name="TextBox 15" id="15"/>
          <p:cNvSpPr txBox="true"/>
          <p:nvPr/>
        </p:nvSpPr>
        <p:spPr>
          <a:xfrm rot="0">
            <a:off x="6846354" y="6131800"/>
            <a:ext cx="9344636" cy="294414"/>
          </a:xfrm>
          <a:prstGeom prst="rect">
            <a:avLst/>
          </a:prstGeom>
        </p:spPr>
        <p:txBody>
          <a:bodyPr anchor="t" rtlCol="false" tIns="0" lIns="0" bIns="0" rIns="0">
            <a:spAutoFit/>
          </a:bodyPr>
          <a:lstStyle/>
          <a:p>
            <a:pPr algn="l">
              <a:lnSpc>
                <a:spcPts val="2114"/>
              </a:lnSpc>
            </a:pPr>
            <a:r>
              <a:rPr lang="en-US" sz="2249">
                <a:solidFill>
                  <a:srgbClr val="F8F6F0"/>
                </a:solidFill>
                <a:latin typeface="Cy Grotesk Wide"/>
                <a:ea typeface="Cy Grotesk Wide"/>
                <a:cs typeface="Cy Grotesk Wide"/>
                <a:sym typeface="Cy Grotesk Wide"/>
              </a:rPr>
              <a:t>Normalizar formato: 12345678. Control de duplicados</a:t>
            </a:r>
          </a:p>
        </p:txBody>
      </p:sp>
      <p:sp>
        <p:nvSpPr>
          <p:cNvPr name="TextBox 16" id="16"/>
          <p:cNvSpPr txBox="true"/>
          <p:nvPr/>
        </p:nvSpPr>
        <p:spPr>
          <a:xfrm rot="0">
            <a:off x="6846354" y="7164112"/>
            <a:ext cx="7876427" cy="294414"/>
          </a:xfrm>
          <a:prstGeom prst="rect">
            <a:avLst/>
          </a:prstGeom>
        </p:spPr>
        <p:txBody>
          <a:bodyPr anchor="t" rtlCol="false" tIns="0" lIns="0" bIns="0" rIns="0">
            <a:spAutoFit/>
          </a:bodyPr>
          <a:lstStyle/>
          <a:p>
            <a:pPr algn="l">
              <a:lnSpc>
                <a:spcPts val="2114"/>
              </a:lnSpc>
            </a:pPr>
            <a:r>
              <a:rPr lang="en-US" sz="2249">
                <a:solidFill>
                  <a:srgbClr val="F8F6F0"/>
                </a:solidFill>
                <a:latin typeface="Cy Grotesk Wide"/>
                <a:ea typeface="Cy Grotesk Wide"/>
                <a:cs typeface="Cy Grotesk Wide"/>
                <a:sym typeface="Cy Grotesk Wide"/>
              </a:rPr>
              <a:t>Completar faltantes con “No especificado”</a:t>
            </a:r>
          </a:p>
        </p:txBody>
      </p:sp>
      <p:sp>
        <p:nvSpPr>
          <p:cNvPr name="TextBox 17" id="17"/>
          <p:cNvSpPr txBox="true"/>
          <p:nvPr/>
        </p:nvSpPr>
        <p:spPr>
          <a:xfrm rot="0">
            <a:off x="6846354" y="8196424"/>
            <a:ext cx="8977584" cy="294414"/>
          </a:xfrm>
          <a:prstGeom prst="rect">
            <a:avLst/>
          </a:prstGeom>
        </p:spPr>
        <p:txBody>
          <a:bodyPr anchor="t" rtlCol="false" tIns="0" lIns="0" bIns="0" rIns="0">
            <a:spAutoFit/>
          </a:bodyPr>
          <a:lstStyle/>
          <a:p>
            <a:pPr algn="l">
              <a:lnSpc>
                <a:spcPts val="2114"/>
              </a:lnSpc>
            </a:pPr>
            <a:r>
              <a:rPr lang="en-US" sz="2249">
                <a:solidFill>
                  <a:srgbClr val="F8F6F0"/>
                </a:solidFill>
                <a:latin typeface="Cy Grotesk Wide"/>
                <a:ea typeface="Cy Grotesk Wide"/>
                <a:cs typeface="Cy Grotesk Wide"/>
                <a:sym typeface="Cy Grotesk Wide"/>
              </a:rPr>
              <a:t>Normalizar formato: “Nombre”</a:t>
            </a:r>
          </a:p>
        </p:txBody>
      </p:sp>
      <p:sp>
        <p:nvSpPr>
          <p:cNvPr name="AutoShape 18" id="18"/>
          <p:cNvSpPr/>
          <p:nvPr/>
        </p:nvSpPr>
        <p:spPr>
          <a:xfrm flipH="true">
            <a:off x="1642766" y="4678223"/>
            <a:ext cx="15209674" cy="0"/>
          </a:xfrm>
          <a:prstGeom prst="line">
            <a:avLst/>
          </a:prstGeom>
          <a:ln cap="flat" w="38100">
            <a:solidFill>
              <a:srgbClr val="54DF64"/>
            </a:solidFill>
            <a:prstDash val="solid"/>
            <a:headEnd type="none" len="sm" w="sm"/>
            <a:tailEnd type="none" len="sm" w="sm"/>
          </a:ln>
        </p:spPr>
      </p:sp>
      <p:sp>
        <p:nvSpPr>
          <p:cNvPr name="AutoShape 19" id="19"/>
          <p:cNvSpPr/>
          <p:nvPr/>
        </p:nvSpPr>
        <p:spPr>
          <a:xfrm flipH="true">
            <a:off x="1642766" y="5710535"/>
            <a:ext cx="15209674" cy="0"/>
          </a:xfrm>
          <a:prstGeom prst="line">
            <a:avLst/>
          </a:prstGeom>
          <a:ln cap="flat" w="38100">
            <a:solidFill>
              <a:srgbClr val="54DF64"/>
            </a:solidFill>
            <a:prstDash val="solid"/>
            <a:headEnd type="none" len="sm" w="sm"/>
            <a:tailEnd type="none" len="sm" w="sm"/>
          </a:ln>
        </p:spPr>
      </p:sp>
      <p:sp>
        <p:nvSpPr>
          <p:cNvPr name="AutoShape 20" id="20"/>
          <p:cNvSpPr/>
          <p:nvPr/>
        </p:nvSpPr>
        <p:spPr>
          <a:xfrm flipH="true">
            <a:off x="1642766" y="6742847"/>
            <a:ext cx="15209674" cy="0"/>
          </a:xfrm>
          <a:prstGeom prst="line">
            <a:avLst/>
          </a:prstGeom>
          <a:ln cap="flat" w="38100">
            <a:solidFill>
              <a:srgbClr val="54DF64"/>
            </a:solidFill>
            <a:prstDash val="solid"/>
            <a:headEnd type="none" len="sm" w="sm"/>
            <a:tailEnd type="none" len="sm" w="sm"/>
          </a:ln>
        </p:spPr>
      </p:sp>
      <p:sp>
        <p:nvSpPr>
          <p:cNvPr name="AutoShape 21" id="21"/>
          <p:cNvSpPr/>
          <p:nvPr/>
        </p:nvSpPr>
        <p:spPr>
          <a:xfrm flipH="true">
            <a:off x="1652571" y="7775159"/>
            <a:ext cx="15209674" cy="0"/>
          </a:xfrm>
          <a:prstGeom prst="line">
            <a:avLst/>
          </a:prstGeom>
          <a:ln cap="flat" w="38100">
            <a:solidFill>
              <a:srgbClr val="54DF64"/>
            </a:solidFill>
            <a:prstDash val="solid"/>
            <a:headEnd type="none" len="sm" w="sm"/>
            <a:tailEnd type="none" len="sm" w="sm"/>
          </a:ln>
        </p:spPr>
      </p:sp>
      <p:grpSp>
        <p:nvGrpSpPr>
          <p:cNvPr name="Group 22" id="22"/>
          <p:cNvGrpSpPr/>
          <p:nvPr/>
        </p:nvGrpSpPr>
        <p:grpSpPr>
          <a:xfrm rot="-84203">
            <a:off x="-16339579" y="722813"/>
            <a:ext cx="22072346" cy="1491048"/>
            <a:chOff x="0" y="0"/>
            <a:chExt cx="25372151" cy="1713959"/>
          </a:xfrm>
        </p:grpSpPr>
        <p:sp>
          <p:nvSpPr>
            <p:cNvPr name="Freeform 23" id="23"/>
            <p:cNvSpPr/>
            <p:nvPr/>
          </p:nvSpPr>
          <p:spPr>
            <a:xfrm flipH="false" flipV="false" rot="0">
              <a:off x="0" y="0"/>
              <a:ext cx="25372151" cy="1713959"/>
            </a:xfrm>
            <a:custGeom>
              <a:avLst/>
              <a:gdLst/>
              <a:ahLst/>
              <a:cxnLst/>
              <a:rect r="r" b="b" t="t" l="l"/>
              <a:pathLst>
                <a:path h="1713959" w="25372151">
                  <a:moveTo>
                    <a:pt x="0" y="0"/>
                  </a:moveTo>
                  <a:lnTo>
                    <a:pt x="25372151" y="0"/>
                  </a:lnTo>
                  <a:lnTo>
                    <a:pt x="25372151" y="1713959"/>
                  </a:lnTo>
                  <a:lnTo>
                    <a:pt x="0" y="1713959"/>
                  </a:lnTo>
                  <a:close/>
                </a:path>
              </a:pathLst>
            </a:custGeom>
            <a:solidFill>
              <a:srgbClr val="F8F6F0"/>
            </a:solidFill>
          </p:spPr>
        </p:sp>
        <p:sp>
          <p:nvSpPr>
            <p:cNvPr name="TextBox 24" id="24"/>
            <p:cNvSpPr txBox="true"/>
            <p:nvPr/>
          </p:nvSpPr>
          <p:spPr>
            <a:xfrm>
              <a:off x="0" y="-47625"/>
              <a:ext cx="25372151" cy="1761584"/>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6906864" y="616514"/>
            <a:ext cx="22455997" cy="1491048"/>
            <a:chOff x="0" y="0"/>
            <a:chExt cx="25813158" cy="1713959"/>
          </a:xfrm>
        </p:grpSpPr>
        <p:sp>
          <p:nvSpPr>
            <p:cNvPr name="Freeform 26" id="26"/>
            <p:cNvSpPr/>
            <p:nvPr/>
          </p:nvSpPr>
          <p:spPr>
            <a:xfrm flipH="false" flipV="false" rot="0">
              <a:off x="0" y="0"/>
              <a:ext cx="25813158" cy="1713959"/>
            </a:xfrm>
            <a:custGeom>
              <a:avLst/>
              <a:gdLst/>
              <a:ahLst/>
              <a:cxnLst/>
              <a:rect r="r" b="b" t="t" l="l"/>
              <a:pathLst>
                <a:path h="1713959" w="25813158">
                  <a:moveTo>
                    <a:pt x="0" y="0"/>
                  </a:moveTo>
                  <a:lnTo>
                    <a:pt x="25813158" y="0"/>
                  </a:lnTo>
                  <a:lnTo>
                    <a:pt x="25813158" y="1713959"/>
                  </a:lnTo>
                  <a:lnTo>
                    <a:pt x="0" y="1713959"/>
                  </a:lnTo>
                  <a:close/>
                </a:path>
              </a:pathLst>
            </a:custGeom>
            <a:solidFill>
              <a:srgbClr val="54DF64"/>
            </a:solidFill>
          </p:spPr>
        </p:sp>
        <p:sp>
          <p:nvSpPr>
            <p:cNvPr name="TextBox 27" id="27"/>
            <p:cNvSpPr txBox="true"/>
            <p:nvPr/>
          </p:nvSpPr>
          <p:spPr>
            <a:xfrm>
              <a:off x="0" y="-47625"/>
              <a:ext cx="25813158" cy="1761584"/>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461743" y="1069557"/>
            <a:ext cx="4819392" cy="718312"/>
          </a:xfrm>
          <a:prstGeom prst="rect">
            <a:avLst/>
          </a:prstGeom>
        </p:spPr>
        <p:txBody>
          <a:bodyPr anchor="t" rtlCol="false" tIns="0" lIns="0" bIns="0" rIns="0">
            <a:spAutoFit/>
          </a:bodyPr>
          <a:lstStyle/>
          <a:p>
            <a:pPr algn="l">
              <a:lnSpc>
                <a:spcPts val="5264"/>
              </a:lnSpc>
            </a:pPr>
            <a:r>
              <a:rPr lang="en-US" sz="5600" b="true">
                <a:solidFill>
                  <a:srgbClr val="000000"/>
                </a:solidFill>
                <a:latin typeface="Cy Grotesk Wide Bold"/>
                <a:ea typeface="Cy Grotesk Wide Bold"/>
                <a:cs typeface="Cy Grotesk Wide Bold"/>
                <a:sym typeface="Cy Grotesk Wide Bold"/>
              </a:rPr>
              <a:t>5.</a:t>
            </a:r>
            <a:r>
              <a:rPr lang="en-US" sz="5600">
                <a:solidFill>
                  <a:srgbClr val="F8F6F0"/>
                </a:solidFill>
                <a:latin typeface="Cy Grotesk Wide"/>
                <a:ea typeface="Cy Grotesk Wide"/>
                <a:cs typeface="Cy Grotesk Wide"/>
                <a:sym typeface="Cy Grotesk Wide"/>
              </a:rPr>
              <a:t> Limpieza</a:t>
            </a:r>
          </a:p>
        </p:txBody>
      </p:sp>
      <p:sp>
        <p:nvSpPr>
          <p:cNvPr name="TextBox 29" id="29"/>
          <p:cNvSpPr txBox="true"/>
          <p:nvPr/>
        </p:nvSpPr>
        <p:spPr>
          <a:xfrm rot="0">
            <a:off x="1652571" y="2951493"/>
            <a:ext cx="4705905" cy="377784"/>
          </a:xfrm>
          <a:prstGeom prst="rect">
            <a:avLst/>
          </a:prstGeom>
        </p:spPr>
        <p:txBody>
          <a:bodyPr anchor="t" rtlCol="false" tIns="0" lIns="0" bIns="0" rIns="0">
            <a:spAutoFit/>
          </a:bodyPr>
          <a:lstStyle/>
          <a:p>
            <a:pPr algn="l">
              <a:lnSpc>
                <a:spcPts val="2723"/>
              </a:lnSpc>
            </a:pPr>
            <a:r>
              <a:rPr lang="en-US" sz="2897">
                <a:solidFill>
                  <a:srgbClr val="54DF64"/>
                </a:solidFill>
                <a:latin typeface="Cy Grotesk Wide"/>
                <a:ea typeface="Cy Grotesk Wide"/>
                <a:cs typeface="Cy Grotesk Wide"/>
                <a:sym typeface="Cy Grotesk Wide"/>
              </a:rPr>
              <a:t>Campo</a:t>
            </a:r>
          </a:p>
        </p:txBody>
      </p:sp>
      <p:sp>
        <p:nvSpPr>
          <p:cNvPr name="AutoShape 30" id="30"/>
          <p:cNvSpPr/>
          <p:nvPr/>
        </p:nvSpPr>
        <p:spPr>
          <a:xfrm flipH="true">
            <a:off x="1211392" y="3645911"/>
            <a:ext cx="16047908" cy="0"/>
          </a:xfrm>
          <a:prstGeom prst="line">
            <a:avLst/>
          </a:prstGeom>
          <a:ln cap="flat" w="38100">
            <a:solidFill>
              <a:srgbClr val="54DF64"/>
            </a:solidFill>
            <a:prstDash val="solid"/>
            <a:headEnd type="none" len="sm" w="sm"/>
            <a:tailEnd type="none" len="sm" w="sm"/>
          </a:ln>
        </p:spPr>
      </p:sp>
      <p:sp>
        <p:nvSpPr>
          <p:cNvPr name="TextBox 31" id="31"/>
          <p:cNvSpPr txBox="true"/>
          <p:nvPr/>
        </p:nvSpPr>
        <p:spPr>
          <a:xfrm rot="0">
            <a:off x="6846354" y="2951493"/>
            <a:ext cx="4705905" cy="377784"/>
          </a:xfrm>
          <a:prstGeom prst="rect">
            <a:avLst/>
          </a:prstGeom>
        </p:spPr>
        <p:txBody>
          <a:bodyPr anchor="t" rtlCol="false" tIns="0" lIns="0" bIns="0" rIns="0">
            <a:spAutoFit/>
          </a:bodyPr>
          <a:lstStyle/>
          <a:p>
            <a:pPr algn="l">
              <a:lnSpc>
                <a:spcPts val="2723"/>
              </a:lnSpc>
            </a:pPr>
            <a:r>
              <a:rPr lang="en-US" sz="2897">
                <a:solidFill>
                  <a:srgbClr val="54DF64"/>
                </a:solidFill>
                <a:latin typeface="Cy Grotesk Wide"/>
                <a:ea typeface="Cy Grotesk Wide"/>
                <a:cs typeface="Cy Grotesk Wide"/>
                <a:sym typeface="Cy Grotesk Wide"/>
              </a:rPr>
              <a:t>Limpieza</a:t>
            </a:r>
          </a:p>
        </p:txBody>
      </p:sp>
      <p:sp>
        <p:nvSpPr>
          <p:cNvPr name="AutoShape 32" id="32"/>
          <p:cNvSpPr/>
          <p:nvPr/>
        </p:nvSpPr>
        <p:spPr>
          <a:xfrm flipV="true">
            <a:off x="6348671" y="2497552"/>
            <a:ext cx="0" cy="6254314"/>
          </a:xfrm>
          <a:prstGeom prst="line">
            <a:avLst/>
          </a:prstGeom>
          <a:ln cap="flat" w="38100">
            <a:solidFill>
              <a:srgbClr val="54DF64"/>
            </a:solidFill>
            <a:prstDash val="solid"/>
            <a:headEnd type="none" len="sm" w="sm"/>
            <a:tailEnd type="none" len="sm" w="sm"/>
          </a:ln>
        </p:spPr>
      </p:sp>
      <p:grpSp>
        <p:nvGrpSpPr>
          <p:cNvPr name="Group 33" id="33"/>
          <p:cNvGrpSpPr/>
          <p:nvPr/>
        </p:nvGrpSpPr>
        <p:grpSpPr>
          <a:xfrm rot="0">
            <a:off x="0" y="9258300"/>
            <a:ext cx="18288000" cy="1028700"/>
            <a:chOff x="0" y="0"/>
            <a:chExt cx="21022047" cy="1182490"/>
          </a:xfrm>
        </p:grpSpPr>
        <p:sp>
          <p:nvSpPr>
            <p:cNvPr name="Freeform 34" id="34"/>
            <p:cNvSpPr/>
            <p:nvPr/>
          </p:nvSpPr>
          <p:spPr>
            <a:xfrm flipH="false" flipV="false" rot="0">
              <a:off x="0" y="0"/>
              <a:ext cx="21022047" cy="1182490"/>
            </a:xfrm>
            <a:custGeom>
              <a:avLst/>
              <a:gdLst/>
              <a:ahLst/>
              <a:cxnLst/>
              <a:rect r="r" b="b" t="t" l="l"/>
              <a:pathLst>
                <a:path h="1182490" w="21022047">
                  <a:moveTo>
                    <a:pt x="0" y="0"/>
                  </a:moveTo>
                  <a:lnTo>
                    <a:pt x="21022047" y="0"/>
                  </a:lnTo>
                  <a:lnTo>
                    <a:pt x="21022047" y="1182490"/>
                  </a:lnTo>
                  <a:lnTo>
                    <a:pt x="0" y="1182490"/>
                  </a:lnTo>
                  <a:close/>
                </a:path>
              </a:pathLst>
            </a:custGeom>
            <a:solidFill>
              <a:srgbClr val="54DF64"/>
            </a:solidFill>
          </p:spPr>
        </p:sp>
        <p:sp>
          <p:nvSpPr>
            <p:cNvPr name="TextBox 35" id="35"/>
            <p:cNvSpPr txBox="true"/>
            <p:nvPr/>
          </p:nvSpPr>
          <p:spPr>
            <a:xfrm>
              <a:off x="0" y="-47625"/>
              <a:ext cx="21022047" cy="1230115"/>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445730" y="9509665"/>
            <a:ext cx="17396541" cy="472365"/>
          </a:xfrm>
          <a:prstGeom prst="rect">
            <a:avLst/>
          </a:prstGeom>
        </p:spPr>
        <p:txBody>
          <a:bodyPr anchor="t" rtlCol="false" tIns="0" lIns="0" bIns="0" rIns="0">
            <a:spAutoFit/>
          </a:bodyPr>
          <a:lstStyle/>
          <a:p>
            <a:pPr algn="l">
              <a:lnSpc>
                <a:spcPts val="3900"/>
              </a:lnSpc>
            </a:pPr>
            <a:r>
              <a:rPr lang="en-US" b="true" sz="2600">
                <a:solidFill>
                  <a:srgbClr val="000000"/>
                </a:solidFill>
                <a:latin typeface="Cy Grotesk Key Bold"/>
                <a:ea typeface="Cy Grotesk Key Bold"/>
                <a:cs typeface="Cy Grotesk Key Bold"/>
                <a:sym typeface="Cy Grotesk Key Bold"/>
              </a:rPr>
              <a:t>Validaciones: </a:t>
            </a:r>
            <a:r>
              <a:rPr lang="en-US" sz="2600">
                <a:solidFill>
                  <a:srgbClr val="000000"/>
                </a:solidFill>
                <a:latin typeface="Cy Grotesk Key"/>
                <a:ea typeface="Cy Grotesk Key"/>
                <a:cs typeface="Cy Grotesk Key"/>
                <a:sym typeface="Cy Grotesk Key"/>
              </a:rPr>
              <a:t>DNI válido, notas entre 0 y 10, intentos mayores a cero, cupos positivos, claves no nulas</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4250536" y="4414024"/>
            <a:ext cx="504610" cy="837528"/>
          </a:xfrm>
          <a:custGeom>
            <a:avLst/>
            <a:gdLst/>
            <a:ahLst/>
            <a:cxnLst/>
            <a:rect r="r" b="b" t="t" l="l"/>
            <a:pathLst>
              <a:path h="837528" w="504610">
                <a:moveTo>
                  <a:pt x="0" y="0"/>
                </a:moveTo>
                <a:lnTo>
                  <a:pt x="504610" y="0"/>
                </a:lnTo>
                <a:lnTo>
                  <a:pt x="504610" y="837528"/>
                </a:lnTo>
                <a:lnTo>
                  <a:pt x="0" y="8375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10800000">
            <a:off x="8891695" y="4392432"/>
            <a:ext cx="504610" cy="837528"/>
          </a:xfrm>
          <a:custGeom>
            <a:avLst/>
            <a:gdLst/>
            <a:ahLst/>
            <a:cxnLst/>
            <a:rect r="r" b="b" t="t" l="l"/>
            <a:pathLst>
              <a:path h="837528" w="504610">
                <a:moveTo>
                  <a:pt x="0" y="0"/>
                </a:moveTo>
                <a:lnTo>
                  <a:pt x="504610" y="0"/>
                </a:lnTo>
                <a:lnTo>
                  <a:pt x="504610" y="837527"/>
                </a:lnTo>
                <a:lnTo>
                  <a:pt x="0" y="837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3532854" y="4392432"/>
            <a:ext cx="504610" cy="837528"/>
          </a:xfrm>
          <a:custGeom>
            <a:avLst/>
            <a:gdLst/>
            <a:ahLst/>
            <a:cxnLst/>
            <a:rect r="r" b="b" t="t" l="l"/>
            <a:pathLst>
              <a:path h="837528" w="504610">
                <a:moveTo>
                  <a:pt x="0" y="0"/>
                </a:moveTo>
                <a:lnTo>
                  <a:pt x="504610" y="0"/>
                </a:lnTo>
                <a:lnTo>
                  <a:pt x="504610" y="837527"/>
                </a:lnTo>
                <a:lnTo>
                  <a:pt x="0" y="837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03575" y="6624748"/>
            <a:ext cx="2604327" cy="766019"/>
            <a:chOff x="0" y="0"/>
            <a:chExt cx="685913" cy="201750"/>
          </a:xfrm>
        </p:grpSpPr>
        <p:sp>
          <p:nvSpPr>
            <p:cNvPr name="Freeform 6" id="6"/>
            <p:cNvSpPr/>
            <p:nvPr/>
          </p:nvSpPr>
          <p:spPr>
            <a:xfrm flipH="false" flipV="false" rot="0">
              <a:off x="0" y="0"/>
              <a:ext cx="685913" cy="201750"/>
            </a:xfrm>
            <a:custGeom>
              <a:avLst/>
              <a:gdLst/>
              <a:ahLst/>
              <a:cxnLst/>
              <a:rect r="r" b="b" t="t" l="l"/>
              <a:pathLst>
                <a:path h="201750" w="685913">
                  <a:moveTo>
                    <a:pt x="100875" y="0"/>
                  </a:moveTo>
                  <a:lnTo>
                    <a:pt x="585038" y="0"/>
                  </a:lnTo>
                  <a:cubicBezTo>
                    <a:pt x="611792" y="0"/>
                    <a:pt x="637450" y="10628"/>
                    <a:pt x="656368" y="29546"/>
                  </a:cubicBezTo>
                  <a:cubicBezTo>
                    <a:pt x="675285" y="48463"/>
                    <a:pt x="685913" y="74121"/>
                    <a:pt x="685913" y="100875"/>
                  </a:cubicBezTo>
                  <a:lnTo>
                    <a:pt x="685913" y="100875"/>
                  </a:lnTo>
                  <a:cubicBezTo>
                    <a:pt x="685913" y="156587"/>
                    <a:pt x="640750" y="201750"/>
                    <a:pt x="585038"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7" id="7"/>
            <p:cNvSpPr txBox="true"/>
            <p:nvPr/>
          </p:nvSpPr>
          <p:spPr>
            <a:xfrm>
              <a:off x="0" y="-47625"/>
              <a:ext cx="685913"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CARGA DW</a:t>
              </a:r>
            </a:p>
          </p:txBody>
        </p:sp>
      </p:grpSp>
      <p:grpSp>
        <p:nvGrpSpPr>
          <p:cNvPr name="Group 8" id="8"/>
          <p:cNvGrpSpPr/>
          <p:nvPr/>
        </p:nvGrpSpPr>
        <p:grpSpPr>
          <a:xfrm rot="0">
            <a:off x="14188093" y="2896233"/>
            <a:ext cx="3600703" cy="3493509"/>
            <a:chOff x="0" y="0"/>
            <a:chExt cx="4800938" cy="4658012"/>
          </a:xfrm>
        </p:grpSpPr>
        <p:grpSp>
          <p:nvGrpSpPr>
            <p:cNvPr name="Group 9" id="9"/>
            <p:cNvGrpSpPr/>
            <p:nvPr/>
          </p:nvGrpSpPr>
          <p:grpSpPr>
            <a:xfrm rot="0">
              <a:off x="0" y="169856"/>
              <a:ext cx="4488156" cy="448815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12782" y="0"/>
              <a:ext cx="4488156" cy="448815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08678" y="921734"/>
              <a:ext cx="2984400" cy="2984400"/>
            </a:xfrm>
            <a:custGeom>
              <a:avLst/>
              <a:gdLst/>
              <a:ahLst/>
              <a:cxnLst/>
              <a:rect r="r" b="b" t="t" l="l"/>
              <a:pathLst>
                <a:path h="2984400" w="2984400">
                  <a:moveTo>
                    <a:pt x="0" y="0"/>
                  </a:moveTo>
                  <a:lnTo>
                    <a:pt x="2984400" y="0"/>
                  </a:lnTo>
                  <a:lnTo>
                    <a:pt x="2984400" y="2984400"/>
                  </a:lnTo>
                  <a:lnTo>
                    <a:pt x="0" y="2984400"/>
                  </a:lnTo>
                  <a:lnTo>
                    <a:pt x="0" y="0"/>
                  </a:lnTo>
                  <a:close/>
                </a:path>
              </a:pathLst>
            </a:custGeom>
            <a:blipFill>
              <a:blip r:embed="rId5"/>
              <a:stretch>
                <a:fillRect l="0" t="0" r="0" b="0"/>
              </a:stretch>
            </a:blipFill>
          </p:spPr>
        </p:sp>
      </p:grpSp>
      <p:grpSp>
        <p:nvGrpSpPr>
          <p:cNvPr name="Group 16" id="16"/>
          <p:cNvGrpSpPr/>
          <p:nvPr/>
        </p:nvGrpSpPr>
        <p:grpSpPr>
          <a:xfrm rot="0">
            <a:off x="9894201" y="6624748"/>
            <a:ext cx="3140757" cy="766019"/>
            <a:chOff x="0" y="0"/>
            <a:chExt cx="827195" cy="201750"/>
          </a:xfrm>
        </p:grpSpPr>
        <p:sp>
          <p:nvSpPr>
            <p:cNvPr name="Freeform 17" id="17"/>
            <p:cNvSpPr/>
            <p:nvPr/>
          </p:nvSpPr>
          <p:spPr>
            <a:xfrm flipH="false" flipV="false" rot="0">
              <a:off x="0" y="0"/>
              <a:ext cx="827195" cy="201750"/>
            </a:xfrm>
            <a:custGeom>
              <a:avLst/>
              <a:gdLst/>
              <a:ahLst/>
              <a:cxnLst/>
              <a:rect r="r" b="b" t="t" l="l"/>
              <a:pathLst>
                <a:path h="201750" w="827195">
                  <a:moveTo>
                    <a:pt x="100875" y="0"/>
                  </a:moveTo>
                  <a:lnTo>
                    <a:pt x="726320" y="0"/>
                  </a:lnTo>
                  <a:cubicBezTo>
                    <a:pt x="753074" y="0"/>
                    <a:pt x="778732" y="10628"/>
                    <a:pt x="797650" y="29546"/>
                  </a:cubicBezTo>
                  <a:cubicBezTo>
                    <a:pt x="816567" y="48463"/>
                    <a:pt x="827195" y="74121"/>
                    <a:pt x="827195" y="100875"/>
                  </a:cubicBezTo>
                  <a:lnTo>
                    <a:pt x="827195" y="100875"/>
                  </a:lnTo>
                  <a:cubicBezTo>
                    <a:pt x="827195" y="156587"/>
                    <a:pt x="782032" y="201750"/>
                    <a:pt x="726320"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18" id="18"/>
            <p:cNvSpPr txBox="true"/>
            <p:nvPr/>
          </p:nvSpPr>
          <p:spPr>
            <a:xfrm>
              <a:off x="0" y="-47625"/>
              <a:ext cx="827195"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TRANSFORMACIÓN</a:t>
              </a:r>
            </a:p>
          </p:txBody>
        </p:sp>
      </p:grpSp>
      <p:grpSp>
        <p:nvGrpSpPr>
          <p:cNvPr name="Group 19" id="19"/>
          <p:cNvGrpSpPr/>
          <p:nvPr/>
        </p:nvGrpSpPr>
        <p:grpSpPr>
          <a:xfrm rot="0">
            <a:off x="9546935" y="2896233"/>
            <a:ext cx="3600703" cy="3493509"/>
            <a:chOff x="0" y="0"/>
            <a:chExt cx="4800938" cy="4658012"/>
          </a:xfrm>
        </p:grpSpPr>
        <p:grpSp>
          <p:nvGrpSpPr>
            <p:cNvPr name="Group 20" id="20"/>
            <p:cNvGrpSpPr/>
            <p:nvPr/>
          </p:nvGrpSpPr>
          <p:grpSpPr>
            <a:xfrm rot="0">
              <a:off x="0" y="169856"/>
              <a:ext cx="4488156" cy="448815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2" id="2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312782" y="0"/>
              <a:ext cx="4488156" cy="448815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false" flipV="false" rot="0">
              <a:off x="1116834" y="804052"/>
              <a:ext cx="2880053" cy="2880053"/>
            </a:xfrm>
            <a:custGeom>
              <a:avLst/>
              <a:gdLst/>
              <a:ahLst/>
              <a:cxnLst/>
              <a:rect r="r" b="b" t="t" l="l"/>
              <a:pathLst>
                <a:path h="2880053" w="2880053">
                  <a:moveTo>
                    <a:pt x="0" y="0"/>
                  </a:moveTo>
                  <a:lnTo>
                    <a:pt x="2880052" y="0"/>
                  </a:lnTo>
                  <a:lnTo>
                    <a:pt x="2880052" y="2880052"/>
                  </a:lnTo>
                  <a:lnTo>
                    <a:pt x="0" y="2880052"/>
                  </a:lnTo>
                  <a:lnTo>
                    <a:pt x="0" y="0"/>
                  </a:lnTo>
                  <a:close/>
                </a:path>
              </a:pathLst>
            </a:custGeom>
            <a:blipFill>
              <a:blip r:embed="rId6"/>
              <a:stretch>
                <a:fillRect l="0" t="0" r="0" b="0"/>
              </a:stretch>
            </a:blipFill>
          </p:spPr>
        </p:sp>
      </p:grpSp>
      <p:grpSp>
        <p:nvGrpSpPr>
          <p:cNvPr name="Group 27" id="27"/>
          <p:cNvGrpSpPr/>
          <p:nvPr/>
        </p:nvGrpSpPr>
        <p:grpSpPr>
          <a:xfrm rot="0">
            <a:off x="5521257" y="6624748"/>
            <a:ext cx="2604327" cy="766019"/>
            <a:chOff x="0" y="0"/>
            <a:chExt cx="685913" cy="201750"/>
          </a:xfrm>
        </p:grpSpPr>
        <p:sp>
          <p:nvSpPr>
            <p:cNvPr name="Freeform 28" id="28"/>
            <p:cNvSpPr/>
            <p:nvPr/>
          </p:nvSpPr>
          <p:spPr>
            <a:xfrm flipH="false" flipV="false" rot="0">
              <a:off x="0" y="0"/>
              <a:ext cx="685913" cy="201750"/>
            </a:xfrm>
            <a:custGeom>
              <a:avLst/>
              <a:gdLst/>
              <a:ahLst/>
              <a:cxnLst/>
              <a:rect r="r" b="b" t="t" l="l"/>
              <a:pathLst>
                <a:path h="201750" w="685913">
                  <a:moveTo>
                    <a:pt x="100875" y="0"/>
                  </a:moveTo>
                  <a:lnTo>
                    <a:pt x="585038" y="0"/>
                  </a:lnTo>
                  <a:cubicBezTo>
                    <a:pt x="611792" y="0"/>
                    <a:pt x="637450" y="10628"/>
                    <a:pt x="656368" y="29546"/>
                  </a:cubicBezTo>
                  <a:cubicBezTo>
                    <a:pt x="675285" y="48463"/>
                    <a:pt x="685913" y="74121"/>
                    <a:pt x="685913" y="100875"/>
                  </a:cubicBezTo>
                  <a:lnTo>
                    <a:pt x="685913" y="100875"/>
                  </a:lnTo>
                  <a:cubicBezTo>
                    <a:pt x="685913" y="156587"/>
                    <a:pt x="640750" y="201750"/>
                    <a:pt x="585038"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29" id="29"/>
            <p:cNvSpPr txBox="true"/>
            <p:nvPr/>
          </p:nvSpPr>
          <p:spPr>
            <a:xfrm>
              <a:off x="0" y="-47625"/>
              <a:ext cx="685913"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STAGING</a:t>
              </a:r>
            </a:p>
          </p:txBody>
        </p:sp>
      </p:grpSp>
      <p:grpSp>
        <p:nvGrpSpPr>
          <p:cNvPr name="Group 30" id="30"/>
          <p:cNvGrpSpPr/>
          <p:nvPr/>
        </p:nvGrpSpPr>
        <p:grpSpPr>
          <a:xfrm rot="0">
            <a:off x="4908221" y="2896233"/>
            <a:ext cx="3598258" cy="3493509"/>
            <a:chOff x="0" y="0"/>
            <a:chExt cx="4797677" cy="4658012"/>
          </a:xfrm>
        </p:grpSpPr>
        <p:grpSp>
          <p:nvGrpSpPr>
            <p:cNvPr name="Group 31" id="31"/>
            <p:cNvGrpSpPr/>
            <p:nvPr/>
          </p:nvGrpSpPr>
          <p:grpSpPr>
            <a:xfrm rot="0">
              <a:off x="0" y="169856"/>
              <a:ext cx="4488156" cy="448815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3" id="3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309522" y="0"/>
              <a:ext cx="4488156" cy="448815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37" id="37"/>
            <p:cNvSpPr/>
            <p:nvPr/>
          </p:nvSpPr>
          <p:spPr>
            <a:xfrm flipH="false" flipV="false" rot="0">
              <a:off x="1058939" y="749417"/>
              <a:ext cx="2989322" cy="2989322"/>
            </a:xfrm>
            <a:custGeom>
              <a:avLst/>
              <a:gdLst/>
              <a:ahLst/>
              <a:cxnLst/>
              <a:rect r="r" b="b" t="t" l="l"/>
              <a:pathLst>
                <a:path h="2989322" w="2989322">
                  <a:moveTo>
                    <a:pt x="0" y="0"/>
                  </a:moveTo>
                  <a:lnTo>
                    <a:pt x="2989321" y="0"/>
                  </a:lnTo>
                  <a:lnTo>
                    <a:pt x="2989321" y="2989322"/>
                  </a:lnTo>
                  <a:lnTo>
                    <a:pt x="0" y="2989322"/>
                  </a:lnTo>
                  <a:lnTo>
                    <a:pt x="0" y="0"/>
                  </a:lnTo>
                  <a:close/>
                </a:path>
              </a:pathLst>
            </a:custGeom>
            <a:blipFill>
              <a:blip r:embed="rId7"/>
              <a:stretch>
                <a:fillRect l="0" t="0" r="0" b="0"/>
              </a:stretch>
            </a:blipFill>
          </p:spPr>
        </p:sp>
      </p:grpSp>
      <p:grpSp>
        <p:nvGrpSpPr>
          <p:cNvPr name="Group 38" id="38"/>
          <p:cNvGrpSpPr/>
          <p:nvPr/>
        </p:nvGrpSpPr>
        <p:grpSpPr>
          <a:xfrm rot="0">
            <a:off x="880098" y="6624748"/>
            <a:ext cx="2604327" cy="766019"/>
            <a:chOff x="0" y="0"/>
            <a:chExt cx="685913" cy="201750"/>
          </a:xfrm>
        </p:grpSpPr>
        <p:sp>
          <p:nvSpPr>
            <p:cNvPr name="Freeform 39" id="39"/>
            <p:cNvSpPr/>
            <p:nvPr/>
          </p:nvSpPr>
          <p:spPr>
            <a:xfrm flipH="false" flipV="false" rot="0">
              <a:off x="0" y="0"/>
              <a:ext cx="685913" cy="201750"/>
            </a:xfrm>
            <a:custGeom>
              <a:avLst/>
              <a:gdLst/>
              <a:ahLst/>
              <a:cxnLst/>
              <a:rect r="r" b="b" t="t" l="l"/>
              <a:pathLst>
                <a:path h="201750" w="685913">
                  <a:moveTo>
                    <a:pt x="100875" y="0"/>
                  </a:moveTo>
                  <a:lnTo>
                    <a:pt x="585038" y="0"/>
                  </a:lnTo>
                  <a:cubicBezTo>
                    <a:pt x="611792" y="0"/>
                    <a:pt x="637450" y="10628"/>
                    <a:pt x="656368" y="29546"/>
                  </a:cubicBezTo>
                  <a:cubicBezTo>
                    <a:pt x="675285" y="48463"/>
                    <a:pt x="685913" y="74121"/>
                    <a:pt x="685913" y="100875"/>
                  </a:cubicBezTo>
                  <a:lnTo>
                    <a:pt x="685913" y="100875"/>
                  </a:lnTo>
                  <a:cubicBezTo>
                    <a:pt x="685913" y="156587"/>
                    <a:pt x="640750" y="201750"/>
                    <a:pt x="585038" y="201750"/>
                  </a:cubicBezTo>
                  <a:lnTo>
                    <a:pt x="100875" y="201750"/>
                  </a:lnTo>
                  <a:cubicBezTo>
                    <a:pt x="74121" y="201750"/>
                    <a:pt x="48463" y="191122"/>
                    <a:pt x="29546" y="172204"/>
                  </a:cubicBezTo>
                  <a:cubicBezTo>
                    <a:pt x="10628" y="153287"/>
                    <a:pt x="0" y="127629"/>
                    <a:pt x="0" y="100875"/>
                  </a:cubicBezTo>
                  <a:lnTo>
                    <a:pt x="0" y="100875"/>
                  </a:lnTo>
                  <a:cubicBezTo>
                    <a:pt x="0" y="74121"/>
                    <a:pt x="10628" y="48463"/>
                    <a:pt x="29546" y="29546"/>
                  </a:cubicBezTo>
                  <a:cubicBezTo>
                    <a:pt x="48463" y="10628"/>
                    <a:pt x="74121" y="0"/>
                    <a:pt x="100875" y="0"/>
                  </a:cubicBezTo>
                  <a:close/>
                </a:path>
              </a:pathLst>
            </a:custGeom>
            <a:solidFill>
              <a:srgbClr val="F8F6F0"/>
            </a:solidFill>
            <a:ln w="38100" cap="rnd">
              <a:solidFill>
                <a:srgbClr val="000000"/>
              </a:solidFill>
              <a:prstDash val="solid"/>
              <a:round/>
            </a:ln>
          </p:spPr>
        </p:sp>
        <p:sp>
          <p:nvSpPr>
            <p:cNvPr name="TextBox 40" id="40"/>
            <p:cNvSpPr txBox="true"/>
            <p:nvPr/>
          </p:nvSpPr>
          <p:spPr>
            <a:xfrm>
              <a:off x="0" y="-47625"/>
              <a:ext cx="685913"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EXTRACCIÓN</a:t>
              </a:r>
            </a:p>
          </p:txBody>
        </p:sp>
      </p:grpSp>
      <p:grpSp>
        <p:nvGrpSpPr>
          <p:cNvPr name="Group 41" id="41"/>
          <p:cNvGrpSpPr/>
          <p:nvPr/>
        </p:nvGrpSpPr>
        <p:grpSpPr>
          <a:xfrm rot="0">
            <a:off x="228698" y="2896233"/>
            <a:ext cx="3636622" cy="3493509"/>
            <a:chOff x="0" y="0"/>
            <a:chExt cx="4848830" cy="4658012"/>
          </a:xfrm>
        </p:grpSpPr>
        <p:grpSp>
          <p:nvGrpSpPr>
            <p:cNvPr name="Group 42" id="42"/>
            <p:cNvGrpSpPr/>
            <p:nvPr/>
          </p:nvGrpSpPr>
          <p:grpSpPr>
            <a:xfrm rot="0">
              <a:off x="0" y="169856"/>
              <a:ext cx="4488156" cy="4488156"/>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4" id="4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360674" y="0"/>
              <a:ext cx="4488156" cy="4488156"/>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DF64"/>
              </a:solidFill>
            </p:spPr>
          </p:sp>
          <p:sp>
            <p:nvSpPr>
              <p:cNvPr name="TextBox 47" id="4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48" id="48"/>
            <p:cNvSpPr/>
            <p:nvPr/>
          </p:nvSpPr>
          <p:spPr>
            <a:xfrm flipH="false" flipV="false" rot="0">
              <a:off x="995797" y="557789"/>
              <a:ext cx="3219765" cy="3219765"/>
            </a:xfrm>
            <a:custGeom>
              <a:avLst/>
              <a:gdLst/>
              <a:ahLst/>
              <a:cxnLst/>
              <a:rect r="r" b="b" t="t" l="l"/>
              <a:pathLst>
                <a:path h="3219765" w="3219765">
                  <a:moveTo>
                    <a:pt x="0" y="0"/>
                  </a:moveTo>
                  <a:lnTo>
                    <a:pt x="3219765" y="0"/>
                  </a:lnTo>
                  <a:lnTo>
                    <a:pt x="3219765" y="3219765"/>
                  </a:lnTo>
                  <a:lnTo>
                    <a:pt x="0" y="3219765"/>
                  </a:lnTo>
                  <a:lnTo>
                    <a:pt x="0" y="0"/>
                  </a:lnTo>
                  <a:close/>
                </a:path>
              </a:pathLst>
            </a:custGeom>
            <a:blipFill>
              <a:blip r:embed="rId8"/>
              <a:stretch>
                <a:fillRect l="0" t="0" r="0" b="0"/>
              </a:stretch>
            </a:blipFill>
          </p:spPr>
        </p:sp>
      </p:grpSp>
      <p:grpSp>
        <p:nvGrpSpPr>
          <p:cNvPr name="Group 49" id="49"/>
          <p:cNvGrpSpPr/>
          <p:nvPr/>
        </p:nvGrpSpPr>
        <p:grpSpPr>
          <a:xfrm rot="-96120">
            <a:off x="-10285803" y="759732"/>
            <a:ext cx="14121721" cy="1491048"/>
            <a:chOff x="0" y="0"/>
            <a:chExt cx="16232912" cy="1713959"/>
          </a:xfrm>
        </p:grpSpPr>
        <p:sp>
          <p:nvSpPr>
            <p:cNvPr name="Freeform 50" id="50"/>
            <p:cNvSpPr/>
            <p:nvPr/>
          </p:nvSpPr>
          <p:spPr>
            <a:xfrm flipH="false" flipV="false" rot="0">
              <a:off x="0" y="0"/>
              <a:ext cx="16232911" cy="1713959"/>
            </a:xfrm>
            <a:custGeom>
              <a:avLst/>
              <a:gdLst/>
              <a:ahLst/>
              <a:cxnLst/>
              <a:rect r="r" b="b" t="t" l="l"/>
              <a:pathLst>
                <a:path h="1713959" w="16232911">
                  <a:moveTo>
                    <a:pt x="0" y="0"/>
                  </a:moveTo>
                  <a:lnTo>
                    <a:pt x="16232911" y="0"/>
                  </a:lnTo>
                  <a:lnTo>
                    <a:pt x="16232911" y="1713959"/>
                  </a:lnTo>
                  <a:lnTo>
                    <a:pt x="0" y="1713959"/>
                  </a:lnTo>
                  <a:close/>
                </a:path>
              </a:pathLst>
            </a:custGeom>
            <a:solidFill>
              <a:srgbClr val="54DF64"/>
            </a:solidFill>
          </p:spPr>
        </p:sp>
        <p:sp>
          <p:nvSpPr>
            <p:cNvPr name="TextBox 51" id="51"/>
            <p:cNvSpPr txBox="true"/>
            <p:nvPr/>
          </p:nvSpPr>
          <p:spPr>
            <a:xfrm>
              <a:off x="0" y="-47625"/>
              <a:ext cx="16232912" cy="1761584"/>
            </a:xfrm>
            <a:prstGeom prst="rect">
              <a:avLst/>
            </a:prstGeom>
          </p:spPr>
          <p:txBody>
            <a:bodyPr anchor="ctr" rtlCol="false" tIns="50800" lIns="50800" bIns="50800" rIns="50800"/>
            <a:lstStyle/>
            <a:p>
              <a:pPr algn="ctr">
                <a:lnSpc>
                  <a:spcPts val="2659"/>
                </a:lnSpc>
              </a:pPr>
            </a:p>
          </p:txBody>
        </p:sp>
      </p:grpSp>
      <p:grpSp>
        <p:nvGrpSpPr>
          <p:cNvPr name="Group 52" id="52"/>
          <p:cNvGrpSpPr/>
          <p:nvPr/>
        </p:nvGrpSpPr>
        <p:grpSpPr>
          <a:xfrm rot="0">
            <a:off x="-10445261" y="775641"/>
            <a:ext cx="14040076" cy="1467918"/>
            <a:chOff x="0" y="0"/>
            <a:chExt cx="16139061" cy="1687371"/>
          </a:xfrm>
        </p:grpSpPr>
        <p:sp>
          <p:nvSpPr>
            <p:cNvPr name="Freeform 53" id="53"/>
            <p:cNvSpPr/>
            <p:nvPr/>
          </p:nvSpPr>
          <p:spPr>
            <a:xfrm flipH="false" flipV="false" rot="0">
              <a:off x="0" y="0"/>
              <a:ext cx="16139061" cy="1687371"/>
            </a:xfrm>
            <a:custGeom>
              <a:avLst/>
              <a:gdLst/>
              <a:ahLst/>
              <a:cxnLst/>
              <a:rect r="r" b="b" t="t" l="l"/>
              <a:pathLst>
                <a:path h="1687371" w="16139061">
                  <a:moveTo>
                    <a:pt x="0" y="0"/>
                  </a:moveTo>
                  <a:lnTo>
                    <a:pt x="16139061" y="0"/>
                  </a:lnTo>
                  <a:lnTo>
                    <a:pt x="16139061" y="1687371"/>
                  </a:lnTo>
                  <a:lnTo>
                    <a:pt x="0" y="1687371"/>
                  </a:lnTo>
                  <a:close/>
                </a:path>
              </a:pathLst>
            </a:custGeom>
            <a:solidFill>
              <a:srgbClr val="000000"/>
            </a:solidFill>
          </p:spPr>
        </p:sp>
        <p:sp>
          <p:nvSpPr>
            <p:cNvPr name="TextBox 54" id="54"/>
            <p:cNvSpPr txBox="true"/>
            <p:nvPr/>
          </p:nvSpPr>
          <p:spPr>
            <a:xfrm>
              <a:off x="0" y="-47625"/>
              <a:ext cx="16139061" cy="1734996"/>
            </a:xfrm>
            <a:prstGeom prst="rect">
              <a:avLst/>
            </a:prstGeom>
          </p:spPr>
          <p:txBody>
            <a:bodyPr anchor="ctr" rtlCol="false" tIns="50800" lIns="50800" bIns="50800" rIns="50800"/>
            <a:lstStyle/>
            <a:p>
              <a:pPr algn="ctr">
                <a:lnSpc>
                  <a:spcPts val="2659"/>
                </a:lnSpc>
              </a:pPr>
            </a:p>
          </p:txBody>
        </p:sp>
      </p:grpSp>
      <p:sp>
        <p:nvSpPr>
          <p:cNvPr name="TextBox 55" id="55"/>
          <p:cNvSpPr txBox="true"/>
          <p:nvPr/>
        </p:nvSpPr>
        <p:spPr>
          <a:xfrm rot="0">
            <a:off x="645045" y="1162050"/>
            <a:ext cx="2702386"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5.</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ETL</a:t>
            </a:r>
          </a:p>
        </p:txBody>
      </p:sp>
      <p:grpSp>
        <p:nvGrpSpPr>
          <p:cNvPr name="Group 56" id="56"/>
          <p:cNvGrpSpPr/>
          <p:nvPr/>
        </p:nvGrpSpPr>
        <p:grpSpPr>
          <a:xfrm rot="0">
            <a:off x="267758" y="7838442"/>
            <a:ext cx="3830399" cy="11990319"/>
            <a:chOff x="0" y="0"/>
            <a:chExt cx="4403042" cy="13782865"/>
          </a:xfrm>
        </p:grpSpPr>
        <p:sp>
          <p:nvSpPr>
            <p:cNvPr name="Freeform 57" id="57"/>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58" id="58"/>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59" id="59"/>
          <p:cNvSpPr txBox="true"/>
          <p:nvPr/>
        </p:nvSpPr>
        <p:spPr>
          <a:xfrm rot="0">
            <a:off x="572124" y="8187468"/>
            <a:ext cx="3220275" cy="1070832"/>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Lectu</a:t>
            </a:r>
            <a:r>
              <a:rPr lang="en-US" sz="1900">
                <a:solidFill>
                  <a:srgbClr val="F8F6F0"/>
                </a:solidFill>
                <a:latin typeface="Cy Grotesk Key"/>
                <a:ea typeface="Cy Grotesk Key"/>
                <a:cs typeface="Cy Grotesk Key"/>
                <a:sym typeface="Cy Grotesk Key"/>
              </a:rPr>
              <a:t>ra de fuentes OLTP</a:t>
            </a:r>
          </a:p>
          <a:p>
            <a:pPr algn="ctr">
              <a:lnSpc>
                <a:spcPts val="2850"/>
              </a:lnSpc>
            </a:pPr>
            <a:r>
              <a:rPr lang="en-US" sz="1900">
                <a:solidFill>
                  <a:srgbClr val="F8F6F0"/>
                </a:solidFill>
                <a:latin typeface="Cy Grotesk Key"/>
                <a:ea typeface="Cy Grotesk Key"/>
                <a:cs typeface="Cy Grotesk Key"/>
                <a:sym typeface="Cy Grotesk Key"/>
              </a:rPr>
              <a:t>Full Load inicial</a:t>
            </a:r>
          </a:p>
          <a:p>
            <a:pPr algn="ctr">
              <a:lnSpc>
                <a:spcPts val="2850"/>
              </a:lnSpc>
            </a:pPr>
            <a:r>
              <a:rPr lang="en-US" sz="1900">
                <a:solidFill>
                  <a:srgbClr val="F8F6F0"/>
                </a:solidFill>
                <a:latin typeface="Cy Grotesk Key"/>
                <a:ea typeface="Cy Grotesk Key"/>
                <a:cs typeface="Cy Grotesk Key"/>
                <a:sym typeface="Cy Grotesk Key"/>
              </a:rPr>
              <a:t>Delta-Based incremental</a:t>
            </a:r>
          </a:p>
        </p:txBody>
      </p:sp>
      <p:grpSp>
        <p:nvGrpSpPr>
          <p:cNvPr name="Group 60" id="60"/>
          <p:cNvGrpSpPr/>
          <p:nvPr/>
        </p:nvGrpSpPr>
        <p:grpSpPr>
          <a:xfrm rot="0">
            <a:off x="4908221" y="7838442"/>
            <a:ext cx="3830399" cy="11990319"/>
            <a:chOff x="0" y="0"/>
            <a:chExt cx="4403042" cy="13782865"/>
          </a:xfrm>
        </p:grpSpPr>
        <p:sp>
          <p:nvSpPr>
            <p:cNvPr name="Freeform 61" id="61"/>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62" id="62"/>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63" id="63"/>
          <p:cNvSpPr txBox="true"/>
          <p:nvPr/>
        </p:nvSpPr>
        <p:spPr>
          <a:xfrm rot="0">
            <a:off x="5214680" y="8187468"/>
            <a:ext cx="3220275" cy="1070832"/>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Datos sin transformar</a:t>
            </a:r>
          </a:p>
          <a:p>
            <a:pPr algn="ctr">
              <a:lnSpc>
                <a:spcPts val="2850"/>
              </a:lnSpc>
            </a:pPr>
            <a:r>
              <a:rPr lang="en-US" sz="1900">
                <a:solidFill>
                  <a:srgbClr val="F8F6F0"/>
                </a:solidFill>
                <a:latin typeface="Cy Grotesk Key"/>
                <a:ea typeface="Cy Grotesk Key"/>
                <a:cs typeface="Cy Grotesk Key"/>
                <a:sym typeface="Cy Grotesk Key"/>
              </a:rPr>
              <a:t>Metadatos de carga</a:t>
            </a:r>
          </a:p>
          <a:p>
            <a:pPr algn="ctr">
              <a:lnSpc>
                <a:spcPts val="2850"/>
              </a:lnSpc>
            </a:pPr>
            <a:r>
              <a:rPr lang="en-US" sz="1900">
                <a:solidFill>
                  <a:srgbClr val="F8F6F0"/>
                </a:solidFill>
                <a:latin typeface="Cy Grotesk Key"/>
                <a:ea typeface="Cy Grotesk Key"/>
                <a:cs typeface="Cy Grotesk Key"/>
                <a:sym typeface="Cy Grotesk Key"/>
              </a:rPr>
              <a:t>Tablas de auditoría</a:t>
            </a:r>
          </a:p>
        </p:txBody>
      </p:sp>
      <p:grpSp>
        <p:nvGrpSpPr>
          <p:cNvPr name="Group 64" id="64"/>
          <p:cNvGrpSpPr/>
          <p:nvPr/>
        </p:nvGrpSpPr>
        <p:grpSpPr>
          <a:xfrm rot="0">
            <a:off x="9549380" y="7838442"/>
            <a:ext cx="3830399" cy="11990319"/>
            <a:chOff x="0" y="0"/>
            <a:chExt cx="4403042" cy="13782865"/>
          </a:xfrm>
        </p:grpSpPr>
        <p:sp>
          <p:nvSpPr>
            <p:cNvPr name="Freeform 65" id="65"/>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66" id="66"/>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67" id="67"/>
          <p:cNvSpPr txBox="true"/>
          <p:nvPr/>
        </p:nvSpPr>
        <p:spPr>
          <a:xfrm rot="0">
            <a:off x="9854442" y="8187468"/>
            <a:ext cx="3220275" cy="1070832"/>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Limpiez</a:t>
            </a:r>
            <a:r>
              <a:rPr lang="en-US" sz="1900">
                <a:solidFill>
                  <a:srgbClr val="F8F6F0"/>
                </a:solidFill>
                <a:latin typeface="Cy Grotesk Key"/>
                <a:ea typeface="Cy Grotesk Key"/>
                <a:cs typeface="Cy Grotesk Key"/>
                <a:sym typeface="Cy Grotesk Key"/>
              </a:rPr>
              <a:t>a y normalización</a:t>
            </a:r>
          </a:p>
          <a:p>
            <a:pPr algn="ctr">
              <a:lnSpc>
                <a:spcPts val="2850"/>
              </a:lnSpc>
            </a:pPr>
            <a:r>
              <a:rPr lang="en-US" sz="1900">
                <a:solidFill>
                  <a:srgbClr val="F8F6F0"/>
                </a:solidFill>
                <a:latin typeface="Cy Grotesk Key"/>
                <a:ea typeface="Cy Grotesk Key"/>
                <a:cs typeface="Cy Grotesk Key"/>
                <a:sym typeface="Cy Grotesk Key"/>
              </a:rPr>
              <a:t>Mapeo de </a:t>
            </a:r>
            <a:r>
              <a:rPr lang="en-US" sz="1900">
                <a:solidFill>
                  <a:srgbClr val="F8F6F0"/>
                </a:solidFill>
                <a:latin typeface="Cy Grotesk Key"/>
                <a:ea typeface="Cy Grotesk Key"/>
                <a:cs typeface="Cy Grotesk Key"/>
                <a:sym typeface="Cy Grotesk Key"/>
              </a:rPr>
              <a:t>deduplicados</a:t>
            </a:r>
          </a:p>
          <a:p>
            <a:pPr algn="ctr">
              <a:lnSpc>
                <a:spcPts val="2850"/>
              </a:lnSpc>
            </a:pPr>
            <a:r>
              <a:rPr lang="en-US" sz="1900">
                <a:solidFill>
                  <a:srgbClr val="F8F6F0"/>
                </a:solidFill>
                <a:latin typeface="Cy Grotesk Key"/>
                <a:ea typeface="Cy Grotesk Key"/>
                <a:cs typeface="Cy Grotesk Key"/>
                <a:sym typeface="Cy Grotesk Key"/>
              </a:rPr>
              <a:t>SCD y Surrog</a:t>
            </a:r>
            <a:r>
              <a:rPr lang="en-US" sz="1900">
                <a:solidFill>
                  <a:srgbClr val="F8F6F0"/>
                </a:solidFill>
                <a:latin typeface="Cy Grotesk Key"/>
                <a:ea typeface="Cy Grotesk Key"/>
                <a:cs typeface="Cy Grotesk Key"/>
                <a:sym typeface="Cy Grotesk Key"/>
              </a:rPr>
              <a:t>ate Keys</a:t>
            </a:r>
          </a:p>
        </p:txBody>
      </p:sp>
      <p:grpSp>
        <p:nvGrpSpPr>
          <p:cNvPr name="Group 68" id="68"/>
          <p:cNvGrpSpPr/>
          <p:nvPr/>
        </p:nvGrpSpPr>
        <p:grpSpPr>
          <a:xfrm rot="0">
            <a:off x="14189404" y="7838442"/>
            <a:ext cx="3830399" cy="11990319"/>
            <a:chOff x="0" y="0"/>
            <a:chExt cx="4403042" cy="13782865"/>
          </a:xfrm>
        </p:grpSpPr>
        <p:sp>
          <p:nvSpPr>
            <p:cNvPr name="Freeform 69" id="69"/>
            <p:cNvSpPr/>
            <p:nvPr/>
          </p:nvSpPr>
          <p:spPr>
            <a:xfrm flipH="false" flipV="false" rot="0">
              <a:off x="0" y="0"/>
              <a:ext cx="4403042" cy="13782866"/>
            </a:xfrm>
            <a:custGeom>
              <a:avLst/>
              <a:gdLst/>
              <a:ahLst/>
              <a:cxnLst/>
              <a:rect r="r" b="b" t="t" l="l"/>
              <a:pathLst>
                <a:path h="13782866" w="4403042">
                  <a:moveTo>
                    <a:pt x="0" y="0"/>
                  </a:moveTo>
                  <a:lnTo>
                    <a:pt x="4403042" y="0"/>
                  </a:lnTo>
                  <a:lnTo>
                    <a:pt x="4403042" y="13782866"/>
                  </a:lnTo>
                  <a:lnTo>
                    <a:pt x="0" y="13782866"/>
                  </a:lnTo>
                  <a:close/>
                </a:path>
              </a:pathLst>
            </a:custGeom>
            <a:solidFill>
              <a:srgbClr val="000000"/>
            </a:solidFill>
          </p:spPr>
        </p:sp>
        <p:sp>
          <p:nvSpPr>
            <p:cNvPr name="TextBox 70" id="70"/>
            <p:cNvSpPr txBox="true"/>
            <p:nvPr/>
          </p:nvSpPr>
          <p:spPr>
            <a:xfrm>
              <a:off x="0" y="-47625"/>
              <a:ext cx="4403042" cy="13830490"/>
            </a:xfrm>
            <a:prstGeom prst="rect">
              <a:avLst/>
            </a:prstGeom>
          </p:spPr>
          <p:txBody>
            <a:bodyPr anchor="ctr" rtlCol="false" tIns="50800" lIns="50800" bIns="50800" rIns="50800"/>
            <a:lstStyle/>
            <a:p>
              <a:pPr algn="ctr">
                <a:lnSpc>
                  <a:spcPts val="2659"/>
                </a:lnSpc>
              </a:pPr>
            </a:p>
          </p:txBody>
        </p:sp>
      </p:grpSp>
      <p:sp>
        <p:nvSpPr>
          <p:cNvPr name="TextBox 71" id="71"/>
          <p:cNvSpPr txBox="true"/>
          <p:nvPr/>
        </p:nvSpPr>
        <p:spPr>
          <a:xfrm rot="0">
            <a:off x="14494466" y="8200392"/>
            <a:ext cx="3220275" cy="1432857"/>
          </a:xfrm>
          <a:prstGeom prst="rect">
            <a:avLst/>
          </a:prstGeom>
        </p:spPr>
        <p:txBody>
          <a:bodyPr anchor="t" rtlCol="false" tIns="0" lIns="0" bIns="0" rIns="0">
            <a:spAutoFit/>
          </a:bodyPr>
          <a:lstStyle/>
          <a:p>
            <a:pPr algn="ctr">
              <a:lnSpc>
                <a:spcPts val="2850"/>
              </a:lnSpc>
            </a:pPr>
            <a:r>
              <a:rPr lang="en-US" sz="1900">
                <a:solidFill>
                  <a:srgbClr val="F8F6F0"/>
                </a:solidFill>
                <a:latin typeface="Cy Grotesk Key"/>
                <a:ea typeface="Cy Grotesk Key"/>
                <a:cs typeface="Cy Grotesk Key"/>
                <a:sym typeface="Cy Grotesk Key"/>
              </a:rPr>
              <a:t>Ca</a:t>
            </a:r>
            <a:r>
              <a:rPr lang="en-US" sz="1900">
                <a:solidFill>
                  <a:srgbClr val="F8F6F0"/>
                </a:solidFill>
                <a:latin typeface="Cy Grotesk Key"/>
                <a:ea typeface="Cy Grotesk Key"/>
                <a:cs typeface="Cy Grotesk Key"/>
                <a:sym typeface="Cy Grotesk Key"/>
              </a:rPr>
              <a:t>rga por lotes</a:t>
            </a:r>
          </a:p>
          <a:p>
            <a:pPr algn="ctr">
              <a:lnSpc>
                <a:spcPts val="2850"/>
              </a:lnSpc>
            </a:pPr>
            <a:r>
              <a:rPr lang="en-US" sz="1900">
                <a:solidFill>
                  <a:srgbClr val="F8F6F0"/>
                </a:solidFill>
                <a:latin typeface="Cy Grotesk Key"/>
                <a:ea typeface="Cy Grotesk Key"/>
                <a:cs typeface="Cy Grotesk Key"/>
                <a:sym typeface="Cy Grotesk Key"/>
              </a:rPr>
              <a:t>Inserción en dimensiones y hechos</a:t>
            </a:r>
          </a:p>
          <a:p>
            <a:pPr algn="ctr">
              <a:lnSpc>
                <a:spcPts val="2850"/>
              </a:lnSpc>
            </a:pP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6836" y="685868"/>
            <a:ext cx="19405901" cy="1491048"/>
            <a:chOff x="0" y="0"/>
            <a:chExt cx="22307074" cy="1713959"/>
          </a:xfrm>
        </p:grpSpPr>
        <p:sp>
          <p:nvSpPr>
            <p:cNvPr name="Freeform 3" id="3"/>
            <p:cNvSpPr/>
            <p:nvPr/>
          </p:nvSpPr>
          <p:spPr>
            <a:xfrm flipH="false" flipV="false" rot="0">
              <a:off x="0" y="0"/>
              <a:ext cx="22307074" cy="1713959"/>
            </a:xfrm>
            <a:custGeom>
              <a:avLst/>
              <a:gdLst/>
              <a:ahLst/>
              <a:cxnLst/>
              <a:rect r="r" b="b" t="t" l="l"/>
              <a:pathLst>
                <a:path h="1713959" w="22307074">
                  <a:moveTo>
                    <a:pt x="0" y="0"/>
                  </a:moveTo>
                  <a:lnTo>
                    <a:pt x="22307074" y="0"/>
                  </a:lnTo>
                  <a:lnTo>
                    <a:pt x="22307074" y="1713959"/>
                  </a:lnTo>
                  <a:lnTo>
                    <a:pt x="0" y="1713959"/>
                  </a:lnTo>
                  <a:close/>
                </a:path>
              </a:pathLst>
            </a:custGeom>
            <a:solidFill>
              <a:srgbClr val="54DF64"/>
            </a:solidFill>
          </p:spPr>
        </p:sp>
        <p:sp>
          <p:nvSpPr>
            <p:cNvPr name="TextBox 4" id="4"/>
            <p:cNvSpPr txBox="true"/>
            <p:nvPr/>
          </p:nvSpPr>
          <p:spPr>
            <a:xfrm>
              <a:off x="0" y="-47625"/>
              <a:ext cx="22307074"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19295688" cy="1467918"/>
            <a:chOff x="0" y="0"/>
            <a:chExt cx="22180384" cy="1687371"/>
          </a:xfrm>
        </p:grpSpPr>
        <p:sp>
          <p:nvSpPr>
            <p:cNvPr name="Freeform 6" id="6"/>
            <p:cNvSpPr/>
            <p:nvPr/>
          </p:nvSpPr>
          <p:spPr>
            <a:xfrm flipH="false" flipV="false" rot="0">
              <a:off x="0" y="0"/>
              <a:ext cx="22180384" cy="1687371"/>
            </a:xfrm>
            <a:custGeom>
              <a:avLst/>
              <a:gdLst/>
              <a:ahLst/>
              <a:cxnLst/>
              <a:rect r="r" b="b" t="t" l="l"/>
              <a:pathLst>
                <a:path h="1687371" w="22180384">
                  <a:moveTo>
                    <a:pt x="0" y="0"/>
                  </a:moveTo>
                  <a:lnTo>
                    <a:pt x="22180384" y="0"/>
                  </a:lnTo>
                  <a:lnTo>
                    <a:pt x="22180384" y="1687371"/>
                  </a:lnTo>
                  <a:lnTo>
                    <a:pt x="0" y="1687371"/>
                  </a:lnTo>
                  <a:close/>
                </a:path>
              </a:pathLst>
            </a:custGeom>
            <a:solidFill>
              <a:srgbClr val="000000"/>
            </a:solidFill>
          </p:spPr>
        </p:sp>
        <p:sp>
          <p:nvSpPr>
            <p:cNvPr name="TextBox 7" id="7"/>
            <p:cNvSpPr txBox="true"/>
            <p:nvPr/>
          </p:nvSpPr>
          <p:spPr>
            <a:xfrm>
              <a:off x="0" y="-47625"/>
              <a:ext cx="22180384"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14638628"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5.</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Tablas a</a:t>
            </a:r>
            <a:r>
              <a:rPr lang="en-US" sz="5600">
                <a:solidFill>
                  <a:srgbClr val="F8F6F0"/>
                </a:solidFill>
                <a:latin typeface="Cy Grotesk Wide"/>
                <a:ea typeface="Cy Grotesk Wide"/>
                <a:cs typeface="Cy Grotesk Wide"/>
                <a:sym typeface="Cy Grotesk Wide"/>
              </a:rPr>
              <a:t>uxiliares</a:t>
            </a:r>
          </a:p>
        </p:txBody>
      </p:sp>
      <p:grpSp>
        <p:nvGrpSpPr>
          <p:cNvPr name="Group 9" id="9"/>
          <p:cNvGrpSpPr/>
          <p:nvPr/>
        </p:nvGrpSpPr>
        <p:grpSpPr>
          <a:xfrm rot="0">
            <a:off x="1247797" y="6216991"/>
            <a:ext cx="4495206" cy="6261351"/>
            <a:chOff x="0" y="0"/>
            <a:chExt cx="5167237" cy="7197420"/>
          </a:xfrm>
        </p:grpSpPr>
        <p:sp>
          <p:nvSpPr>
            <p:cNvPr name="Freeform 10" id="10"/>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11" id="11"/>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2700000">
            <a:off x="2420521" y="3534262"/>
            <a:ext cx="1028829" cy="10288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14" id="14"/>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2510347" y="6216991"/>
            <a:ext cx="4495206" cy="6261351"/>
            <a:chOff x="0" y="0"/>
            <a:chExt cx="5167237" cy="7197420"/>
          </a:xfrm>
        </p:grpSpPr>
        <p:sp>
          <p:nvSpPr>
            <p:cNvPr name="Freeform 16" id="16"/>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17" id="17"/>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896397" y="6216991"/>
            <a:ext cx="4495206" cy="6261351"/>
            <a:chOff x="0" y="0"/>
            <a:chExt cx="5167237" cy="7197420"/>
          </a:xfrm>
        </p:grpSpPr>
        <p:sp>
          <p:nvSpPr>
            <p:cNvPr name="Freeform 19" id="19"/>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20" id="20"/>
            <p:cNvSpPr txBox="true"/>
            <p:nvPr/>
          </p:nvSpPr>
          <p:spPr>
            <a:xfrm>
              <a:off x="0" y="-47625"/>
              <a:ext cx="5167237" cy="7245045"/>
            </a:xfrm>
            <a:prstGeom prst="rect">
              <a:avLst/>
            </a:prstGeom>
          </p:spPr>
          <p:txBody>
            <a:bodyPr anchor="ctr" rtlCol="false" tIns="50800" lIns="50800" bIns="50800" rIns="50800"/>
            <a:lstStyle/>
            <a:p>
              <a:pPr algn="ctr">
                <a:lnSpc>
                  <a:spcPts val="2659"/>
                </a:lnSpc>
              </a:pPr>
              <a:r>
                <a:rPr lang="en-US" sz="1899">
                  <a:solidFill>
                    <a:srgbClr val="000000"/>
                  </a:solidFill>
                  <a:latin typeface="Cy Grotesk Key"/>
                  <a:ea typeface="Cy Grotesk Key"/>
                  <a:cs typeface="Cy Grotesk Key"/>
                  <a:sym typeface="Cy Grotesk Key"/>
                </a:rPr>
                <a:t>P</a:t>
              </a:r>
            </a:p>
          </p:txBody>
        </p:sp>
      </p:grpSp>
      <p:sp>
        <p:nvSpPr>
          <p:cNvPr name="TextBox 21" id="21"/>
          <p:cNvSpPr txBox="true"/>
          <p:nvPr/>
        </p:nvSpPr>
        <p:spPr>
          <a:xfrm rot="0">
            <a:off x="1586404" y="6526271"/>
            <a:ext cx="3795519" cy="1586567"/>
          </a:xfrm>
          <a:prstGeom prst="rect">
            <a:avLst/>
          </a:prstGeom>
        </p:spPr>
        <p:txBody>
          <a:bodyPr anchor="t" rtlCol="false" tIns="0" lIns="0" bIns="0" rIns="0">
            <a:spAutoFit/>
          </a:bodyPr>
          <a:lstStyle/>
          <a:p>
            <a:pPr algn="ctr">
              <a:lnSpc>
                <a:spcPts val="3150"/>
              </a:lnSpc>
            </a:pPr>
            <a:r>
              <a:rPr lang="en-US" sz="2100">
                <a:solidFill>
                  <a:srgbClr val="F8F6F0"/>
                </a:solidFill>
                <a:latin typeface="Cy Grotesk Key"/>
                <a:ea typeface="Cy Grotesk Key"/>
                <a:cs typeface="Cy Grotesk Key"/>
                <a:sym typeface="Cy Grotesk Key"/>
              </a:rPr>
              <a:t>Registra y limpia alumnos duplicados luego del control de DNI, evitando inscripciones huerfanas</a:t>
            </a:r>
          </a:p>
        </p:txBody>
      </p:sp>
      <p:sp>
        <p:nvSpPr>
          <p:cNvPr name="TextBox 22" id="22"/>
          <p:cNvSpPr txBox="true"/>
          <p:nvPr/>
        </p:nvSpPr>
        <p:spPr>
          <a:xfrm rot="0">
            <a:off x="7248602" y="6560337"/>
            <a:ext cx="3756147" cy="1575965"/>
          </a:xfrm>
          <a:prstGeom prst="rect">
            <a:avLst/>
          </a:prstGeom>
        </p:spPr>
        <p:txBody>
          <a:bodyPr anchor="t" rtlCol="false" tIns="0" lIns="0" bIns="0" rIns="0">
            <a:spAutoFit/>
          </a:bodyPr>
          <a:lstStyle/>
          <a:p>
            <a:pPr algn="ctr">
              <a:lnSpc>
                <a:spcPts val="3192"/>
              </a:lnSpc>
            </a:pPr>
            <a:r>
              <a:rPr lang="en-US" sz="2128">
                <a:solidFill>
                  <a:srgbClr val="F8F6F0"/>
                </a:solidFill>
                <a:latin typeface="Cy Grotesk Key"/>
                <a:ea typeface="Cy Grotesk Key"/>
                <a:cs typeface="Cy Grotesk Key"/>
                <a:sym typeface="Cy Grotesk Key"/>
              </a:rPr>
              <a:t>Registra y limpia inscripciones duplicadas luego de unificar alumnos, ordenando sus examenes</a:t>
            </a:r>
          </a:p>
        </p:txBody>
      </p:sp>
      <p:sp>
        <p:nvSpPr>
          <p:cNvPr name="TextBox 23" id="23"/>
          <p:cNvSpPr txBox="true"/>
          <p:nvPr/>
        </p:nvSpPr>
        <p:spPr>
          <a:xfrm rot="0">
            <a:off x="12906211" y="6525193"/>
            <a:ext cx="3659825" cy="1986543"/>
          </a:xfrm>
          <a:prstGeom prst="rect">
            <a:avLst/>
          </a:prstGeom>
        </p:spPr>
        <p:txBody>
          <a:bodyPr anchor="t" rtlCol="false" tIns="0" lIns="0" bIns="0" rIns="0">
            <a:spAutoFit/>
          </a:bodyPr>
          <a:lstStyle/>
          <a:p>
            <a:pPr algn="ctr">
              <a:lnSpc>
                <a:spcPts val="3150"/>
              </a:lnSpc>
            </a:pPr>
            <a:r>
              <a:rPr lang="en-US" sz="2100">
                <a:solidFill>
                  <a:srgbClr val="F8F6F0"/>
                </a:solidFill>
                <a:latin typeface="Cy Grotesk Key"/>
                <a:ea typeface="Cy Grotesk Key"/>
                <a:cs typeface="Cy Grotesk Key"/>
                <a:sym typeface="Cy Grotesk Key"/>
              </a:rPr>
              <a:t>Centraliza watermarks para asegurar una carga incremental eficiente, auditable y tolerante a fallos</a:t>
            </a:r>
          </a:p>
        </p:txBody>
      </p:sp>
      <p:grpSp>
        <p:nvGrpSpPr>
          <p:cNvPr name="Group 24" id="24"/>
          <p:cNvGrpSpPr/>
          <p:nvPr/>
        </p:nvGrpSpPr>
        <p:grpSpPr>
          <a:xfrm rot="0">
            <a:off x="892958" y="4975167"/>
            <a:ext cx="5204885" cy="766019"/>
            <a:chOff x="0" y="0"/>
            <a:chExt cx="1370834" cy="201750"/>
          </a:xfrm>
        </p:grpSpPr>
        <p:sp>
          <p:nvSpPr>
            <p:cNvPr name="Freeform 25" id="25"/>
            <p:cNvSpPr/>
            <p:nvPr/>
          </p:nvSpPr>
          <p:spPr>
            <a:xfrm flipH="false" flipV="false" rot="0">
              <a:off x="0" y="0"/>
              <a:ext cx="1370834" cy="201750"/>
            </a:xfrm>
            <a:custGeom>
              <a:avLst/>
              <a:gdLst/>
              <a:ahLst/>
              <a:cxnLst/>
              <a:rect r="r" b="b" t="t" l="l"/>
              <a:pathLst>
                <a:path h="201750" w="1370834">
                  <a:moveTo>
                    <a:pt x="75859" y="0"/>
                  </a:moveTo>
                  <a:lnTo>
                    <a:pt x="1294975" y="0"/>
                  </a:lnTo>
                  <a:cubicBezTo>
                    <a:pt x="1315094" y="0"/>
                    <a:pt x="1334389" y="7992"/>
                    <a:pt x="1348615" y="22219"/>
                  </a:cubicBezTo>
                  <a:cubicBezTo>
                    <a:pt x="1362842" y="36445"/>
                    <a:pt x="1370834" y="55740"/>
                    <a:pt x="1370834" y="75859"/>
                  </a:cubicBezTo>
                  <a:lnTo>
                    <a:pt x="1370834" y="125891"/>
                  </a:lnTo>
                  <a:cubicBezTo>
                    <a:pt x="1370834" y="146010"/>
                    <a:pt x="1362842" y="165305"/>
                    <a:pt x="1348615" y="179531"/>
                  </a:cubicBezTo>
                  <a:cubicBezTo>
                    <a:pt x="1334389" y="193758"/>
                    <a:pt x="1315094" y="201750"/>
                    <a:pt x="1294975" y="201750"/>
                  </a:cubicBezTo>
                  <a:lnTo>
                    <a:pt x="75859" y="201750"/>
                  </a:lnTo>
                  <a:cubicBezTo>
                    <a:pt x="55740" y="201750"/>
                    <a:pt x="36445" y="193758"/>
                    <a:pt x="22219" y="179531"/>
                  </a:cubicBezTo>
                  <a:cubicBezTo>
                    <a:pt x="7992" y="165305"/>
                    <a:pt x="0" y="146010"/>
                    <a:pt x="0" y="125891"/>
                  </a:cubicBezTo>
                  <a:lnTo>
                    <a:pt x="0" y="75859"/>
                  </a:lnTo>
                  <a:cubicBezTo>
                    <a:pt x="0" y="55740"/>
                    <a:pt x="7992" y="36445"/>
                    <a:pt x="22219" y="22219"/>
                  </a:cubicBezTo>
                  <a:cubicBezTo>
                    <a:pt x="36445" y="7992"/>
                    <a:pt x="55740" y="0"/>
                    <a:pt x="75859" y="0"/>
                  </a:cubicBezTo>
                  <a:close/>
                </a:path>
              </a:pathLst>
            </a:custGeom>
            <a:solidFill>
              <a:srgbClr val="F8F6F0"/>
            </a:solidFill>
            <a:ln w="38100" cap="rnd">
              <a:solidFill>
                <a:srgbClr val="000000"/>
              </a:solidFill>
              <a:prstDash val="solid"/>
              <a:round/>
            </a:ln>
          </p:spPr>
        </p:sp>
        <p:sp>
          <p:nvSpPr>
            <p:cNvPr name="TextBox 26" id="26"/>
            <p:cNvSpPr txBox="true"/>
            <p:nvPr/>
          </p:nvSpPr>
          <p:spPr>
            <a:xfrm>
              <a:off x="0" y="-47625"/>
              <a:ext cx="1370834" cy="249375"/>
            </a:xfrm>
            <a:prstGeom prst="rect">
              <a:avLst/>
            </a:prstGeom>
          </p:spPr>
          <p:txBody>
            <a:bodyPr anchor="ctr" rtlCol="false" tIns="50800" lIns="50800" bIns="50800" rIns="50800"/>
            <a:lstStyle/>
            <a:p>
              <a:pPr algn="ctr">
                <a:lnSpc>
                  <a:spcPts val="2659"/>
                </a:lnSpc>
              </a:pPr>
              <a:r>
                <a:rPr lang="en-US" sz="1899">
                  <a:solidFill>
                    <a:srgbClr val="54DF64"/>
                  </a:solidFill>
                  <a:latin typeface="Cy Grotesk Wide"/>
                  <a:ea typeface="Cy Grotesk Wide"/>
                  <a:cs typeface="Cy Grotesk Wide"/>
                  <a:sym typeface="Cy Grotesk Wide"/>
                </a:rPr>
                <a:t>ESTUDIANTES_REPETIDOS</a:t>
              </a:r>
            </a:p>
          </p:txBody>
        </p:sp>
      </p:grpSp>
      <p:grpSp>
        <p:nvGrpSpPr>
          <p:cNvPr name="Group 27" id="27"/>
          <p:cNvGrpSpPr/>
          <p:nvPr/>
        </p:nvGrpSpPr>
        <p:grpSpPr>
          <a:xfrm rot="0">
            <a:off x="6541557" y="4975167"/>
            <a:ext cx="5204885" cy="766019"/>
            <a:chOff x="0" y="0"/>
            <a:chExt cx="1370834" cy="201750"/>
          </a:xfrm>
        </p:grpSpPr>
        <p:sp>
          <p:nvSpPr>
            <p:cNvPr name="Freeform 28" id="28"/>
            <p:cNvSpPr/>
            <p:nvPr/>
          </p:nvSpPr>
          <p:spPr>
            <a:xfrm flipH="false" flipV="false" rot="0">
              <a:off x="0" y="0"/>
              <a:ext cx="1370834" cy="201750"/>
            </a:xfrm>
            <a:custGeom>
              <a:avLst/>
              <a:gdLst/>
              <a:ahLst/>
              <a:cxnLst/>
              <a:rect r="r" b="b" t="t" l="l"/>
              <a:pathLst>
                <a:path h="201750" w="1370834">
                  <a:moveTo>
                    <a:pt x="75859" y="0"/>
                  </a:moveTo>
                  <a:lnTo>
                    <a:pt x="1294975" y="0"/>
                  </a:lnTo>
                  <a:cubicBezTo>
                    <a:pt x="1315094" y="0"/>
                    <a:pt x="1334389" y="7992"/>
                    <a:pt x="1348615" y="22219"/>
                  </a:cubicBezTo>
                  <a:cubicBezTo>
                    <a:pt x="1362842" y="36445"/>
                    <a:pt x="1370834" y="55740"/>
                    <a:pt x="1370834" y="75859"/>
                  </a:cubicBezTo>
                  <a:lnTo>
                    <a:pt x="1370834" y="125891"/>
                  </a:lnTo>
                  <a:cubicBezTo>
                    <a:pt x="1370834" y="146010"/>
                    <a:pt x="1362842" y="165305"/>
                    <a:pt x="1348615" y="179531"/>
                  </a:cubicBezTo>
                  <a:cubicBezTo>
                    <a:pt x="1334389" y="193758"/>
                    <a:pt x="1315094" y="201750"/>
                    <a:pt x="1294975" y="201750"/>
                  </a:cubicBezTo>
                  <a:lnTo>
                    <a:pt x="75859" y="201750"/>
                  </a:lnTo>
                  <a:cubicBezTo>
                    <a:pt x="55740" y="201750"/>
                    <a:pt x="36445" y="193758"/>
                    <a:pt x="22219" y="179531"/>
                  </a:cubicBezTo>
                  <a:cubicBezTo>
                    <a:pt x="7992" y="165305"/>
                    <a:pt x="0" y="146010"/>
                    <a:pt x="0" y="125891"/>
                  </a:cubicBezTo>
                  <a:lnTo>
                    <a:pt x="0" y="75859"/>
                  </a:lnTo>
                  <a:cubicBezTo>
                    <a:pt x="0" y="55740"/>
                    <a:pt x="7992" y="36445"/>
                    <a:pt x="22219" y="22219"/>
                  </a:cubicBezTo>
                  <a:cubicBezTo>
                    <a:pt x="36445" y="7992"/>
                    <a:pt x="55740" y="0"/>
                    <a:pt x="75859" y="0"/>
                  </a:cubicBezTo>
                  <a:close/>
                </a:path>
              </a:pathLst>
            </a:custGeom>
            <a:solidFill>
              <a:srgbClr val="F8F6F0"/>
            </a:solidFill>
            <a:ln w="38100" cap="rnd">
              <a:solidFill>
                <a:srgbClr val="000000"/>
              </a:solidFill>
              <a:prstDash val="solid"/>
              <a:round/>
            </a:ln>
          </p:spPr>
        </p:sp>
        <p:sp>
          <p:nvSpPr>
            <p:cNvPr name="TextBox 29" id="29"/>
            <p:cNvSpPr txBox="true"/>
            <p:nvPr/>
          </p:nvSpPr>
          <p:spPr>
            <a:xfrm>
              <a:off x="0" y="-47625"/>
              <a:ext cx="1370834" cy="249375"/>
            </a:xfrm>
            <a:prstGeom prst="rect">
              <a:avLst/>
            </a:prstGeom>
          </p:spPr>
          <p:txBody>
            <a:bodyPr anchor="ctr" rtlCol="false" tIns="50800" lIns="50800" bIns="50800" rIns="50800"/>
            <a:lstStyle/>
            <a:p>
              <a:pPr algn="ctr" marL="0" indent="0" lvl="0">
                <a:lnSpc>
                  <a:spcPts val="2659"/>
                </a:lnSpc>
                <a:spcBef>
                  <a:spcPct val="0"/>
                </a:spcBef>
              </a:pPr>
              <a:r>
                <a:rPr lang="en-US" sz="1899">
                  <a:solidFill>
                    <a:srgbClr val="54DF64"/>
                  </a:solidFill>
                  <a:latin typeface="Cy Grotesk Wide"/>
                  <a:ea typeface="Cy Grotesk Wide"/>
                  <a:cs typeface="Cy Grotesk Wide"/>
                  <a:sym typeface="Cy Grotesk Wide"/>
                </a:rPr>
                <a:t>INSC</a:t>
              </a:r>
              <a:r>
                <a:rPr lang="en-US" sz="1899" u="none">
                  <a:solidFill>
                    <a:srgbClr val="54DF64"/>
                  </a:solidFill>
                  <a:latin typeface="Cy Grotesk Wide"/>
                  <a:ea typeface="Cy Grotesk Wide"/>
                  <a:cs typeface="Cy Grotesk Wide"/>
                  <a:sym typeface="Cy Grotesk Wide"/>
                </a:rPr>
                <a:t>RIPCIONES_REPETIDAS</a:t>
              </a:r>
            </a:p>
          </p:txBody>
        </p:sp>
      </p:grpSp>
      <p:grpSp>
        <p:nvGrpSpPr>
          <p:cNvPr name="Group 30" id="30"/>
          <p:cNvGrpSpPr/>
          <p:nvPr/>
        </p:nvGrpSpPr>
        <p:grpSpPr>
          <a:xfrm rot="0">
            <a:off x="12194118" y="4975167"/>
            <a:ext cx="5204885" cy="766019"/>
            <a:chOff x="0" y="0"/>
            <a:chExt cx="1370834" cy="201750"/>
          </a:xfrm>
        </p:grpSpPr>
        <p:sp>
          <p:nvSpPr>
            <p:cNvPr name="Freeform 31" id="31"/>
            <p:cNvSpPr/>
            <p:nvPr/>
          </p:nvSpPr>
          <p:spPr>
            <a:xfrm flipH="false" flipV="false" rot="0">
              <a:off x="0" y="0"/>
              <a:ext cx="1370834" cy="201750"/>
            </a:xfrm>
            <a:custGeom>
              <a:avLst/>
              <a:gdLst/>
              <a:ahLst/>
              <a:cxnLst/>
              <a:rect r="r" b="b" t="t" l="l"/>
              <a:pathLst>
                <a:path h="201750" w="1370834">
                  <a:moveTo>
                    <a:pt x="75859" y="0"/>
                  </a:moveTo>
                  <a:lnTo>
                    <a:pt x="1294975" y="0"/>
                  </a:lnTo>
                  <a:cubicBezTo>
                    <a:pt x="1315094" y="0"/>
                    <a:pt x="1334389" y="7992"/>
                    <a:pt x="1348615" y="22219"/>
                  </a:cubicBezTo>
                  <a:cubicBezTo>
                    <a:pt x="1362842" y="36445"/>
                    <a:pt x="1370834" y="55740"/>
                    <a:pt x="1370834" y="75859"/>
                  </a:cubicBezTo>
                  <a:lnTo>
                    <a:pt x="1370834" y="125891"/>
                  </a:lnTo>
                  <a:cubicBezTo>
                    <a:pt x="1370834" y="146010"/>
                    <a:pt x="1362842" y="165305"/>
                    <a:pt x="1348615" y="179531"/>
                  </a:cubicBezTo>
                  <a:cubicBezTo>
                    <a:pt x="1334389" y="193758"/>
                    <a:pt x="1315094" y="201750"/>
                    <a:pt x="1294975" y="201750"/>
                  </a:cubicBezTo>
                  <a:lnTo>
                    <a:pt x="75859" y="201750"/>
                  </a:lnTo>
                  <a:cubicBezTo>
                    <a:pt x="55740" y="201750"/>
                    <a:pt x="36445" y="193758"/>
                    <a:pt x="22219" y="179531"/>
                  </a:cubicBezTo>
                  <a:cubicBezTo>
                    <a:pt x="7992" y="165305"/>
                    <a:pt x="0" y="146010"/>
                    <a:pt x="0" y="125891"/>
                  </a:cubicBezTo>
                  <a:lnTo>
                    <a:pt x="0" y="75859"/>
                  </a:lnTo>
                  <a:cubicBezTo>
                    <a:pt x="0" y="55740"/>
                    <a:pt x="7992" y="36445"/>
                    <a:pt x="22219" y="22219"/>
                  </a:cubicBezTo>
                  <a:cubicBezTo>
                    <a:pt x="36445" y="7992"/>
                    <a:pt x="55740" y="0"/>
                    <a:pt x="75859" y="0"/>
                  </a:cubicBezTo>
                  <a:close/>
                </a:path>
              </a:pathLst>
            </a:custGeom>
            <a:solidFill>
              <a:srgbClr val="F8F6F0"/>
            </a:solidFill>
            <a:ln w="38100" cap="rnd">
              <a:solidFill>
                <a:srgbClr val="000000"/>
              </a:solidFill>
              <a:prstDash val="solid"/>
              <a:round/>
            </a:ln>
          </p:spPr>
        </p:sp>
        <p:sp>
          <p:nvSpPr>
            <p:cNvPr name="TextBox 32" id="32"/>
            <p:cNvSpPr txBox="true"/>
            <p:nvPr/>
          </p:nvSpPr>
          <p:spPr>
            <a:xfrm>
              <a:off x="0" y="-47625"/>
              <a:ext cx="1370834" cy="249375"/>
            </a:xfrm>
            <a:prstGeom prst="rect">
              <a:avLst/>
            </a:prstGeom>
          </p:spPr>
          <p:txBody>
            <a:bodyPr anchor="ctr" rtlCol="false" tIns="50800" lIns="50800" bIns="50800" rIns="50800"/>
            <a:lstStyle/>
            <a:p>
              <a:pPr algn="ctr" marL="0" indent="0" lvl="0">
                <a:lnSpc>
                  <a:spcPts val="2659"/>
                </a:lnSpc>
                <a:spcBef>
                  <a:spcPct val="0"/>
                </a:spcBef>
              </a:pPr>
              <a:r>
                <a:rPr lang="en-US" sz="1899">
                  <a:solidFill>
                    <a:srgbClr val="54DF64"/>
                  </a:solidFill>
                  <a:latin typeface="Cy Grotesk Wide"/>
                  <a:ea typeface="Cy Grotesk Wide"/>
                  <a:cs typeface="Cy Grotesk Wide"/>
                  <a:sym typeface="Cy Grotesk Wide"/>
                </a:rPr>
                <a:t>ETL_</a:t>
              </a:r>
              <a:r>
                <a:rPr lang="en-US" sz="1899" u="none">
                  <a:solidFill>
                    <a:srgbClr val="54DF64"/>
                  </a:solidFill>
                  <a:latin typeface="Cy Grotesk Wide"/>
                  <a:ea typeface="Cy Grotesk Wide"/>
                  <a:cs typeface="Cy Grotesk Wide"/>
                  <a:sym typeface="Cy Grotesk Wide"/>
                </a:rPr>
                <a:t>AUDITORIA_INCREMENTAL</a:t>
              </a:r>
            </a:p>
          </p:txBody>
        </p:sp>
      </p:grpSp>
      <p:sp>
        <p:nvSpPr>
          <p:cNvPr name="TextBox 33" id="33"/>
          <p:cNvSpPr txBox="true"/>
          <p:nvPr/>
        </p:nvSpPr>
        <p:spPr>
          <a:xfrm rot="0">
            <a:off x="2490483" y="3698935"/>
            <a:ext cx="2343889" cy="842357"/>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01</a:t>
            </a:r>
          </a:p>
        </p:txBody>
      </p:sp>
      <p:grpSp>
        <p:nvGrpSpPr>
          <p:cNvPr name="Group 34" id="34"/>
          <p:cNvGrpSpPr/>
          <p:nvPr/>
        </p:nvGrpSpPr>
        <p:grpSpPr>
          <a:xfrm rot="2700000">
            <a:off x="8071660" y="3534262"/>
            <a:ext cx="1028829" cy="1028829"/>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36" id="36"/>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8143992" y="3698906"/>
            <a:ext cx="2343889" cy="842416"/>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02</a:t>
            </a:r>
          </a:p>
        </p:txBody>
      </p:sp>
      <p:grpSp>
        <p:nvGrpSpPr>
          <p:cNvPr name="Group 38" id="38"/>
          <p:cNvGrpSpPr/>
          <p:nvPr/>
        </p:nvGrpSpPr>
        <p:grpSpPr>
          <a:xfrm rot="2700000">
            <a:off x="13727539" y="3534262"/>
            <a:ext cx="1028829" cy="1028829"/>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40" id="40"/>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sp>
        <p:nvSpPr>
          <p:cNvPr name="TextBox 41" id="41"/>
          <p:cNvSpPr txBox="true"/>
          <p:nvPr/>
        </p:nvSpPr>
        <p:spPr>
          <a:xfrm rot="0">
            <a:off x="13797501" y="3698906"/>
            <a:ext cx="2343889" cy="842416"/>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03</a:t>
            </a: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6537" y="707270"/>
            <a:ext cx="17874791" cy="1491048"/>
            <a:chOff x="0" y="0"/>
            <a:chExt cx="20547064" cy="1713959"/>
          </a:xfrm>
        </p:grpSpPr>
        <p:sp>
          <p:nvSpPr>
            <p:cNvPr name="Freeform 3" id="3"/>
            <p:cNvSpPr/>
            <p:nvPr/>
          </p:nvSpPr>
          <p:spPr>
            <a:xfrm flipH="false" flipV="false" rot="0">
              <a:off x="0" y="0"/>
              <a:ext cx="20547064" cy="1713959"/>
            </a:xfrm>
            <a:custGeom>
              <a:avLst/>
              <a:gdLst/>
              <a:ahLst/>
              <a:cxnLst/>
              <a:rect r="r" b="b" t="t" l="l"/>
              <a:pathLst>
                <a:path h="1713959" w="20547064">
                  <a:moveTo>
                    <a:pt x="0" y="0"/>
                  </a:moveTo>
                  <a:lnTo>
                    <a:pt x="20547064" y="0"/>
                  </a:lnTo>
                  <a:lnTo>
                    <a:pt x="20547064" y="1713959"/>
                  </a:lnTo>
                  <a:lnTo>
                    <a:pt x="0" y="1713959"/>
                  </a:lnTo>
                  <a:close/>
                </a:path>
              </a:pathLst>
            </a:custGeom>
            <a:solidFill>
              <a:srgbClr val="54DF64"/>
            </a:solidFill>
          </p:spPr>
        </p:sp>
        <p:sp>
          <p:nvSpPr>
            <p:cNvPr name="TextBox 4" id="4"/>
            <p:cNvSpPr txBox="true"/>
            <p:nvPr/>
          </p:nvSpPr>
          <p:spPr>
            <a:xfrm>
              <a:off x="0" y="-47625"/>
              <a:ext cx="20547064"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17852619" cy="1467918"/>
            <a:chOff x="0" y="0"/>
            <a:chExt cx="20521577" cy="1687371"/>
          </a:xfrm>
        </p:grpSpPr>
        <p:sp>
          <p:nvSpPr>
            <p:cNvPr name="Freeform 6" id="6"/>
            <p:cNvSpPr/>
            <p:nvPr/>
          </p:nvSpPr>
          <p:spPr>
            <a:xfrm flipH="false" flipV="false" rot="0">
              <a:off x="0" y="0"/>
              <a:ext cx="20521577" cy="1687371"/>
            </a:xfrm>
            <a:custGeom>
              <a:avLst/>
              <a:gdLst/>
              <a:ahLst/>
              <a:cxnLst/>
              <a:rect r="r" b="b" t="t" l="l"/>
              <a:pathLst>
                <a:path h="1687371" w="20521577">
                  <a:moveTo>
                    <a:pt x="0" y="0"/>
                  </a:moveTo>
                  <a:lnTo>
                    <a:pt x="20521577" y="0"/>
                  </a:lnTo>
                  <a:lnTo>
                    <a:pt x="20521577" y="1687371"/>
                  </a:lnTo>
                  <a:lnTo>
                    <a:pt x="0" y="1687371"/>
                  </a:lnTo>
                  <a:close/>
                </a:path>
              </a:pathLst>
            </a:custGeom>
            <a:solidFill>
              <a:srgbClr val="000000"/>
            </a:solidFill>
          </p:spPr>
        </p:sp>
        <p:sp>
          <p:nvSpPr>
            <p:cNvPr name="TextBox 7" id="7"/>
            <p:cNvSpPr txBox="true"/>
            <p:nvPr/>
          </p:nvSpPr>
          <p:spPr>
            <a:xfrm>
              <a:off x="0" y="-47625"/>
              <a:ext cx="20521577"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14638628"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6.</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Visualización</a:t>
            </a:r>
          </a:p>
        </p:txBody>
      </p:sp>
      <p:grpSp>
        <p:nvGrpSpPr>
          <p:cNvPr name="Group 9" id="9"/>
          <p:cNvGrpSpPr/>
          <p:nvPr/>
        </p:nvGrpSpPr>
        <p:grpSpPr>
          <a:xfrm rot="0">
            <a:off x="1285366" y="2893114"/>
            <a:ext cx="15701497" cy="1738326"/>
            <a:chOff x="0" y="0"/>
            <a:chExt cx="18048863" cy="1998205"/>
          </a:xfrm>
        </p:grpSpPr>
        <p:sp>
          <p:nvSpPr>
            <p:cNvPr name="Freeform 10" id="10"/>
            <p:cNvSpPr/>
            <p:nvPr/>
          </p:nvSpPr>
          <p:spPr>
            <a:xfrm flipH="false" flipV="false" rot="0">
              <a:off x="0" y="0"/>
              <a:ext cx="18048863" cy="1998205"/>
            </a:xfrm>
            <a:custGeom>
              <a:avLst/>
              <a:gdLst/>
              <a:ahLst/>
              <a:cxnLst/>
              <a:rect r="r" b="b" t="t" l="l"/>
              <a:pathLst>
                <a:path h="1998205" w="18048863">
                  <a:moveTo>
                    <a:pt x="0" y="0"/>
                  </a:moveTo>
                  <a:lnTo>
                    <a:pt x="18048863" y="0"/>
                  </a:lnTo>
                  <a:lnTo>
                    <a:pt x="18048863" y="1998205"/>
                  </a:lnTo>
                  <a:lnTo>
                    <a:pt x="0" y="1998205"/>
                  </a:lnTo>
                  <a:close/>
                </a:path>
              </a:pathLst>
            </a:custGeom>
            <a:solidFill>
              <a:srgbClr val="54DF64"/>
            </a:solidFill>
          </p:spPr>
        </p:sp>
        <p:sp>
          <p:nvSpPr>
            <p:cNvPr name="TextBox 11" id="11"/>
            <p:cNvSpPr txBox="true"/>
            <p:nvPr/>
          </p:nvSpPr>
          <p:spPr>
            <a:xfrm>
              <a:off x="0" y="-47625"/>
              <a:ext cx="18048863" cy="204583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39927" y="3230612"/>
            <a:ext cx="14808146" cy="1044437"/>
          </a:xfrm>
          <a:prstGeom prst="rect">
            <a:avLst/>
          </a:prstGeom>
        </p:spPr>
        <p:txBody>
          <a:bodyPr anchor="t" rtlCol="false" tIns="0" lIns="0" bIns="0" rIns="0">
            <a:spAutoFit/>
          </a:bodyPr>
          <a:lstStyle/>
          <a:p>
            <a:pPr algn="ctr">
              <a:lnSpc>
                <a:spcPts val="4252"/>
              </a:lnSpc>
            </a:pPr>
            <a:r>
              <a:rPr lang="en-US" sz="2835">
                <a:solidFill>
                  <a:srgbClr val="000000"/>
                </a:solidFill>
                <a:latin typeface="Cy Grotesk Key"/>
                <a:ea typeface="Cy Grotesk Key"/>
                <a:cs typeface="Cy Grotesk Key"/>
                <a:sym typeface="Cy Grotesk Key"/>
              </a:rPr>
              <a:t>Reducir el abandono universitario en un </a:t>
            </a:r>
            <a:r>
              <a:rPr lang="en-US" b="true" sz="2835">
                <a:solidFill>
                  <a:srgbClr val="000000"/>
                </a:solidFill>
                <a:latin typeface="Cy Grotesk Key Bold"/>
                <a:ea typeface="Cy Grotesk Key Bold"/>
                <a:cs typeface="Cy Grotesk Key Bold"/>
                <a:sym typeface="Cy Grotesk Key Bold"/>
              </a:rPr>
              <a:t>10%</a:t>
            </a:r>
            <a:r>
              <a:rPr lang="en-US" sz="2835">
                <a:solidFill>
                  <a:srgbClr val="000000"/>
                </a:solidFill>
                <a:latin typeface="Cy Grotesk Key"/>
                <a:ea typeface="Cy Grotesk Key"/>
                <a:cs typeface="Cy Grotesk Key"/>
                <a:sym typeface="Cy Grotesk Key"/>
              </a:rPr>
              <a:t> en los próximos </a:t>
            </a:r>
            <a:r>
              <a:rPr lang="en-US" b="true" sz="2835">
                <a:solidFill>
                  <a:srgbClr val="000000"/>
                </a:solidFill>
                <a:latin typeface="Cy Grotesk Key Bold"/>
                <a:ea typeface="Cy Grotesk Key Bold"/>
                <a:cs typeface="Cy Grotesk Key Bold"/>
                <a:sym typeface="Cy Grotesk Key Bold"/>
              </a:rPr>
              <a:t>3 años</a:t>
            </a:r>
            <a:r>
              <a:rPr lang="en-US" sz="2835">
                <a:solidFill>
                  <a:srgbClr val="000000"/>
                </a:solidFill>
                <a:latin typeface="Cy Grotesk Key"/>
                <a:ea typeface="Cy Grotesk Key"/>
                <a:cs typeface="Cy Grotesk Key"/>
                <a:sym typeface="Cy Grotesk Key"/>
              </a:rPr>
              <a:t>, identificando tempranamente a los estudiantes en riesgo.</a:t>
            </a:r>
          </a:p>
        </p:txBody>
      </p:sp>
      <p:sp>
        <p:nvSpPr>
          <p:cNvPr name="TextBox 13" id="13"/>
          <p:cNvSpPr txBox="true"/>
          <p:nvPr/>
        </p:nvSpPr>
        <p:spPr>
          <a:xfrm rot="0">
            <a:off x="1372537" y="5286375"/>
            <a:ext cx="2343889" cy="842357"/>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01</a:t>
            </a:r>
          </a:p>
        </p:txBody>
      </p:sp>
      <p:sp>
        <p:nvSpPr>
          <p:cNvPr name="TextBox 14" id="14"/>
          <p:cNvSpPr txBox="true"/>
          <p:nvPr/>
        </p:nvSpPr>
        <p:spPr>
          <a:xfrm rot="0">
            <a:off x="7309580" y="5339304"/>
            <a:ext cx="2343889" cy="842416"/>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02</a:t>
            </a:r>
          </a:p>
        </p:txBody>
      </p:sp>
      <p:sp>
        <p:nvSpPr>
          <p:cNvPr name="TextBox 15" id="15"/>
          <p:cNvSpPr txBox="true"/>
          <p:nvPr/>
        </p:nvSpPr>
        <p:spPr>
          <a:xfrm rot="0">
            <a:off x="12953703" y="5374575"/>
            <a:ext cx="2343889" cy="842416"/>
          </a:xfrm>
          <a:prstGeom prst="rect">
            <a:avLst/>
          </a:prstGeom>
        </p:spPr>
        <p:txBody>
          <a:bodyPr anchor="t" rtlCol="false" tIns="0" lIns="0" bIns="0" rIns="0">
            <a:spAutoFit/>
          </a:bodyPr>
          <a:lstStyle/>
          <a:p>
            <a:pPr algn="ctr">
              <a:lnSpc>
                <a:spcPts val="6101"/>
              </a:lnSpc>
            </a:pPr>
            <a:r>
              <a:rPr lang="en-US" sz="6491">
                <a:solidFill>
                  <a:srgbClr val="000000"/>
                </a:solidFill>
                <a:latin typeface="Cy Grotesk Wide"/>
                <a:ea typeface="Cy Grotesk Wide"/>
                <a:cs typeface="Cy Grotesk Wide"/>
                <a:sym typeface="Cy Grotesk Wide"/>
              </a:rPr>
              <a:t>03</a:t>
            </a:r>
          </a:p>
        </p:txBody>
      </p:sp>
      <p:grpSp>
        <p:nvGrpSpPr>
          <p:cNvPr name="Group 16" id="16"/>
          <p:cNvGrpSpPr/>
          <p:nvPr/>
        </p:nvGrpSpPr>
        <p:grpSpPr>
          <a:xfrm rot="0">
            <a:off x="1247797" y="6216991"/>
            <a:ext cx="4495206" cy="6261351"/>
            <a:chOff x="0" y="0"/>
            <a:chExt cx="5167237" cy="7197420"/>
          </a:xfrm>
        </p:grpSpPr>
        <p:sp>
          <p:nvSpPr>
            <p:cNvPr name="Freeform 17" id="17"/>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18" id="18"/>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2700000">
            <a:off x="858123" y="5614318"/>
            <a:ext cx="1028829" cy="102882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21" id="21"/>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2510347" y="6216991"/>
            <a:ext cx="4495206" cy="6261351"/>
            <a:chOff x="0" y="0"/>
            <a:chExt cx="5167237" cy="7197420"/>
          </a:xfrm>
        </p:grpSpPr>
        <p:sp>
          <p:nvSpPr>
            <p:cNvPr name="Freeform 23" id="23"/>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24" id="24"/>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2700000">
            <a:off x="12176180" y="5614318"/>
            <a:ext cx="1028829" cy="102882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27" id="27"/>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6896397" y="6216991"/>
            <a:ext cx="4495206" cy="6261351"/>
            <a:chOff x="0" y="0"/>
            <a:chExt cx="5167237" cy="7197420"/>
          </a:xfrm>
        </p:grpSpPr>
        <p:sp>
          <p:nvSpPr>
            <p:cNvPr name="Freeform 29" id="29"/>
            <p:cNvSpPr/>
            <p:nvPr/>
          </p:nvSpPr>
          <p:spPr>
            <a:xfrm flipH="false" flipV="false" rot="0">
              <a:off x="0" y="0"/>
              <a:ext cx="5167237" cy="7197420"/>
            </a:xfrm>
            <a:custGeom>
              <a:avLst/>
              <a:gdLst/>
              <a:ahLst/>
              <a:cxnLst/>
              <a:rect r="r" b="b" t="t" l="l"/>
              <a:pathLst>
                <a:path h="7197420" w="5167237">
                  <a:moveTo>
                    <a:pt x="0" y="0"/>
                  </a:moveTo>
                  <a:lnTo>
                    <a:pt x="5167237" y="0"/>
                  </a:lnTo>
                  <a:lnTo>
                    <a:pt x="5167237" y="7197420"/>
                  </a:lnTo>
                  <a:lnTo>
                    <a:pt x="0" y="7197420"/>
                  </a:lnTo>
                  <a:close/>
                </a:path>
              </a:pathLst>
            </a:custGeom>
            <a:solidFill>
              <a:srgbClr val="000000"/>
            </a:solidFill>
          </p:spPr>
        </p:sp>
        <p:sp>
          <p:nvSpPr>
            <p:cNvPr name="TextBox 30" id="30"/>
            <p:cNvSpPr txBox="true"/>
            <p:nvPr/>
          </p:nvSpPr>
          <p:spPr>
            <a:xfrm>
              <a:off x="0" y="-47625"/>
              <a:ext cx="5167237" cy="7245045"/>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2700000">
            <a:off x="6526928" y="5599660"/>
            <a:ext cx="1028829" cy="1028829"/>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4DF64"/>
            </a:solidFill>
          </p:spPr>
        </p:sp>
        <p:sp>
          <p:nvSpPr>
            <p:cNvPr name="TextBox 33" id="33"/>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1730711" y="6894399"/>
            <a:ext cx="3529379" cy="2453268"/>
          </a:xfrm>
          <a:prstGeom prst="rect">
            <a:avLst/>
          </a:prstGeom>
        </p:spPr>
        <p:txBody>
          <a:bodyPr anchor="t" rtlCol="false" tIns="0" lIns="0" bIns="0" rIns="0">
            <a:spAutoFit/>
          </a:bodyPr>
          <a:lstStyle/>
          <a:p>
            <a:pPr algn="ctr">
              <a:lnSpc>
                <a:spcPts val="3900"/>
              </a:lnSpc>
            </a:pPr>
            <a:r>
              <a:rPr lang="en-US" sz="2600">
                <a:solidFill>
                  <a:srgbClr val="F8F6F0"/>
                </a:solidFill>
                <a:latin typeface="Cy Grotesk Key"/>
                <a:ea typeface="Cy Grotesk Key"/>
                <a:cs typeface="Cy Grotesk Key"/>
                <a:sym typeface="Cy Grotesk Key"/>
              </a:rPr>
              <a:t>¿Qué combinación de materias reprobadas en 1er año predice el abandono?</a:t>
            </a:r>
          </a:p>
        </p:txBody>
      </p:sp>
      <p:sp>
        <p:nvSpPr>
          <p:cNvPr name="TextBox 35" id="35"/>
          <p:cNvSpPr txBox="true"/>
          <p:nvPr/>
        </p:nvSpPr>
        <p:spPr>
          <a:xfrm rot="0">
            <a:off x="7361986" y="6862396"/>
            <a:ext cx="3529379" cy="2485271"/>
          </a:xfrm>
          <a:prstGeom prst="rect">
            <a:avLst/>
          </a:prstGeom>
        </p:spPr>
        <p:txBody>
          <a:bodyPr anchor="t" rtlCol="false" tIns="0" lIns="0" bIns="0" rIns="0">
            <a:spAutoFit/>
          </a:bodyPr>
          <a:lstStyle/>
          <a:p>
            <a:pPr algn="ctr">
              <a:lnSpc>
                <a:spcPts val="3952"/>
              </a:lnSpc>
            </a:pPr>
            <a:r>
              <a:rPr lang="en-US" sz="2635">
                <a:solidFill>
                  <a:srgbClr val="F8F6F0"/>
                </a:solidFill>
                <a:latin typeface="Cy Grotesk Key"/>
                <a:ea typeface="Cy Grotesk Key"/>
                <a:cs typeface="Cy Grotesk Key"/>
                <a:sym typeface="Cy Grotesk Key"/>
              </a:rPr>
              <a:t>¿En qué cuatrimestre se concentra la mayor caída de inscripciones?</a:t>
            </a:r>
          </a:p>
        </p:txBody>
      </p:sp>
      <p:sp>
        <p:nvSpPr>
          <p:cNvPr name="TextBox 36" id="36"/>
          <p:cNvSpPr txBox="true"/>
          <p:nvPr/>
        </p:nvSpPr>
        <p:spPr>
          <a:xfrm rot="0">
            <a:off x="13052941" y="6862396"/>
            <a:ext cx="3410019" cy="1958042"/>
          </a:xfrm>
          <a:prstGeom prst="rect">
            <a:avLst/>
          </a:prstGeom>
        </p:spPr>
        <p:txBody>
          <a:bodyPr anchor="t" rtlCol="false" tIns="0" lIns="0" bIns="0" rIns="0">
            <a:spAutoFit/>
          </a:bodyPr>
          <a:lstStyle/>
          <a:p>
            <a:pPr algn="ctr">
              <a:lnSpc>
                <a:spcPts val="3900"/>
              </a:lnSpc>
            </a:pPr>
            <a:r>
              <a:rPr lang="en-US" sz="2600">
                <a:solidFill>
                  <a:srgbClr val="F8F6F0"/>
                </a:solidFill>
                <a:latin typeface="Cy Grotesk Key"/>
                <a:ea typeface="Cy Grotesk Key"/>
                <a:cs typeface="Cy Grotesk Key"/>
                <a:sym typeface="Cy Grotesk Key"/>
              </a:rPr>
              <a:t>¿El abandono varía por regional, carrera, nivel o género?</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0">
            <a:off x="0" y="-67693"/>
            <a:ext cx="18447379" cy="10354693"/>
            <a:chOff x="0" y="0"/>
            <a:chExt cx="21205253" cy="11902715"/>
          </a:xfrm>
        </p:grpSpPr>
        <p:sp>
          <p:nvSpPr>
            <p:cNvPr name="Freeform 3" id="3"/>
            <p:cNvSpPr/>
            <p:nvPr/>
          </p:nvSpPr>
          <p:spPr>
            <a:xfrm flipH="false" flipV="false" rot="0">
              <a:off x="0" y="0"/>
              <a:ext cx="21205253" cy="11902715"/>
            </a:xfrm>
            <a:custGeom>
              <a:avLst/>
              <a:gdLst/>
              <a:ahLst/>
              <a:cxnLst/>
              <a:rect r="r" b="b" t="t" l="l"/>
              <a:pathLst>
                <a:path h="11902715" w="21205253">
                  <a:moveTo>
                    <a:pt x="0" y="0"/>
                  </a:moveTo>
                  <a:lnTo>
                    <a:pt x="21205253" y="0"/>
                  </a:lnTo>
                  <a:lnTo>
                    <a:pt x="21205253" y="11902715"/>
                  </a:lnTo>
                  <a:lnTo>
                    <a:pt x="0" y="11902715"/>
                  </a:lnTo>
                  <a:close/>
                </a:path>
              </a:pathLst>
            </a:custGeom>
            <a:solidFill>
              <a:srgbClr val="000000"/>
            </a:solidFill>
          </p:spPr>
        </p:sp>
        <p:sp>
          <p:nvSpPr>
            <p:cNvPr name="TextBox 4" id="4"/>
            <p:cNvSpPr txBox="true"/>
            <p:nvPr/>
          </p:nvSpPr>
          <p:spPr>
            <a:xfrm>
              <a:off x="0" y="-47625"/>
              <a:ext cx="21205253" cy="119503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449" y="0"/>
            <a:ext cx="18451828" cy="1330340"/>
            <a:chOff x="0" y="0"/>
            <a:chExt cx="21210367" cy="1529225"/>
          </a:xfrm>
        </p:grpSpPr>
        <p:sp>
          <p:nvSpPr>
            <p:cNvPr name="Freeform 6" id="6"/>
            <p:cNvSpPr/>
            <p:nvPr/>
          </p:nvSpPr>
          <p:spPr>
            <a:xfrm flipH="false" flipV="false" rot="0">
              <a:off x="0" y="0"/>
              <a:ext cx="21210367" cy="1529225"/>
            </a:xfrm>
            <a:custGeom>
              <a:avLst/>
              <a:gdLst/>
              <a:ahLst/>
              <a:cxnLst/>
              <a:rect r="r" b="b" t="t" l="l"/>
              <a:pathLst>
                <a:path h="1529225" w="21210367">
                  <a:moveTo>
                    <a:pt x="0" y="0"/>
                  </a:moveTo>
                  <a:lnTo>
                    <a:pt x="21210367" y="0"/>
                  </a:lnTo>
                  <a:lnTo>
                    <a:pt x="21210367" y="1529225"/>
                  </a:lnTo>
                  <a:lnTo>
                    <a:pt x="0" y="1529225"/>
                  </a:lnTo>
                  <a:close/>
                </a:path>
              </a:pathLst>
            </a:custGeom>
            <a:solidFill>
              <a:srgbClr val="50DF62"/>
            </a:solidFill>
          </p:spPr>
        </p:sp>
        <p:sp>
          <p:nvSpPr>
            <p:cNvPr name="TextBox 7" id="7"/>
            <p:cNvSpPr txBox="true"/>
            <p:nvPr/>
          </p:nvSpPr>
          <p:spPr>
            <a:xfrm>
              <a:off x="0" y="-47625"/>
              <a:ext cx="21210367" cy="15768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410260" y="1923235"/>
            <a:ext cx="6304237" cy="6279813"/>
            <a:chOff x="0" y="0"/>
            <a:chExt cx="8405649" cy="8373084"/>
          </a:xfrm>
        </p:grpSpPr>
        <p:grpSp>
          <p:nvGrpSpPr>
            <p:cNvPr name="Group 9" id="9"/>
            <p:cNvGrpSpPr/>
            <p:nvPr/>
          </p:nvGrpSpPr>
          <p:grpSpPr>
            <a:xfrm rot="0">
              <a:off x="0" y="0"/>
              <a:ext cx="8405649" cy="8373084"/>
              <a:chOff x="0" y="0"/>
              <a:chExt cx="1711928" cy="1705295"/>
            </a:xfrm>
          </p:grpSpPr>
          <p:sp>
            <p:nvSpPr>
              <p:cNvPr name="Freeform 10" id="10"/>
              <p:cNvSpPr/>
              <p:nvPr/>
            </p:nvSpPr>
            <p:spPr>
              <a:xfrm flipH="false" flipV="false" rot="0">
                <a:off x="0" y="0"/>
                <a:ext cx="1711928" cy="1705295"/>
              </a:xfrm>
              <a:custGeom>
                <a:avLst/>
                <a:gdLst/>
                <a:ahLst/>
                <a:cxnLst/>
                <a:rect r="r" b="b" t="t" l="l"/>
                <a:pathLst>
                  <a:path h="1705295" w="1711928">
                    <a:moveTo>
                      <a:pt x="20877" y="0"/>
                    </a:moveTo>
                    <a:lnTo>
                      <a:pt x="1691051" y="0"/>
                    </a:lnTo>
                    <a:cubicBezTo>
                      <a:pt x="1696588" y="0"/>
                      <a:pt x="1701898" y="2200"/>
                      <a:pt x="1705813" y="6115"/>
                    </a:cubicBezTo>
                    <a:cubicBezTo>
                      <a:pt x="1709728" y="10030"/>
                      <a:pt x="1711928" y="15340"/>
                      <a:pt x="1711928" y="20877"/>
                    </a:cubicBezTo>
                    <a:lnTo>
                      <a:pt x="1711928" y="1684419"/>
                    </a:lnTo>
                    <a:cubicBezTo>
                      <a:pt x="1711928" y="1689955"/>
                      <a:pt x="1709728" y="1695266"/>
                      <a:pt x="1705813" y="1699181"/>
                    </a:cubicBezTo>
                    <a:cubicBezTo>
                      <a:pt x="1701898" y="1703096"/>
                      <a:pt x="1696588" y="1705295"/>
                      <a:pt x="1691051" y="1705295"/>
                    </a:cubicBezTo>
                    <a:lnTo>
                      <a:pt x="20877" y="1705295"/>
                    </a:lnTo>
                    <a:cubicBezTo>
                      <a:pt x="15340" y="1705295"/>
                      <a:pt x="10030" y="1703096"/>
                      <a:pt x="6115" y="1699181"/>
                    </a:cubicBezTo>
                    <a:cubicBezTo>
                      <a:pt x="2200" y="1695266"/>
                      <a:pt x="0" y="1689955"/>
                      <a:pt x="0" y="1684419"/>
                    </a:cubicBezTo>
                    <a:lnTo>
                      <a:pt x="0" y="20877"/>
                    </a:lnTo>
                    <a:cubicBezTo>
                      <a:pt x="0" y="15340"/>
                      <a:pt x="2200" y="10030"/>
                      <a:pt x="6115" y="6115"/>
                    </a:cubicBezTo>
                    <a:cubicBezTo>
                      <a:pt x="10030" y="2200"/>
                      <a:pt x="15340" y="0"/>
                      <a:pt x="20877" y="0"/>
                    </a:cubicBezTo>
                    <a:close/>
                  </a:path>
                </a:pathLst>
              </a:custGeom>
              <a:ln w="38100" cap="sq">
                <a:solidFill>
                  <a:srgbClr val="54DF64"/>
                </a:solidFill>
                <a:prstDash val="solid"/>
                <a:miter/>
              </a:ln>
            </p:spPr>
          </p:sp>
          <p:sp>
            <p:nvSpPr>
              <p:cNvPr name="TextBox 11" id="11"/>
              <p:cNvSpPr txBox="true"/>
              <p:nvPr/>
            </p:nvSpPr>
            <p:spPr>
              <a:xfrm>
                <a:off x="0" y="-47625"/>
                <a:ext cx="1711928" cy="175292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281850" y="1218523"/>
              <a:ext cx="7585748" cy="6937977"/>
            </a:xfrm>
            <a:custGeom>
              <a:avLst/>
              <a:gdLst/>
              <a:ahLst/>
              <a:cxnLst/>
              <a:rect r="r" b="b" t="t" l="l"/>
              <a:pathLst>
                <a:path h="6937977" w="7585748">
                  <a:moveTo>
                    <a:pt x="0" y="0"/>
                  </a:moveTo>
                  <a:lnTo>
                    <a:pt x="7585749" y="0"/>
                  </a:lnTo>
                  <a:lnTo>
                    <a:pt x="7585749" y="6937977"/>
                  </a:lnTo>
                  <a:lnTo>
                    <a:pt x="0" y="6937977"/>
                  </a:lnTo>
                  <a:lnTo>
                    <a:pt x="0" y="0"/>
                  </a:lnTo>
                  <a:close/>
                </a:path>
              </a:pathLst>
            </a:custGeom>
            <a:blipFill>
              <a:blip r:embed="rId3"/>
              <a:stretch>
                <a:fillRect l="0" t="0" r="0" b="0"/>
              </a:stretch>
            </a:blipFill>
          </p:spPr>
        </p:sp>
        <p:sp>
          <p:nvSpPr>
            <p:cNvPr name="Freeform 13" id="13"/>
            <p:cNvSpPr/>
            <p:nvPr/>
          </p:nvSpPr>
          <p:spPr>
            <a:xfrm flipH="false" flipV="false" rot="0">
              <a:off x="277071" y="1088253"/>
              <a:ext cx="7851508" cy="7006847"/>
            </a:xfrm>
            <a:custGeom>
              <a:avLst/>
              <a:gdLst/>
              <a:ahLst/>
              <a:cxnLst/>
              <a:rect r="r" b="b" t="t" l="l"/>
              <a:pathLst>
                <a:path h="7006847" w="7851508">
                  <a:moveTo>
                    <a:pt x="0" y="0"/>
                  </a:moveTo>
                  <a:lnTo>
                    <a:pt x="7851508" y="0"/>
                  </a:lnTo>
                  <a:lnTo>
                    <a:pt x="7851508" y="7006847"/>
                  </a:lnTo>
                  <a:lnTo>
                    <a:pt x="0" y="7006847"/>
                  </a:lnTo>
                  <a:lnTo>
                    <a:pt x="0" y="0"/>
                  </a:lnTo>
                  <a:close/>
                </a:path>
              </a:pathLst>
            </a:custGeom>
            <a:blipFill>
              <a:blip r:embed="rId4"/>
              <a:stretch>
                <a:fillRect l="0" t="0" r="0" b="0"/>
              </a:stretch>
            </a:blipFill>
          </p:spPr>
        </p:sp>
        <p:sp>
          <p:nvSpPr>
            <p:cNvPr name="TextBox 14" id="14"/>
            <p:cNvSpPr txBox="true"/>
            <p:nvPr/>
          </p:nvSpPr>
          <p:spPr>
            <a:xfrm rot="0">
              <a:off x="584821" y="429485"/>
              <a:ext cx="7811172" cy="383897"/>
            </a:xfrm>
            <a:prstGeom prst="rect">
              <a:avLst/>
            </a:prstGeom>
          </p:spPr>
          <p:txBody>
            <a:bodyPr anchor="t" rtlCol="false" tIns="0" lIns="0" bIns="0" rIns="0">
              <a:spAutoFit/>
            </a:bodyPr>
            <a:lstStyle/>
            <a:p>
              <a:pPr algn="l">
                <a:lnSpc>
                  <a:spcPts val="2097"/>
                </a:lnSpc>
              </a:pPr>
              <a:r>
                <a:rPr lang="en-US" sz="2231">
                  <a:solidFill>
                    <a:srgbClr val="F8F6F0"/>
                  </a:solidFill>
                  <a:latin typeface="Cy Grotesk Wide"/>
                  <a:ea typeface="Cy Grotesk Wide"/>
                  <a:cs typeface="Cy Grotesk Wide"/>
                  <a:sym typeface="Cy Grotesk Wide"/>
                </a:rPr>
                <a:t>Materias criticas sobre cantidad</a:t>
              </a:r>
            </a:p>
          </p:txBody>
        </p:sp>
      </p:grpSp>
      <p:grpSp>
        <p:nvGrpSpPr>
          <p:cNvPr name="Group 15" id="15"/>
          <p:cNvGrpSpPr/>
          <p:nvPr/>
        </p:nvGrpSpPr>
        <p:grpSpPr>
          <a:xfrm rot="0">
            <a:off x="558581" y="1923235"/>
            <a:ext cx="10403103" cy="6279813"/>
            <a:chOff x="0" y="0"/>
            <a:chExt cx="13870803" cy="8373084"/>
          </a:xfrm>
        </p:grpSpPr>
        <p:grpSp>
          <p:nvGrpSpPr>
            <p:cNvPr name="Group 16" id="16"/>
            <p:cNvGrpSpPr/>
            <p:nvPr/>
          </p:nvGrpSpPr>
          <p:grpSpPr>
            <a:xfrm rot="0">
              <a:off x="0" y="0"/>
              <a:ext cx="13870803" cy="8373084"/>
              <a:chOff x="0" y="0"/>
              <a:chExt cx="2824983" cy="1705295"/>
            </a:xfrm>
          </p:grpSpPr>
          <p:sp>
            <p:nvSpPr>
              <p:cNvPr name="Freeform 17" id="17"/>
              <p:cNvSpPr/>
              <p:nvPr/>
            </p:nvSpPr>
            <p:spPr>
              <a:xfrm flipH="false" flipV="false" rot="0">
                <a:off x="0" y="0"/>
                <a:ext cx="2824983" cy="1705295"/>
              </a:xfrm>
              <a:custGeom>
                <a:avLst/>
                <a:gdLst/>
                <a:ahLst/>
                <a:cxnLst/>
                <a:rect r="r" b="b" t="t" l="l"/>
                <a:pathLst>
                  <a:path h="1705295" w="2824983">
                    <a:moveTo>
                      <a:pt x="12651" y="0"/>
                    </a:moveTo>
                    <a:lnTo>
                      <a:pt x="2812331" y="0"/>
                    </a:lnTo>
                    <a:cubicBezTo>
                      <a:pt x="2819319" y="0"/>
                      <a:pt x="2824983" y="5664"/>
                      <a:pt x="2824983" y="12651"/>
                    </a:cubicBezTo>
                    <a:lnTo>
                      <a:pt x="2824983" y="1692644"/>
                    </a:lnTo>
                    <a:cubicBezTo>
                      <a:pt x="2824983" y="1699631"/>
                      <a:pt x="2819319" y="1705295"/>
                      <a:pt x="2812331" y="1705295"/>
                    </a:cubicBezTo>
                    <a:lnTo>
                      <a:pt x="12651" y="1705295"/>
                    </a:lnTo>
                    <a:cubicBezTo>
                      <a:pt x="5664" y="1705295"/>
                      <a:pt x="0" y="1699631"/>
                      <a:pt x="0" y="1692644"/>
                    </a:cubicBezTo>
                    <a:lnTo>
                      <a:pt x="0" y="12651"/>
                    </a:lnTo>
                    <a:cubicBezTo>
                      <a:pt x="0" y="5664"/>
                      <a:pt x="5664" y="0"/>
                      <a:pt x="12651" y="0"/>
                    </a:cubicBezTo>
                    <a:close/>
                  </a:path>
                </a:pathLst>
              </a:custGeom>
              <a:ln w="38100" cap="sq">
                <a:solidFill>
                  <a:srgbClr val="54DF64"/>
                </a:solidFill>
                <a:prstDash val="solid"/>
                <a:miter/>
              </a:ln>
            </p:spPr>
          </p:sp>
          <p:sp>
            <p:nvSpPr>
              <p:cNvPr name="TextBox 18" id="18"/>
              <p:cNvSpPr txBox="true"/>
              <p:nvPr/>
            </p:nvSpPr>
            <p:spPr>
              <a:xfrm>
                <a:off x="0" y="-47625"/>
                <a:ext cx="2824983" cy="175292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81688" y="429485"/>
              <a:ext cx="13436282" cy="383897"/>
            </a:xfrm>
            <a:prstGeom prst="rect">
              <a:avLst/>
            </a:prstGeom>
          </p:spPr>
          <p:txBody>
            <a:bodyPr anchor="t" rtlCol="false" tIns="0" lIns="0" bIns="0" rIns="0">
              <a:spAutoFit/>
            </a:bodyPr>
            <a:lstStyle/>
            <a:p>
              <a:pPr algn="l">
                <a:lnSpc>
                  <a:spcPts val="2097"/>
                </a:lnSpc>
              </a:pPr>
              <a:r>
                <a:rPr lang="en-US" sz="2231">
                  <a:solidFill>
                    <a:srgbClr val="F8F6F0"/>
                  </a:solidFill>
                  <a:latin typeface="Cy Grotesk Wide"/>
                  <a:ea typeface="Cy Grotesk Wide"/>
                  <a:cs typeface="Cy Grotesk Wide"/>
                  <a:sym typeface="Cy Grotesk Wide"/>
                </a:rPr>
                <a:t>Algoritmos es la mayor señal de riesgo</a:t>
              </a:r>
            </a:p>
          </p:txBody>
        </p:sp>
        <p:sp>
          <p:nvSpPr>
            <p:cNvPr name="Freeform 20" id="20"/>
            <p:cNvSpPr/>
            <p:nvPr/>
          </p:nvSpPr>
          <p:spPr>
            <a:xfrm flipH="false" flipV="false" rot="0">
              <a:off x="309420" y="1085663"/>
              <a:ext cx="13251964" cy="7058446"/>
            </a:xfrm>
            <a:custGeom>
              <a:avLst/>
              <a:gdLst/>
              <a:ahLst/>
              <a:cxnLst/>
              <a:rect r="r" b="b" t="t" l="l"/>
              <a:pathLst>
                <a:path h="7058446" w="13251964">
                  <a:moveTo>
                    <a:pt x="0" y="0"/>
                  </a:moveTo>
                  <a:lnTo>
                    <a:pt x="13251964" y="0"/>
                  </a:lnTo>
                  <a:lnTo>
                    <a:pt x="13251964" y="7058446"/>
                  </a:lnTo>
                  <a:lnTo>
                    <a:pt x="0" y="7058446"/>
                  </a:lnTo>
                  <a:lnTo>
                    <a:pt x="0" y="0"/>
                  </a:lnTo>
                  <a:close/>
                </a:path>
              </a:pathLst>
            </a:custGeom>
            <a:blipFill>
              <a:blip r:embed="rId5"/>
              <a:stretch>
                <a:fillRect l="-1959" t="-879" r="-4745" b="0"/>
              </a:stretch>
            </a:blipFill>
          </p:spPr>
        </p:sp>
      </p:grpSp>
      <p:grpSp>
        <p:nvGrpSpPr>
          <p:cNvPr name="Group 21" id="21"/>
          <p:cNvGrpSpPr/>
          <p:nvPr/>
        </p:nvGrpSpPr>
        <p:grpSpPr>
          <a:xfrm rot="0">
            <a:off x="551339" y="8545948"/>
            <a:ext cx="5364497" cy="1254558"/>
            <a:chOff x="0" y="0"/>
            <a:chExt cx="7152663" cy="1672744"/>
          </a:xfrm>
        </p:grpSpPr>
        <p:grpSp>
          <p:nvGrpSpPr>
            <p:cNvPr name="Group 22" id="22"/>
            <p:cNvGrpSpPr/>
            <p:nvPr/>
          </p:nvGrpSpPr>
          <p:grpSpPr>
            <a:xfrm rot="0">
              <a:off x="0" y="0"/>
              <a:ext cx="7152663" cy="1672744"/>
              <a:chOff x="0" y="0"/>
              <a:chExt cx="1412872" cy="330419"/>
            </a:xfrm>
          </p:grpSpPr>
          <p:sp>
            <p:nvSpPr>
              <p:cNvPr name="Freeform 23" id="23"/>
              <p:cNvSpPr/>
              <p:nvPr/>
            </p:nvSpPr>
            <p:spPr>
              <a:xfrm flipH="false" flipV="false" rot="0">
                <a:off x="0" y="0"/>
                <a:ext cx="1412872" cy="330419"/>
              </a:xfrm>
              <a:custGeom>
                <a:avLst/>
                <a:gdLst/>
                <a:ahLst/>
                <a:cxnLst/>
                <a:rect r="r" b="b" t="t" l="l"/>
                <a:pathLst>
                  <a:path h="330419" w="1412872">
                    <a:moveTo>
                      <a:pt x="18761" y="0"/>
                    </a:moveTo>
                    <a:lnTo>
                      <a:pt x="1394110" y="0"/>
                    </a:lnTo>
                    <a:cubicBezTo>
                      <a:pt x="1404472" y="0"/>
                      <a:pt x="1412872" y="8400"/>
                      <a:pt x="1412872" y="18761"/>
                    </a:cubicBezTo>
                    <a:lnTo>
                      <a:pt x="1412872" y="311657"/>
                    </a:lnTo>
                    <a:cubicBezTo>
                      <a:pt x="1412872" y="322019"/>
                      <a:pt x="1404472" y="330419"/>
                      <a:pt x="1394110" y="330419"/>
                    </a:cubicBezTo>
                    <a:lnTo>
                      <a:pt x="18761" y="330419"/>
                    </a:lnTo>
                    <a:cubicBezTo>
                      <a:pt x="8400" y="330419"/>
                      <a:pt x="0" y="322019"/>
                      <a:pt x="0" y="311657"/>
                    </a:cubicBezTo>
                    <a:lnTo>
                      <a:pt x="0" y="18761"/>
                    </a:lnTo>
                    <a:cubicBezTo>
                      <a:pt x="0" y="8400"/>
                      <a:pt x="8400" y="0"/>
                      <a:pt x="18761" y="0"/>
                    </a:cubicBezTo>
                    <a:close/>
                  </a:path>
                </a:pathLst>
              </a:custGeom>
              <a:solidFill>
                <a:srgbClr val="F8F6F0"/>
              </a:solidFill>
              <a:ln cap="sq">
                <a:noFill/>
                <a:prstDash val="solid"/>
                <a:miter/>
              </a:ln>
            </p:spPr>
          </p:sp>
          <p:sp>
            <p:nvSpPr>
              <p:cNvPr name="TextBox 24" id="24"/>
              <p:cNvSpPr txBox="true"/>
              <p:nvPr/>
            </p:nvSpPr>
            <p:spPr>
              <a:xfrm>
                <a:off x="0" y="-47625"/>
                <a:ext cx="1412872" cy="378044"/>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420306" y="393635"/>
              <a:ext cx="6312051" cy="865212"/>
            </a:xfrm>
            <a:prstGeom prst="rect">
              <a:avLst/>
            </a:prstGeom>
          </p:spPr>
          <p:txBody>
            <a:bodyPr anchor="t" rtlCol="false" tIns="0" lIns="0" bIns="0" rIns="0">
              <a:spAutoFit/>
            </a:bodyPr>
            <a:lstStyle/>
            <a:p>
              <a:pPr algn="l">
                <a:lnSpc>
                  <a:spcPts val="2557"/>
                </a:lnSpc>
              </a:pPr>
              <a:r>
                <a:rPr lang="en-US" sz="1997">
                  <a:solidFill>
                    <a:srgbClr val="000000"/>
                  </a:solidFill>
                  <a:latin typeface="Cy Grotesk Wide"/>
                  <a:ea typeface="Cy Grotesk Wide"/>
                  <a:cs typeface="Cy Grotesk Wide"/>
                  <a:sym typeface="Cy Grotesk Wide"/>
                </a:rPr>
                <a:t>La cantidad de materias </a:t>
              </a:r>
              <a:r>
                <a:rPr lang="en-US" b="true" sz="1997">
                  <a:solidFill>
                    <a:srgbClr val="000000"/>
                  </a:solidFill>
                  <a:latin typeface="Cy Grotesk Wide Bold"/>
                  <a:ea typeface="Cy Grotesk Wide Bold"/>
                  <a:cs typeface="Cy Grotesk Wide Bold"/>
                  <a:sym typeface="Cy Grotesk Wide Bold"/>
                </a:rPr>
                <a:t>no tienen la influencia esperada</a:t>
              </a:r>
            </a:p>
          </p:txBody>
        </p:sp>
      </p:grpSp>
      <p:grpSp>
        <p:nvGrpSpPr>
          <p:cNvPr name="Group 26" id="26"/>
          <p:cNvGrpSpPr/>
          <p:nvPr/>
        </p:nvGrpSpPr>
        <p:grpSpPr>
          <a:xfrm rot="0">
            <a:off x="6477138" y="8545948"/>
            <a:ext cx="5364497" cy="1254558"/>
            <a:chOff x="0" y="0"/>
            <a:chExt cx="7152663" cy="1672744"/>
          </a:xfrm>
        </p:grpSpPr>
        <p:grpSp>
          <p:nvGrpSpPr>
            <p:cNvPr name="Group 27" id="27"/>
            <p:cNvGrpSpPr/>
            <p:nvPr/>
          </p:nvGrpSpPr>
          <p:grpSpPr>
            <a:xfrm rot="0">
              <a:off x="0" y="0"/>
              <a:ext cx="7152663" cy="1672744"/>
              <a:chOff x="0" y="0"/>
              <a:chExt cx="1412872" cy="330419"/>
            </a:xfrm>
          </p:grpSpPr>
          <p:sp>
            <p:nvSpPr>
              <p:cNvPr name="Freeform 28" id="28"/>
              <p:cNvSpPr/>
              <p:nvPr/>
            </p:nvSpPr>
            <p:spPr>
              <a:xfrm flipH="false" flipV="false" rot="0">
                <a:off x="0" y="0"/>
                <a:ext cx="1412872" cy="330419"/>
              </a:xfrm>
              <a:custGeom>
                <a:avLst/>
                <a:gdLst/>
                <a:ahLst/>
                <a:cxnLst/>
                <a:rect r="r" b="b" t="t" l="l"/>
                <a:pathLst>
                  <a:path h="330419" w="1412872">
                    <a:moveTo>
                      <a:pt x="18761" y="0"/>
                    </a:moveTo>
                    <a:lnTo>
                      <a:pt x="1394110" y="0"/>
                    </a:lnTo>
                    <a:cubicBezTo>
                      <a:pt x="1404472" y="0"/>
                      <a:pt x="1412872" y="8400"/>
                      <a:pt x="1412872" y="18761"/>
                    </a:cubicBezTo>
                    <a:lnTo>
                      <a:pt x="1412872" y="311657"/>
                    </a:lnTo>
                    <a:cubicBezTo>
                      <a:pt x="1412872" y="322019"/>
                      <a:pt x="1404472" y="330419"/>
                      <a:pt x="1394110" y="330419"/>
                    </a:cubicBezTo>
                    <a:lnTo>
                      <a:pt x="18761" y="330419"/>
                    </a:lnTo>
                    <a:cubicBezTo>
                      <a:pt x="8400" y="330419"/>
                      <a:pt x="0" y="322019"/>
                      <a:pt x="0" y="311657"/>
                    </a:cubicBezTo>
                    <a:lnTo>
                      <a:pt x="0" y="18761"/>
                    </a:lnTo>
                    <a:cubicBezTo>
                      <a:pt x="0" y="8400"/>
                      <a:pt x="8400" y="0"/>
                      <a:pt x="18761" y="0"/>
                    </a:cubicBezTo>
                    <a:close/>
                  </a:path>
                </a:pathLst>
              </a:custGeom>
              <a:solidFill>
                <a:srgbClr val="F8F6F0"/>
              </a:solidFill>
              <a:ln cap="sq">
                <a:noFill/>
                <a:prstDash val="solid"/>
                <a:miter/>
              </a:ln>
            </p:spPr>
          </p:sp>
          <p:sp>
            <p:nvSpPr>
              <p:cNvPr name="TextBox 29" id="29"/>
              <p:cNvSpPr txBox="true"/>
              <p:nvPr/>
            </p:nvSpPr>
            <p:spPr>
              <a:xfrm>
                <a:off x="0" y="-47625"/>
                <a:ext cx="1412872" cy="378044"/>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464396" y="365125"/>
              <a:ext cx="6312051" cy="865212"/>
            </a:xfrm>
            <a:prstGeom prst="rect">
              <a:avLst/>
            </a:prstGeom>
          </p:spPr>
          <p:txBody>
            <a:bodyPr anchor="t" rtlCol="false" tIns="0" lIns="0" bIns="0" rIns="0">
              <a:spAutoFit/>
            </a:bodyPr>
            <a:lstStyle/>
            <a:p>
              <a:pPr algn="l">
                <a:lnSpc>
                  <a:spcPts val="2557"/>
                </a:lnSpc>
              </a:pPr>
              <a:r>
                <a:rPr lang="en-US" b="true" sz="1997">
                  <a:solidFill>
                    <a:srgbClr val="000000"/>
                  </a:solidFill>
                  <a:latin typeface="Cy Grotesk Wide Bold"/>
                  <a:ea typeface="Cy Grotesk Wide Bold"/>
                  <a:cs typeface="Cy Grotesk Wide Bold"/>
                  <a:sym typeface="Cy Grotesk Wide Bold"/>
                </a:rPr>
                <a:t>AED es la barrera excluyente </a:t>
              </a:r>
              <a:r>
                <a:rPr lang="en-US" sz="1997">
                  <a:solidFill>
                    <a:srgbClr val="000000"/>
                  </a:solidFill>
                  <a:latin typeface="Cy Grotesk Wide"/>
                  <a:ea typeface="Cy Grotesk Wide"/>
                  <a:cs typeface="Cy Grotesk Wide"/>
                  <a:sym typeface="Cy Grotesk Wide"/>
                </a:rPr>
                <a:t>de primer añ</a:t>
              </a:r>
              <a:r>
                <a:rPr lang="en-US" sz="1997">
                  <a:solidFill>
                    <a:srgbClr val="000000"/>
                  </a:solidFill>
                  <a:latin typeface="Cy Grotesk Wide"/>
                  <a:ea typeface="Cy Grotesk Wide"/>
                  <a:cs typeface="Cy Grotesk Wide"/>
                  <a:sym typeface="Cy Grotesk Wide"/>
                </a:rPr>
                <a:t>o en </a:t>
              </a:r>
              <a:r>
                <a:rPr lang="en-US" sz="1997">
                  <a:solidFill>
                    <a:srgbClr val="000000"/>
                  </a:solidFill>
                  <a:latin typeface="Cy Grotesk Wide"/>
                  <a:ea typeface="Cy Grotesk Wide"/>
                  <a:cs typeface="Cy Grotesk Wide"/>
                  <a:sym typeface="Cy Grotesk Wide"/>
                </a:rPr>
                <a:t>S</a:t>
              </a:r>
              <a:r>
                <a:rPr lang="en-US" sz="1997">
                  <a:solidFill>
                    <a:srgbClr val="000000"/>
                  </a:solidFill>
                  <a:latin typeface="Cy Grotesk Wide"/>
                  <a:ea typeface="Cy Grotesk Wide"/>
                  <a:cs typeface="Cy Grotesk Wide"/>
                  <a:sym typeface="Cy Grotesk Wide"/>
                </a:rPr>
                <a:t>i</a:t>
              </a:r>
              <a:r>
                <a:rPr lang="en-US" sz="1997">
                  <a:solidFill>
                    <a:srgbClr val="000000"/>
                  </a:solidFill>
                  <a:latin typeface="Cy Grotesk Wide"/>
                  <a:ea typeface="Cy Grotesk Wide"/>
                  <a:cs typeface="Cy Grotesk Wide"/>
                  <a:sym typeface="Cy Grotesk Wide"/>
                </a:rPr>
                <a:t>st</a:t>
              </a:r>
              <a:r>
                <a:rPr lang="en-US" sz="1997">
                  <a:solidFill>
                    <a:srgbClr val="000000"/>
                  </a:solidFill>
                  <a:latin typeface="Cy Grotesk Wide"/>
                  <a:ea typeface="Cy Grotesk Wide"/>
                  <a:cs typeface="Cy Grotesk Wide"/>
                  <a:sym typeface="Cy Grotesk Wide"/>
                </a:rPr>
                <a:t>e</a:t>
              </a:r>
              <a:r>
                <a:rPr lang="en-US" sz="1997">
                  <a:solidFill>
                    <a:srgbClr val="000000"/>
                  </a:solidFill>
                  <a:latin typeface="Cy Grotesk Wide"/>
                  <a:ea typeface="Cy Grotesk Wide"/>
                  <a:cs typeface="Cy Grotesk Wide"/>
                  <a:sym typeface="Cy Grotesk Wide"/>
                </a:rPr>
                <a:t>m</a:t>
              </a:r>
              <a:r>
                <a:rPr lang="en-US" sz="1997">
                  <a:solidFill>
                    <a:srgbClr val="000000"/>
                  </a:solidFill>
                  <a:latin typeface="Cy Grotesk Wide"/>
                  <a:ea typeface="Cy Grotesk Wide"/>
                  <a:cs typeface="Cy Grotesk Wide"/>
                  <a:sym typeface="Cy Grotesk Wide"/>
                </a:rPr>
                <a:t>as</a:t>
              </a:r>
            </a:p>
          </p:txBody>
        </p:sp>
      </p:grpSp>
      <p:grpSp>
        <p:nvGrpSpPr>
          <p:cNvPr name="Group 31" id="31"/>
          <p:cNvGrpSpPr/>
          <p:nvPr/>
        </p:nvGrpSpPr>
        <p:grpSpPr>
          <a:xfrm rot="0">
            <a:off x="12402936" y="8545948"/>
            <a:ext cx="5304319" cy="1254558"/>
            <a:chOff x="0" y="0"/>
            <a:chExt cx="7072426" cy="1672744"/>
          </a:xfrm>
        </p:grpSpPr>
        <p:grpSp>
          <p:nvGrpSpPr>
            <p:cNvPr name="Group 32" id="32"/>
            <p:cNvGrpSpPr/>
            <p:nvPr/>
          </p:nvGrpSpPr>
          <p:grpSpPr>
            <a:xfrm rot="0">
              <a:off x="0" y="0"/>
              <a:ext cx="7072426" cy="1672744"/>
              <a:chOff x="0" y="0"/>
              <a:chExt cx="1397022" cy="330419"/>
            </a:xfrm>
          </p:grpSpPr>
          <p:sp>
            <p:nvSpPr>
              <p:cNvPr name="Freeform 33" id="33"/>
              <p:cNvSpPr/>
              <p:nvPr/>
            </p:nvSpPr>
            <p:spPr>
              <a:xfrm flipH="false" flipV="false" rot="0">
                <a:off x="0" y="0"/>
                <a:ext cx="1397022" cy="330419"/>
              </a:xfrm>
              <a:custGeom>
                <a:avLst/>
                <a:gdLst/>
                <a:ahLst/>
                <a:cxnLst/>
                <a:rect r="r" b="b" t="t" l="l"/>
                <a:pathLst>
                  <a:path h="330419" w="1397022">
                    <a:moveTo>
                      <a:pt x="18974" y="0"/>
                    </a:moveTo>
                    <a:lnTo>
                      <a:pt x="1378048" y="0"/>
                    </a:lnTo>
                    <a:cubicBezTo>
                      <a:pt x="1383081" y="0"/>
                      <a:pt x="1387907" y="1999"/>
                      <a:pt x="1391465" y="5557"/>
                    </a:cubicBezTo>
                    <a:cubicBezTo>
                      <a:pt x="1395023" y="9116"/>
                      <a:pt x="1397022" y="13942"/>
                      <a:pt x="1397022" y="18974"/>
                    </a:cubicBezTo>
                    <a:lnTo>
                      <a:pt x="1397022" y="311444"/>
                    </a:lnTo>
                    <a:cubicBezTo>
                      <a:pt x="1397022" y="316477"/>
                      <a:pt x="1395023" y="321303"/>
                      <a:pt x="1391465" y="324861"/>
                    </a:cubicBezTo>
                    <a:cubicBezTo>
                      <a:pt x="1387907" y="328419"/>
                      <a:pt x="1383081" y="330419"/>
                      <a:pt x="1378048" y="330419"/>
                    </a:cubicBezTo>
                    <a:lnTo>
                      <a:pt x="18974" y="330419"/>
                    </a:lnTo>
                    <a:cubicBezTo>
                      <a:pt x="13942" y="330419"/>
                      <a:pt x="9116" y="328419"/>
                      <a:pt x="5557" y="324861"/>
                    </a:cubicBezTo>
                    <a:cubicBezTo>
                      <a:pt x="1999" y="321303"/>
                      <a:pt x="0" y="316477"/>
                      <a:pt x="0" y="311444"/>
                    </a:cubicBezTo>
                    <a:lnTo>
                      <a:pt x="0" y="18974"/>
                    </a:lnTo>
                    <a:cubicBezTo>
                      <a:pt x="0" y="13942"/>
                      <a:pt x="1999" y="9116"/>
                      <a:pt x="5557" y="5557"/>
                    </a:cubicBezTo>
                    <a:cubicBezTo>
                      <a:pt x="9116" y="1999"/>
                      <a:pt x="13942" y="0"/>
                      <a:pt x="18974" y="0"/>
                    </a:cubicBezTo>
                    <a:close/>
                  </a:path>
                </a:pathLst>
              </a:custGeom>
              <a:solidFill>
                <a:srgbClr val="F8F6F0"/>
              </a:solidFill>
              <a:ln cap="sq">
                <a:noFill/>
                <a:prstDash val="solid"/>
                <a:miter/>
              </a:ln>
            </p:spPr>
          </p:sp>
          <p:sp>
            <p:nvSpPr>
              <p:cNvPr name="TextBox 34" id="34"/>
              <p:cNvSpPr txBox="true"/>
              <p:nvPr/>
            </p:nvSpPr>
            <p:spPr>
              <a:xfrm>
                <a:off x="0" y="-47625"/>
                <a:ext cx="1397022" cy="378044"/>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415591" y="365125"/>
              <a:ext cx="6241244" cy="865212"/>
            </a:xfrm>
            <a:prstGeom prst="rect">
              <a:avLst/>
            </a:prstGeom>
          </p:spPr>
          <p:txBody>
            <a:bodyPr anchor="t" rtlCol="false" tIns="0" lIns="0" bIns="0" rIns="0">
              <a:spAutoFit/>
            </a:bodyPr>
            <a:lstStyle/>
            <a:p>
              <a:pPr algn="l">
                <a:lnSpc>
                  <a:spcPts val="2557"/>
                </a:lnSpc>
              </a:pPr>
              <a:r>
                <a:rPr lang="en-US" sz="1997">
                  <a:solidFill>
                    <a:srgbClr val="000000"/>
                  </a:solidFill>
                  <a:latin typeface="Cy Grotesk Wide"/>
                  <a:ea typeface="Cy Grotesk Wide"/>
                  <a:cs typeface="Cy Grotesk Wide"/>
                  <a:sym typeface="Cy Grotesk Wide"/>
                </a:rPr>
                <a:t>Un terci</a:t>
              </a:r>
              <a:r>
                <a:rPr lang="en-US" sz="1997">
                  <a:solidFill>
                    <a:srgbClr val="000000"/>
                  </a:solidFill>
                  <a:latin typeface="Cy Grotesk Wide"/>
                  <a:ea typeface="Cy Grotesk Wide"/>
                  <a:cs typeface="Cy Grotesk Wide"/>
                  <a:sym typeface="Cy Grotesk Wide"/>
                </a:rPr>
                <a:t>o </a:t>
              </a:r>
              <a:r>
                <a:rPr lang="en-US" sz="1997">
                  <a:solidFill>
                    <a:srgbClr val="000000"/>
                  </a:solidFill>
                  <a:latin typeface="Cy Grotesk Wide"/>
                  <a:ea typeface="Cy Grotesk Wide"/>
                  <a:cs typeface="Cy Grotesk Wide"/>
                  <a:sym typeface="Cy Grotesk Wide"/>
                </a:rPr>
                <a:t>d</a:t>
              </a:r>
              <a:r>
                <a:rPr lang="en-US" sz="1997">
                  <a:solidFill>
                    <a:srgbClr val="000000"/>
                  </a:solidFill>
                  <a:latin typeface="Cy Grotesk Wide"/>
                  <a:ea typeface="Cy Grotesk Wide"/>
                  <a:cs typeface="Cy Grotesk Wide"/>
                  <a:sym typeface="Cy Grotesk Wide"/>
                </a:rPr>
                <a:t>e l</a:t>
              </a:r>
              <a:r>
                <a:rPr lang="en-US" sz="1997">
                  <a:solidFill>
                    <a:srgbClr val="000000"/>
                  </a:solidFill>
                  <a:latin typeface="Cy Grotesk Wide"/>
                  <a:ea typeface="Cy Grotesk Wide"/>
                  <a:cs typeface="Cy Grotesk Wide"/>
                  <a:sym typeface="Cy Grotesk Wide"/>
                </a:rPr>
                <a:t>os</a:t>
              </a:r>
              <a:r>
                <a:rPr lang="en-US" sz="1997">
                  <a:solidFill>
                    <a:srgbClr val="000000"/>
                  </a:solidFill>
                  <a:latin typeface="Cy Grotesk Wide"/>
                  <a:ea typeface="Cy Grotesk Wide"/>
                  <a:cs typeface="Cy Grotesk Wide"/>
                  <a:sym typeface="Cy Grotesk Wide"/>
                </a:rPr>
                <a:t> </a:t>
              </a:r>
              <a:r>
                <a:rPr lang="en-US" sz="1997">
                  <a:solidFill>
                    <a:srgbClr val="000000"/>
                  </a:solidFill>
                  <a:latin typeface="Cy Grotesk Wide"/>
                  <a:ea typeface="Cy Grotesk Wide"/>
                  <a:cs typeface="Cy Grotesk Wide"/>
                  <a:sym typeface="Cy Grotesk Wide"/>
                </a:rPr>
                <a:t>desertores </a:t>
              </a:r>
              <a:r>
                <a:rPr lang="en-US" sz="1997">
                  <a:solidFill>
                    <a:srgbClr val="000000"/>
                  </a:solidFill>
                  <a:latin typeface="Cy Grotesk Wide"/>
                  <a:ea typeface="Cy Grotesk Wide"/>
                  <a:cs typeface="Cy Grotesk Wide"/>
                  <a:sym typeface="Cy Grotesk Wide"/>
                </a:rPr>
                <a:t>nunca </a:t>
              </a:r>
              <a:r>
                <a:rPr lang="en-US" sz="1997">
                  <a:solidFill>
                    <a:srgbClr val="000000"/>
                  </a:solidFill>
                  <a:latin typeface="Cy Grotesk Wide"/>
                  <a:ea typeface="Cy Grotesk Wide"/>
                  <a:cs typeface="Cy Grotesk Wide"/>
                  <a:sym typeface="Cy Grotesk Wide"/>
                </a:rPr>
                <a:t>cur</a:t>
              </a:r>
              <a:r>
                <a:rPr lang="en-US" sz="1997">
                  <a:solidFill>
                    <a:srgbClr val="000000"/>
                  </a:solidFill>
                  <a:latin typeface="Cy Grotesk Wide"/>
                  <a:ea typeface="Cy Grotesk Wide"/>
                  <a:cs typeface="Cy Grotesk Wide"/>
                  <a:sym typeface="Cy Grotesk Wide"/>
                </a:rPr>
                <a:t>s</a:t>
              </a:r>
              <a:r>
                <a:rPr lang="en-US" sz="1997">
                  <a:solidFill>
                    <a:srgbClr val="000000"/>
                  </a:solidFill>
                  <a:latin typeface="Cy Grotesk Wide"/>
                  <a:ea typeface="Cy Grotesk Wide"/>
                  <a:cs typeface="Cy Grotesk Wide"/>
                  <a:sym typeface="Cy Grotesk Wide"/>
                </a:rPr>
                <a:t>ó </a:t>
              </a:r>
              <a:r>
                <a:rPr lang="en-US" b="true" sz="1997">
                  <a:solidFill>
                    <a:srgbClr val="000000"/>
                  </a:solidFill>
                  <a:latin typeface="Cy Grotesk Wide Bold"/>
                  <a:ea typeface="Cy Grotesk Wide Bold"/>
                  <a:cs typeface="Cy Grotesk Wide Bold"/>
                  <a:sym typeface="Cy Grotesk Wide Bold"/>
                </a:rPr>
                <a:t>(3.473 / 10.804)</a:t>
              </a:r>
            </a:p>
          </p:txBody>
        </p:sp>
      </p:grpSp>
      <p:sp>
        <p:nvSpPr>
          <p:cNvPr name="TextBox 36" id="36"/>
          <p:cNvSpPr txBox="true"/>
          <p:nvPr/>
        </p:nvSpPr>
        <p:spPr>
          <a:xfrm rot="0">
            <a:off x="1006537" y="512534"/>
            <a:ext cx="16252763" cy="371948"/>
          </a:xfrm>
          <a:prstGeom prst="rect">
            <a:avLst/>
          </a:prstGeom>
        </p:spPr>
        <p:txBody>
          <a:bodyPr anchor="t" rtlCol="false" tIns="0" lIns="0" bIns="0" rIns="0">
            <a:spAutoFit/>
          </a:bodyPr>
          <a:lstStyle/>
          <a:p>
            <a:pPr algn="just">
              <a:lnSpc>
                <a:spcPts val="2726"/>
              </a:lnSpc>
            </a:pPr>
            <a:r>
              <a:rPr lang="en-US" sz="2900">
                <a:solidFill>
                  <a:srgbClr val="000000"/>
                </a:solidFill>
                <a:latin typeface="Cy Grotesk Wide"/>
                <a:ea typeface="Cy Grotesk Wide"/>
                <a:cs typeface="Cy Grotesk Wide"/>
                <a:sym typeface="Cy Grotesk Wide"/>
              </a:rPr>
              <a:t>¿Qué</a:t>
            </a:r>
            <a:r>
              <a:rPr lang="en-US" sz="2900">
                <a:solidFill>
                  <a:srgbClr val="000000"/>
                </a:solidFill>
                <a:latin typeface="Cy Grotesk Wide"/>
                <a:ea typeface="Cy Grotesk Wide"/>
                <a:cs typeface="Cy Grotesk Wide"/>
                <a:sym typeface="Cy Grotesk Wide"/>
              </a:rPr>
              <a:t> </a:t>
            </a:r>
            <a:r>
              <a:rPr lang="en-US" sz="2900">
                <a:solidFill>
                  <a:srgbClr val="000000"/>
                </a:solidFill>
                <a:latin typeface="Cy Grotesk Wide"/>
                <a:ea typeface="Cy Grotesk Wide"/>
                <a:cs typeface="Cy Grotesk Wide"/>
                <a:sym typeface="Cy Grotesk Wide"/>
              </a:rPr>
              <a:t>comb</a:t>
            </a:r>
            <a:r>
              <a:rPr lang="en-US" sz="2900">
                <a:solidFill>
                  <a:srgbClr val="000000"/>
                </a:solidFill>
                <a:latin typeface="Cy Grotesk Wide"/>
                <a:ea typeface="Cy Grotesk Wide"/>
                <a:cs typeface="Cy Grotesk Wide"/>
                <a:sym typeface="Cy Grotesk Wide"/>
              </a:rPr>
              <a:t>i</a:t>
            </a:r>
            <a:r>
              <a:rPr lang="en-US" sz="2900">
                <a:solidFill>
                  <a:srgbClr val="000000"/>
                </a:solidFill>
                <a:latin typeface="Cy Grotesk Wide"/>
                <a:ea typeface="Cy Grotesk Wide"/>
                <a:cs typeface="Cy Grotesk Wide"/>
                <a:sym typeface="Cy Grotesk Wide"/>
              </a:rPr>
              <a:t>nación de </a:t>
            </a:r>
            <a:r>
              <a:rPr lang="en-US" sz="2900">
                <a:solidFill>
                  <a:srgbClr val="000000"/>
                </a:solidFill>
                <a:latin typeface="Cy Grotesk Wide"/>
                <a:ea typeface="Cy Grotesk Wide"/>
                <a:cs typeface="Cy Grotesk Wide"/>
                <a:sym typeface="Cy Grotesk Wide"/>
              </a:rPr>
              <a:t>m</a:t>
            </a:r>
            <a:r>
              <a:rPr lang="en-US" sz="2900">
                <a:solidFill>
                  <a:srgbClr val="000000"/>
                </a:solidFill>
                <a:latin typeface="Cy Grotesk Wide"/>
                <a:ea typeface="Cy Grotesk Wide"/>
                <a:cs typeface="Cy Grotesk Wide"/>
                <a:sym typeface="Cy Grotesk Wide"/>
              </a:rPr>
              <a:t>aterias re</a:t>
            </a:r>
            <a:r>
              <a:rPr lang="en-US" sz="2900">
                <a:solidFill>
                  <a:srgbClr val="000000"/>
                </a:solidFill>
                <a:latin typeface="Cy Grotesk Wide"/>
                <a:ea typeface="Cy Grotesk Wide"/>
                <a:cs typeface="Cy Grotesk Wide"/>
                <a:sym typeface="Cy Grotesk Wide"/>
              </a:rPr>
              <a:t>p</a:t>
            </a:r>
            <a:r>
              <a:rPr lang="en-US" sz="2900">
                <a:solidFill>
                  <a:srgbClr val="000000"/>
                </a:solidFill>
                <a:latin typeface="Cy Grotesk Wide"/>
                <a:ea typeface="Cy Grotesk Wide"/>
                <a:cs typeface="Cy Grotesk Wide"/>
                <a:sym typeface="Cy Grotesk Wide"/>
              </a:rPr>
              <a:t>robadas en 1er año pred</a:t>
            </a:r>
            <a:r>
              <a:rPr lang="en-US" sz="2900">
                <a:solidFill>
                  <a:srgbClr val="000000"/>
                </a:solidFill>
                <a:latin typeface="Cy Grotesk Wide"/>
                <a:ea typeface="Cy Grotesk Wide"/>
                <a:cs typeface="Cy Grotesk Wide"/>
                <a:sym typeface="Cy Grotesk Wide"/>
              </a:rPr>
              <a:t>i</a:t>
            </a:r>
            <a:r>
              <a:rPr lang="en-US" sz="2900">
                <a:solidFill>
                  <a:srgbClr val="000000"/>
                </a:solidFill>
                <a:latin typeface="Cy Grotesk Wide"/>
                <a:ea typeface="Cy Grotesk Wide"/>
                <a:cs typeface="Cy Grotesk Wide"/>
                <a:sym typeface="Cy Grotesk Wide"/>
              </a:rPr>
              <a:t>c</a:t>
            </a:r>
            <a:r>
              <a:rPr lang="en-US" sz="2900">
                <a:solidFill>
                  <a:srgbClr val="000000"/>
                </a:solidFill>
                <a:latin typeface="Cy Grotesk Wide"/>
                <a:ea typeface="Cy Grotesk Wide"/>
                <a:cs typeface="Cy Grotesk Wide"/>
                <a:sym typeface="Cy Grotesk Wide"/>
              </a:rPr>
              <a:t>e</a:t>
            </a:r>
            <a:r>
              <a:rPr lang="en-US" sz="2900">
                <a:solidFill>
                  <a:srgbClr val="000000"/>
                </a:solidFill>
                <a:latin typeface="Cy Grotesk Wide"/>
                <a:ea typeface="Cy Grotesk Wide"/>
                <a:cs typeface="Cy Grotesk Wide"/>
                <a:sym typeface="Cy Grotesk Wide"/>
              </a:rPr>
              <a:t> el ab</a:t>
            </a:r>
            <a:r>
              <a:rPr lang="en-US" sz="2900">
                <a:solidFill>
                  <a:srgbClr val="000000"/>
                </a:solidFill>
                <a:latin typeface="Cy Grotesk Wide"/>
                <a:ea typeface="Cy Grotesk Wide"/>
                <a:cs typeface="Cy Grotesk Wide"/>
                <a:sym typeface="Cy Grotesk Wide"/>
              </a:rPr>
              <a:t>a</a:t>
            </a:r>
            <a:r>
              <a:rPr lang="en-US" sz="2900">
                <a:solidFill>
                  <a:srgbClr val="000000"/>
                </a:solidFill>
                <a:latin typeface="Cy Grotesk Wide"/>
                <a:ea typeface="Cy Grotesk Wide"/>
                <a:cs typeface="Cy Grotesk Wide"/>
                <a:sym typeface="Cy Grotesk Wide"/>
              </a:rPr>
              <a:t>ndono?</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0">
            <a:off x="0" y="-67693"/>
            <a:ext cx="18447379" cy="10354693"/>
            <a:chOff x="0" y="0"/>
            <a:chExt cx="21205253" cy="11902715"/>
          </a:xfrm>
        </p:grpSpPr>
        <p:sp>
          <p:nvSpPr>
            <p:cNvPr name="Freeform 3" id="3"/>
            <p:cNvSpPr/>
            <p:nvPr/>
          </p:nvSpPr>
          <p:spPr>
            <a:xfrm flipH="false" flipV="false" rot="0">
              <a:off x="0" y="0"/>
              <a:ext cx="21205253" cy="11902715"/>
            </a:xfrm>
            <a:custGeom>
              <a:avLst/>
              <a:gdLst/>
              <a:ahLst/>
              <a:cxnLst/>
              <a:rect r="r" b="b" t="t" l="l"/>
              <a:pathLst>
                <a:path h="11902715" w="21205253">
                  <a:moveTo>
                    <a:pt x="0" y="0"/>
                  </a:moveTo>
                  <a:lnTo>
                    <a:pt x="21205253" y="0"/>
                  </a:lnTo>
                  <a:lnTo>
                    <a:pt x="21205253" y="11902715"/>
                  </a:lnTo>
                  <a:lnTo>
                    <a:pt x="0" y="11902715"/>
                  </a:lnTo>
                  <a:close/>
                </a:path>
              </a:pathLst>
            </a:custGeom>
            <a:solidFill>
              <a:srgbClr val="000000"/>
            </a:solidFill>
          </p:spPr>
        </p:sp>
        <p:sp>
          <p:nvSpPr>
            <p:cNvPr name="TextBox 4" id="4"/>
            <p:cNvSpPr txBox="true"/>
            <p:nvPr/>
          </p:nvSpPr>
          <p:spPr>
            <a:xfrm>
              <a:off x="0" y="-47625"/>
              <a:ext cx="21205253" cy="119503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22699" y="0"/>
            <a:ext cx="34560798" cy="1330340"/>
            <a:chOff x="0" y="0"/>
            <a:chExt cx="39727621" cy="1529225"/>
          </a:xfrm>
        </p:grpSpPr>
        <p:sp>
          <p:nvSpPr>
            <p:cNvPr name="Freeform 6" id="6"/>
            <p:cNvSpPr/>
            <p:nvPr/>
          </p:nvSpPr>
          <p:spPr>
            <a:xfrm flipH="false" flipV="false" rot="0">
              <a:off x="0" y="0"/>
              <a:ext cx="39727622" cy="1529225"/>
            </a:xfrm>
            <a:custGeom>
              <a:avLst/>
              <a:gdLst/>
              <a:ahLst/>
              <a:cxnLst/>
              <a:rect r="r" b="b" t="t" l="l"/>
              <a:pathLst>
                <a:path h="1529225" w="39727622">
                  <a:moveTo>
                    <a:pt x="0" y="0"/>
                  </a:moveTo>
                  <a:lnTo>
                    <a:pt x="39727622" y="0"/>
                  </a:lnTo>
                  <a:lnTo>
                    <a:pt x="39727622" y="1529225"/>
                  </a:lnTo>
                  <a:lnTo>
                    <a:pt x="0" y="1529225"/>
                  </a:lnTo>
                  <a:close/>
                </a:path>
              </a:pathLst>
            </a:custGeom>
            <a:solidFill>
              <a:srgbClr val="54DF64"/>
            </a:solidFill>
          </p:spPr>
        </p:sp>
        <p:sp>
          <p:nvSpPr>
            <p:cNvPr name="TextBox 7" id="7"/>
            <p:cNvSpPr txBox="true"/>
            <p:nvPr/>
          </p:nvSpPr>
          <p:spPr>
            <a:xfrm>
              <a:off x="0" y="-47625"/>
              <a:ext cx="39727621" cy="15768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91758" y="1912283"/>
            <a:ext cx="10404521" cy="7724536"/>
            <a:chOff x="0" y="0"/>
            <a:chExt cx="13872695" cy="10299381"/>
          </a:xfrm>
        </p:grpSpPr>
        <p:grpSp>
          <p:nvGrpSpPr>
            <p:cNvPr name="Group 9" id="9"/>
            <p:cNvGrpSpPr/>
            <p:nvPr/>
          </p:nvGrpSpPr>
          <p:grpSpPr>
            <a:xfrm rot="0">
              <a:off x="0" y="0"/>
              <a:ext cx="13872695" cy="10299381"/>
              <a:chOff x="0" y="0"/>
              <a:chExt cx="2740285" cy="2034446"/>
            </a:xfrm>
          </p:grpSpPr>
          <p:sp>
            <p:nvSpPr>
              <p:cNvPr name="Freeform 10" id="10"/>
              <p:cNvSpPr/>
              <p:nvPr/>
            </p:nvSpPr>
            <p:spPr>
              <a:xfrm flipH="false" flipV="false" rot="0">
                <a:off x="0" y="0"/>
                <a:ext cx="2740285" cy="2034446"/>
              </a:xfrm>
              <a:custGeom>
                <a:avLst/>
                <a:gdLst/>
                <a:ahLst/>
                <a:cxnLst/>
                <a:rect r="r" b="b" t="t" l="l"/>
                <a:pathLst>
                  <a:path h="2034446" w="2740285">
                    <a:moveTo>
                      <a:pt x="12650" y="0"/>
                    </a:moveTo>
                    <a:lnTo>
                      <a:pt x="2727636" y="0"/>
                    </a:lnTo>
                    <a:cubicBezTo>
                      <a:pt x="2734622" y="0"/>
                      <a:pt x="2740285" y="5663"/>
                      <a:pt x="2740285" y="12650"/>
                    </a:cubicBezTo>
                    <a:lnTo>
                      <a:pt x="2740285" y="2021796"/>
                    </a:lnTo>
                    <a:cubicBezTo>
                      <a:pt x="2740285" y="2025151"/>
                      <a:pt x="2738953" y="2028369"/>
                      <a:pt x="2736580" y="2030741"/>
                    </a:cubicBezTo>
                    <a:cubicBezTo>
                      <a:pt x="2734208" y="2033113"/>
                      <a:pt x="2730991" y="2034446"/>
                      <a:pt x="2727636" y="2034446"/>
                    </a:cubicBezTo>
                    <a:lnTo>
                      <a:pt x="12650" y="2034446"/>
                    </a:lnTo>
                    <a:cubicBezTo>
                      <a:pt x="5663" y="2034446"/>
                      <a:pt x="0" y="2028782"/>
                      <a:pt x="0" y="2021796"/>
                    </a:cubicBezTo>
                    <a:lnTo>
                      <a:pt x="0" y="12650"/>
                    </a:lnTo>
                    <a:cubicBezTo>
                      <a:pt x="0" y="9295"/>
                      <a:pt x="1333" y="6077"/>
                      <a:pt x="3705" y="3705"/>
                    </a:cubicBezTo>
                    <a:cubicBezTo>
                      <a:pt x="6077" y="1333"/>
                      <a:pt x="9295" y="0"/>
                      <a:pt x="12650" y="0"/>
                    </a:cubicBezTo>
                    <a:close/>
                  </a:path>
                </a:pathLst>
              </a:custGeom>
              <a:ln w="38100" cap="sq">
                <a:solidFill>
                  <a:srgbClr val="5DCC6A"/>
                </a:solidFill>
                <a:prstDash val="solid"/>
                <a:miter/>
              </a:ln>
            </p:spPr>
          </p:sp>
          <p:sp>
            <p:nvSpPr>
              <p:cNvPr name="TextBox 11" id="11"/>
              <p:cNvSpPr txBox="true"/>
              <p:nvPr/>
            </p:nvSpPr>
            <p:spPr>
              <a:xfrm>
                <a:off x="0" y="-47625"/>
                <a:ext cx="2740285" cy="208207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76506" y="483008"/>
              <a:ext cx="12471958" cy="383897"/>
            </a:xfrm>
            <a:prstGeom prst="rect">
              <a:avLst/>
            </a:prstGeom>
          </p:spPr>
          <p:txBody>
            <a:bodyPr anchor="t" rtlCol="false" tIns="0" lIns="0" bIns="0" rIns="0">
              <a:spAutoFit/>
            </a:bodyPr>
            <a:lstStyle/>
            <a:p>
              <a:pPr algn="l">
                <a:lnSpc>
                  <a:spcPts val="2097"/>
                </a:lnSpc>
              </a:pPr>
              <a:r>
                <a:rPr lang="en-US" sz="2231">
                  <a:solidFill>
                    <a:srgbClr val="F8F6F0"/>
                  </a:solidFill>
                  <a:latin typeface="Cy Grotesk Wide"/>
                  <a:ea typeface="Cy Grotesk Wide"/>
                  <a:cs typeface="Cy Grotesk Wide"/>
                  <a:sym typeface="Cy Grotesk Wide"/>
                </a:rPr>
                <a:t>El 2do cuatrimestre presenta menos inscripciones</a:t>
              </a:r>
            </a:p>
          </p:txBody>
        </p:sp>
      </p:grpSp>
      <p:grpSp>
        <p:nvGrpSpPr>
          <p:cNvPr name="Group 13" id="13"/>
          <p:cNvGrpSpPr/>
          <p:nvPr/>
        </p:nvGrpSpPr>
        <p:grpSpPr>
          <a:xfrm rot="0">
            <a:off x="11461882" y="1912283"/>
            <a:ext cx="6189108" cy="1443893"/>
            <a:chOff x="0" y="0"/>
            <a:chExt cx="8252144" cy="1925190"/>
          </a:xfrm>
        </p:grpSpPr>
        <p:grpSp>
          <p:nvGrpSpPr>
            <p:cNvPr name="Group 14" id="14"/>
            <p:cNvGrpSpPr/>
            <p:nvPr/>
          </p:nvGrpSpPr>
          <p:grpSpPr>
            <a:xfrm rot="0">
              <a:off x="0" y="0"/>
              <a:ext cx="8252144" cy="1925190"/>
              <a:chOff x="0" y="0"/>
              <a:chExt cx="1630053" cy="380285"/>
            </a:xfrm>
          </p:grpSpPr>
          <p:sp>
            <p:nvSpPr>
              <p:cNvPr name="Freeform 15" id="15"/>
              <p:cNvSpPr/>
              <p:nvPr/>
            </p:nvSpPr>
            <p:spPr>
              <a:xfrm flipH="false" flipV="false" rot="0">
                <a:off x="0" y="0"/>
                <a:ext cx="1630053" cy="380285"/>
              </a:xfrm>
              <a:custGeom>
                <a:avLst/>
                <a:gdLst/>
                <a:ahLst/>
                <a:cxnLst/>
                <a:rect r="r" b="b" t="t" l="l"/>
                <a:pathLst>
                  <a:path h="380285" w="1630053">
                    <a:moveTo>
                      <a:pt x="16262" y="0"/>
                    </a:moveTo>
                    <a:lnTo>
                      <a:pt x="1613791" y="0"/>
                    </a:lnTo>
                    <a:cubicBezTo>
                      <a:pt x="1622772" y="0"/>
                      <a:pt x="1630053" y="7281"/>
                      <a:pt x="1630053" y="16262"/>
                    </a:cubicBezTo>
                    <a:lnTo>
                      <a:pt x="1630053" y="364023"/>
                    </a:lnTo>
                    <a:cubicBezTo>
                      <a:pt x="1630053" y="373004"/>
                      <a:pt x="1622772" y="380285"/>
                      <a:pt x="1613791" y="380285"/>
                    </a:cubicBezTo>
                    <a:lnTo>
                      <a:pt x="16262" y="380285"/>
                    </a:lnTo>
                    <a:cubicBezTo>
                      <a:pt x="11949" y="380285"/>
                      <a:pt x="7813" y="378571"/>
                      <a:pt x="4763" y="375522"/>
                    </a:cubicBezTo>
                    <a:cubicBezTo>
                      <a:pt x="1713" y="372472"/>
                      <a:pt x="0" y="368336"/>
                      <a:pt x="0" y="364023"/>
                    </a:cubicBezTo>
                    <a:lnTo>
                      <a:pt x="0" y="16262"/>
                    </a:lnTo>
                    <a:cubicBezTo>
                      <a:pt x="0" y="7281"/>
                      <a:pt x="7281" y="0"/>
                      <a:pt x="16262" y="0"/>
                    </a:cubicBezTo>
                    <a:close/>
                  </a:path>
                </a:pathLst>
              </a:custGeom>
              <a:solidFill>
                <a:srgbClr val="F8F6F0"/>
              </a:solidFill>
              <a:ln cap="sq">
                <a:noFill/>
                <a:prstDash val="solid"/>
                <a:miter/>
              </a:ln>
            </p:spPr>
          </p:sp>
          <p:sp>
            <p:nvSpPr>
              <p:cNvPr name="TextBox 16" id="16"/>
              <p:cNvSpPr txBox="true"/>
              <p:nvPr/>
            </p:nvSpPr>
            <p:spPr>
              <a:xfrm>
                <a:off x="0" y="-47625"/>
                <a:ext cx="1630053" cy="42791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484914" y="515702"/>
              <a:ext cx="7282316" cy="865212"/>
            </a:xfrm>
            <a:prstGeom prst="rect">
              <a:avLst/>
            </a:prstGeom>
          </p:spPr>
          <p:txBody>
            <a:bodyPr anchor="t" rtlCol="false" tIns="0" lIns="0" bIns="0" rIns="0">
              <a:spAutoFit/>
            </a:bodyPr>
            <a:lstStyle/>
            <a:p>
              <a:pPr algn="l">
                <a:lnSpc>
                  <a:spcPts val="2557"/>
                </a:lnSpc>
              </a:pPr>
              <a:r>
                <a:rPr lang="en-US" sz="1997">
                  <a:solidFill>
                    <a:srgbClr val="000000"/>
                  </a:solidFill>
                  <a:latin typeface="Cy Grotesk Wide"/>
                  <a:ea typeface="Cy Grotesk Wide"/>
                  <a:cs typeface="Cy Grotesk Wide"/>
                  <a:sym typeface="Cy Grotesk Wide"/>
                </a:rPr>
                <a:t>La principal pérdida ocurre </a:t>
              </a:r>
              <a:r>
                <a:rPr lang="en-US" sz="1997" b="true">
                  <a:solidFill>
                    <a:srgbClr val="000000"/>
                  </a:solidFill>
                  <a:latin typeface="Cy Grotesk Wide Bold"/>
                  <a:ea typeface="Cy Grotesk Wide Bold"/>
                  <a:cs typeface="Cy Grotesk Wide Bold"/>
                  <a:sym typeface="Cy Grotesk Wide Bold"/>
                </a:rPr>
                <a:t>entre el primer y el segundo cuatrimestre</a:t>
              </a:r>
            </a:p>
          </p:txBody>
        </p:sp>
      </p:grpSp>
      <p:grpSp>
        <p:nvGrpSpPr>
          <p:cNvPr name="Group 18" id="18"/>
          <p:cNvGrpSpPr/>
          <p:nvPr/>
        </p:nvGrpSpPr>
        <p:grpSpPr>
          <a:xfrm rot="0">
            <a:off x="11461882" y="3699607"/>
            <a:ext cx="6189108" cy="1443893"/>
            <a:chOff x="0" y="0"/>
            <a:chExt cx="8252144" cy="1925190"/>
          </a:xfrm>
        </p:grpSpPr>
        <p:grpSp>
          <p:nvGrpSpPr>
            <p:cNvPr name="Group 19" id="19"/>
            <p:cNvGrpSpPr/>
            <p:nvPr/>
          </p:nvGrpSpPr>
          <p:grpSpPr>
            <a:xfrm rot="0">
              <a:off x="0" y="0"/>
              <a:ext cx="8252144" cy="1925190"/>
              <a:chOff x="0" y="0"/>
              <a:chExt cx="1630053" cy="380285"/>
            </a:xfrm>
          </p:grpSpPr>
          <p:sp>
            <p:nvSpPr>
              <p:cNvPr name="Freeform 20" id="20"/>
              <p:cNvSpPr/>
              <p:nvPr/>
            </p:nvSpPr>
            <p:spPr>
              <a:xfrm flipH="false" flipV="false" rot="0">
                <a:off x="0" y="0"/>
                <a:ext cx="1630053" cy="380285"/>
              </a:xfrm>
              <a:custGeom>
                <a:avLst/>
                <a:gdLst/>
                <a:ahLst/>
                <a:cxnLst/>
                <a:rect r="r" b="b" t="t" l="l"/>
                <a:pathLst>
                  <a:path h="380285" w="1630053">
                    <a:moveTo>
                      <a:pt x="16262" y="0"/>
                    </a:moveTo>
                    <a:lnTo>
                      <a:pt x="1613791" y="0"/>
                    </a:lnTo>
                    <a:cubicBezTo>
                      <a:pt x="1622772" y="0"/>
                      <a:pt x="1630053" y="7281"/>
                      <a:pt x="1630053" y="16262"/>
                    </a:cubicBezTo>
                    <a:lnTo>
                      <a:pt x="1630053" y="364023"/>
                    </a:lnTo>
                    <a:cubicBezTo>
                      <a:pt x="1630053" y="373004"/>
                      <a:pt x="1622772" y="380285"/>
                      <a:pt x="1613791" y="380285"/>
                    </a:cubicBezTo>
                    <a:lnTo>
                      <a:pt x="16262" y="380285"/>
                    </a:lnTo>
                    <a:cubicBezTo>
                      <a:pt x="11949" y="380285"/>
                      <a:pt x="7813" y="378571"/>
                      <a:pt x="4763" y="375522"/>
                    </a:cubicBezTo>
                    <a:cubicBezTo>
                      <a:pt x="1713" y="372472"/>
                      <a:pt x="0" y="368336"/>
                      <a:pt x="0" y="364023"/>
                    </a:cubicBezTo>
                    <a:lnTo>
                      <a:pt x="0" y="16262"/>
                    </a:lnTo>
                    <a:cubicBezTo>
                      <a:pt x="0" y="7281"/>
                      <a:pt x="7281" y="0"/>
                      <a:pt x="16262" y="0"/>
                    </a:cubicBezTo>
                    <a:close/>
                  </a:path>
                </a:pathLst>
              </a:custGeom>
              <a:solidFill>
                <a:srgbClr val="F8F6F0"/>
              </a:solidFill>
              <a:ln cap="sq">
                <a:noFill/>
                <a:prstDash val="solid"/>
                <a:miter/>
              </a:ln>
            </p:spPr>
          </p:sp>
          <p:sp>
            <p:nvSpPr>
              <p:cNvPr name="TextBox 21" id="21"/>
              <p:cNvSpPr txBox="true"/>
              <p:nvPr/>
            </p:nvSpPr>
            <p:spPr>
              <a:xfrm>
                <a:off x="0" y="-47625"/>
                <a:ext cx="1630053" cy="42791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447574" y="515702"/>
              <a:ext cx="7282316" cy="865212"/>
            </a:xfrm>
            <a:prstGeom prst="rect">
              <a:avLst/>
            </a:prstGeom>
          </p:spPr>
          <p:txBody>
            <a:bodyPr anchor="t" rtlCol="false" tIns="0" lIns="0" bIns="0" rIns="0">
              <a:spAutoFit/>
            </a:bodyPr>
            <a:lstStyle/>
            <a:p>
              <a:pPr algn="l">
                <a:lnSpc>
                  <a:spcPts val="2557"/>
                </a:lnSpc>
              </a:pPr>
              <a:r>
                <a:rPr lang="en-US" sz="1997">
                  <a:solidFill>
                    <a:srgbClr val="000000"/>
                  </a:solidFill>
                  <a:latin typeface="Cy Grotesk Wide"/>
                  <a:ea typeface="Cy Grotesk Wide"/>
                  <a:cs typeface="Cy Grotesk Wide"/>
                  <a:sym typeface="Cy Grotesk Wide"/>
                </a:rPr>
                <a:t>Caída promedio de </a:t>
              </a:r>
              <a:r>
                <a:rPr lang="en-US" sz="1997" b="true">
                  <a:solidFill>
                    <a:srgbClr val="000000"/>
                  </a:solidFill>
                  <a:latin typeface="Cy Grotesk Wide Bold"/>
                  <a:ea typeface="Cy Grotesk Wide Bold"/>
                  <a:cs typeface="Cy Grotesk Wide Bold"/>
                  <a:sym typeface="Cy Grotesk Wide Bold"/>
                </a:rPr>
                <a:t>1.06% en 2023</a:t>
              </a:r>
              <a:r>
                <a:rPr lang="en-US" sz="1997">
                  <a:solidFill>
                    <a:srgbClr val="000000"/>
                  </a:solidFill>
                  <a:latin typeface="Cy Grotesk Wide"/>
                  <a:ea typeface="Cy Grotesk Wide"/>
                  <a:cs typeface="Cy Grotesk Wide"/>
                  <a:sym typeface="Cy Grotesk Wide"/>
                </a:rPr>
                <a:t> y </a:t>
              </a:r>
              <a:r>
                <a:rPr lang="en-US" sz="1997" b="true">
                  <a:solidFill>
                    <a:srgbClr val="000000"/>
                  </a:solidFill>
                  <a:latin typeface="Cy Grotesk Wide Bold"/>
                  <a:ea typeface="Cy Grotesk Wide Bold"/>
                  <a:cs typeface="Cy Grotesk Wide Bold"/>
                  <a:sym typeface="Cy Grotesk Wide Bold"/>
                </a:rPr>
                <a:t>4.59% en 2024</a:t>
              </a:r>
            </a:p>
          </p:txBody>
        </p:sp>
      </p:grpSp>
      <p:sp>
        <p:nvSpPr>
          <p:cNvPr name="Freeform 23" id="23"/>
          <p:cNvSpPr/>
          <p:nvPr/>
        </p:nvSpPr>
        <p:spPr>
          <a:xfrm flipH="false" flipV="false" rot="0">
            <a:off x="981075" y="2653279"/>
            <a:ext cx="9375990" cy="6835737"/>
          </a:xfrm>
          <a:custGeom>
            <a:avLst/>
            <a:gdLst/>
            <a:ahLst/>
            <a:cxnLst/>
            <a:rect r="r" b="b" t="t" l="l"/>
            <a:pathLst>
              <a:path h="6835737" w="9375990">
                <a:moveTo>
                  <a:pt x="0" y="0"/>
                </a:moveTo>
                <a:lnTo>
                  <a:pt x="9375990" y="0"/>
                </a:lnTo>
                <a:lnTo>
                  <a:pt x="9375990" y="6835737"/>
                </a:lnTo>
                <a:lnTo>
                  <a:pt x="0" y="6835737"/>
                </a:lnTo>
                <a:lnTo>
                  <a:pt x="0" y="0"/>
                </a:lnTo>
                <a:close/>
              </a:path>
            </a:pathLst>
          </a:custGeom>
          <a:blipFill>
            <a:blip r:embed="rId3"/>
            <a:stretch>
              <a:fillRect l="-380" t="-1249" r="0" b="-1143"/>
            </a:stretch>
          </a:blipFill>
        </p:spPr>
      </p:sp>
      <p:sp>
        <p:nvSpPr>
          <p:cNvPr name="TextBox 24" id="24"/>
          <p:cNvSpPr txBox="true"/>
          <p:nvPr/>
        </p:nvSpPr>
        <p:spPr>
          <a:xfrm rot="0">
            <a:off x="1823228" y="512534"/>
            <a:ext cx="14641544" cy="371948"/>
          </a:xfrm>
          <a:prstGeom prst="rect">
            <a:avLst/>
          </a:prstGeom>
        </p:spPr>
        <p:txBody>
          <a:bodyPr anchor="t" rtlCol="false" tIns="0" lIns="0" bIns="0" rIns="0">
            <a:spAutoFit/>
          </a:bodyPr>
          <a:lstStyle/>
          <a:p>
            <a:pPr algn="just">
              <a:lnSpc>
                <a:spcPts val="2726"/>
              </a:lnSpc>
            </a:pPr>
            <a:r>
              <a:rPr lang="en-US" sz="2900">
                <a:solidFill>
                  <a:srgbClr val="000000"/>
                </a:solidFill>
                <a:latin typeface="Cy Grotesk Wide"/>
                <a:ea typeface="Cy Grotesk Wide"/>
                <a:cs typeface="Cy Grotesk Wide"/>
                <a:sym typeface="Cy Grotesk Wide"/>
              </a:rPr>
              <a:t>¿En qué</a:t>
            </a:r>
            <a:r>
              <a:rPr lang="en-US" sz="2900">
                <a:solidFill>
                  <a:srgbClr val="000000"/>
                </a:solidFill>
                <a:latin typeface="Cy Grotesk Wide"/>
                <a:ea typeface="Cy Grotesk Wide"/>
                <a:cs typeface="Cy Grotesk Wide"/>
                <a:sym typeface="Cy Grotesk Wide"/>
              </a:rPr>
              <a:t> </a:t>
            </a:r>
            <a:r>
              <a:rPr lang="en-US" sz="2900">
                <a:solidFill>
                  <a:srgbClr val="000000"/>
                </a:solidFill>
                <a:latin typeface="Cy Grotesk Wide"/>
                <a:ea typeface="Cy Grotesk Wide"/>
                <a:cs typeface="Cy Grotesk Wide"/>
                <a:sym typeface="Cy Grotesk Wide"/>
              </a:rPr>
              <a:t>cuatrimestre se concentra la mayor caída de inscripciones?</a:t>
            </a: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0">
            <a:off x="0" y="-67693"/>
            <a:ext cx="18447379" cy="10354693"/>
            <a:chOff x="0" y="0"/>
            <a:chExt cx="21205253" cy="11902715"/>
          </a:xfrm>
        </p:grpSpPr>
        <p:sp>
          <p:nvSpPr>
            <p:cNvPr name="Freeform 3" id="3"/>
            <p:cNvSpPr/>
            <p:nvPr/>
          </p:nvSpPr>
          <p:spPr>
            <a:xfrm flipH="false" flipV="false" rot="0">
              <a:off x="0" y="0"/>
              <a:ext cx="21205253" cy="11902715"/>
            </a:xfrm>
            <a:custGeom>
              <a:avLst/>
              <a:gdLst/>
              <a:ahLst/>
              <a:cxnLst/>
              <a:rect r="r" b="b" t="t" l="l"/>
              <a:pathLst>
                <a:path h="11902715" w="21205253">
                  <a:moveTo>
                    <a:pt x="0" y="0"/>
                  </a:moveTo>
                  <a:lnTo>
                    <a:pt x="21205253" y="0"/>
                  </a:lnTo>
                  <a:lnTo>
                    <a:pt x="21205253" y="11902715"/>
                  </a:lnTo>
                  <a:lnTo>
                    <a:pt x="0" y="11902715"/>
                  </a:lnTo>
                  <a:close/>
                </a:path>
              </a:pathLst>
            </a:custGeom>
            <a:solidFill>
              <a:srgbClr val="000000"/>
            </a:solidFill>
          </p:spPr>
        </p:sp>
        <p:sp>
          <p:nvSpPr>
            <p:cNvPr name="TextBox 4" id="4"/>
            <p:cNvSpPr txBox="true"/>
            <p:nvPr/>
          </p:nvSpPr>
          <p:spPr>
            <a:xfrm>
              <a:off x="0" y="-47625"/>
              <a:ext cx="21205253" cy="119503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22699" y="-9525"/>
            <a:ext cx="34560798" cy="1330340"/>
            <a:chOff x="0" y="0"/>
            <a:chExt cx="39727621" cy="1529225"/>
          </a:xfrm>
        </p:grpSpPr>
        <p:sp>
          <p:nvSpPr>
            <p:cNvPr name="Freeform 6" id="6"/>
            <p:cNvSpPr/>
            <p:nvPr/>
          </p:nvSpPr>
          <p:spPr>
            <a:xfrm flipH="false" flipV="false" rot="0">
              <a:off x="0" y="0"/>
              <a:ext cx="39727622" cy="1529225"/>
            </a:xfrm>
            <a:custGeom>
              <a:avLst/>
              <a:gdLst/>
              <a:ahLst/>
              <a:cxnLst/>
              <a:rect r="r" b="b" t="t" l="l"/>
              <a:pathLst>
                <a:path h="1529225" w="39727622">
                  <a:moveTo>
                    <a:pt x="0" y="0"/>
                  </a:moveTo>
                  <a:lnTo>
                    <a:pt x="39727622" y="0"/>
                  </a:lnTo>
                  <a:lnTo>
                    <a:pt x="39727622" y="1529225"/>
                  </a:lnTo>
                  <a:lnTo>
                    <a:pt x="0" y="1529225"/>
                  </a:lnTo>
                  <a:close/>
                </a:path>
              </a:pathLst>
            </a:custGeom>
            <a:solidFill>
              <a:srgbClr val="54DF64"/>
            </a:solidFill>
          </p:spPr>
        </p:sp>
        <p:sp>
          <p:nvSpPr>
            <p:cNvPr name="TextBox 7" id="7"/>
            <p:cNvSpPr txBox="true"/>
            <p:nvPr/>
          </p:nvSpPr>
          <p:spPr>
            <a:xfrm>
              <a:off x="0" y="-47625"/>
              <a:ext cx="39727621" cy="15768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35493" y="1648103"/>
            <a:ext cx="6548524" cy="4030485"/>
            <a:chOff x="0" y="0"/>
            <a:chExt cx="8731366" cy="5373980"/>
          </a:xfrm>
        </p:grpSpPr>
        <p:grpSp>
          <p:nvGrpSpPr>
            <p:cNvPr name="Group 9" id="9"/>
            <p:cNvGrpSpPr/>
            <p:nvPr/>
          </p:nvGrpSpPr>
          <p:grpSpPr>
            <a:xfrm rot="0">
              <a:off x="0" y="0"/>
              <a:ext cx="8731366" cy="5373980"/>
              <a:chOff x="0" y="0"/>
              <a:chExt cx="1817335" cy="1118533"/>
            </a:xfrm>
          </p:grpSpPr>
          <p:sp>
            <p:nvSpPr>
              <p:cNvPr name="Freeform 10" id="10"/>
              <p:cNvSpPr/>
              <p:nvPr/>
            </p:nvSpPr>
            <p:spPr>
              <a:xfrm flipH="false" flipV="false" rot="0">
                <a:off x="0" y="0"/>
                <a:ext cx="1817335" cy="1118533"/>
              </a:xfrm>
              <a:custGeom>
                <a:avLst/>
                <a:gdLst/>
                <a:ahLst/>
                <a:cxnLst/>
                <a:rect r="r" b="b" t="t" l="l"/>
                <a:pathLst>
                  <a:path h="1118533" w="1817335">
                    <a:moveTo>
                      <a:pt x="19074" y="0"/>
                    </a:moveTo>
                    <a:lnTo>
                      <a:pt x="1798261" y="0"/>
                    </a:lnTo>
                    <a:cubicBezTo>
                      <a:pt x="1803320" y="0"/>
                      <a:pt x="1808171" y="2010"/>
                      <a:pt x="1811748" y="5587"/>
                    </a:cubicBezTo>
                    <a:cubicBezTo>
                      <a:pt x="1815325" y="9164"/>
                      <a:pt x="1817335" y="14015"/>
                      <a:pt x="1817335" y="19074"/>
                    </a:cubicBezTo>
                    <a:lnTo>
                      <a:pt x="1817335" y="1099459"/>
                    </a:lnTo>
                    <a:cubicBezTo>
                      <a:pt x="1817335" y="1109993"/>
                      <a:pt x="1808795" y="1118533"/>
                      <a:pt x="1798261" y="1118533"/>
                    </a:cubicBezTo>
                    <a:lnTo>
                      <a:pt x="19074" y="1118533"/>
                    </a:lnTo>
                    <a:cubicBezTo>
                      <a:pt x="8540" y="1118533"/>
                      <a:pt x="0" y="1109993"/>
                      <a:pt x="0" y="1099459"/>
                    </a:cubicBezTo>
                    <a:lnTo>
                      <a:pt x="0" y="19074"/>
                    </a:lnTo>
                    <a:cubicBezTo>
                      <a:pt x="0" y="8540"/>
                      <a:pt x="8540" y="0"/>
                      <a:pt x="19074" y="0"/>
                    </a:cubicBezTo>
                    <a:close/>
                  </a:path>
                </a:pathLst>
              </a:custGeom>
              <a:ln w="38100" cap="sq">
                <a:solidFill>
                  <a:srgbClr val="5DCC6A"/>
                </a:solidFill>
                <a:prstDash val="solid"/>
                <a:miter/>
              </a:ln>
            </p:spPr>
          </p:sp>
          <p:sp>
            <p:nvSpPr>
              <p:cNvPr name="TextBox 11" id="11"/>
              <p:cNvSpPr txBox="true"/>
              <p:nvPr/>
            </p:nvSpPr>
            <p:spPr>
              <a:xfrm>
                <a:off x="0" y="-47625"/>
                <a:ext cx="1817335" cy="116615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444354" y="391887"/>
              <a:ext cx="8287012" cy="303493"/>
            </a:xfrm>
            <a:prstGeom prst="rect">
              <a:avLst/>
            </a:prstGeom>
          </p:spPr>
          <p:txBody>
            <a:bodyPr anchor="t" rtlCol="false" tIns="0" lIns="0" bIns="0" rIns="0">
              <a:spAutoFit/>
            </a:bodyPr>
            <a:lstStyle/>
            <a:p>
              <a:pPr algn="l">
                <a:lnSpc>
                  <a:spcPts val="1633"/>
                </a:lnSpc>
              </a:pPr>
              <a:r>
                <a:rPr lang="en-US" sz="1738">
                  <a:solidFill>
                    <a:srgbClr val="F8F6F0"/>
                  </a:solidFill>
                  <a:latin typeface="Cy Grotesk Wide"/>
                  <a:ea typeface="Cy Grotesk Wide"/>
                  <a:cs typeface="Cy Grotesk Wide"/>
                  <a:sym typeface="Cy Grotesk Wide"/>
                </a:rPr>
                <a:t>Tec. Programación presenta mayor abondono </a:t>
              </a:r>
            </a:p>
          </p:txBody>
        </p:sp>
        <p:sp>
          <p:nvSpPr>
            <p:cNvPr name="Freeform 13" id="13"/>
            <p:cNvSpPr/>
            <p:nvPr/>
          </p:nvSpPr>
          <p:spPr>
            <a:xfrm flipH="false" flipV="false" rot="0">
              <a:off x="338390" y="838043"/>
              <a:ext cx="8064369" cy="4308739"/>
            </a:xfrm>
            <a:custGeom>
              <a:avLst/>
              <a:gdLst/>
              <a:ahLst/>
              <a:cxnLst/>
              <a:rect r="r" b="b" t="t" l="l"/>
              <a:pathLst>
                <a:path h="4308739" w="8064369">
                  <a:moveTo>
                    <a:pt x="0" y="0"/>
                  </a:moveTo>
                  <a:lnTo>
                    <a:pt x="8064370" y="0"/>
                  </a:lnTo>
                  <a:lnTo>
                    <a:pt x="8064370" y="4308739"/>
                  </a:lnTo>
                  <a:lnTo>
                    <a:pt x="0" y="4308739"/>
                  </a:lnTo>
                  <a:lnTo>
                    <a:pt x="0" y="0"/>
                  </a:lnTo>
                  <a:close/>
                </a:path>
              </a:pathLst>
            </a:custGeom>
            <a:blipFill>
              <a:blip r:embed="rId3"/>
              <a:stretch>
                <a:fillRect l="-2152" t="-1597" r="0" b="0"/>
              </a:stretch>
            </a:blipFill>
          </p:spPr>
        </p:sp>
      </p:grpSp>
      <p:grpSp>
        <p:nvGrpSpPr>
          <p:cNvPr name="Group 14" id="14"/>
          <p:cNvGrpSpPr/>
          <p:nvPr/>
        </p:nvGrpSpPr>
        <p:grpSpPr>
          <a:xfrm rot="0">
            <a:off x="7316160" y="1648103"/>
            <a:ext cx="6657545" cy="4030485"/>
            <a:chOff x="0" y="0"/>
            <a:chExt cx="8876727" cy="5373980"/>
          </a:xfrm>
        </p:grpSpPr>
        <p:grpSp>
          <p:nvGrpSpPr>
            <p:cNvPr name="Group 15" id="15"/>
            <p:cNvGrpSpPr/>
            <p:nvPr/>
          </p:nvGrpSpPr>
          <p:grpSpPr>
            <a:xfrm rot="0">
              <a:off x="0" y="0"/>
              <a:ext cx="8876727" cy="5373980"/>
              <a:chOff x="0" y="0"/>
              <a:chExt cx="1847590" cy="1118533"/>
            </a:xfrm>
          </p:grpSpPr>
          <p:sp>
            <p:nvSpPr>
              <p:cNvPr name="Freeform 16" id="16"/>
              <p:cNvSpPr/>
              <p:nvPr/>
            </p:nvSpPr>
            <p:spPr>
              <a:xfrm flipH="false" flipV="false" rot="0">
                <a:off x="0" y="0"/>
                <a:ext cx="1847590" cy="1118533"/>
              </a:xfrm>
              <a:custGeom>
                <a:avLst/>
                <a:gdLst/>
                <a:ahLst/>
                <a:cxnLst/>
                <a:rect r="r" b="b" t="t" l="l"/>
                <a:pathLst>
                  <a:path h="1118533" w="1847590">
                    <a:moveTo>
                      <a:pt x="18761" y="0"/>
                    </a:moveTo>
                    <a:lnTo>
                      <a:pt x="1828828" y="0"/>
                    </a:lnTo>
                    <a:cubicBezTo>
                      <a:pt x="1833804" y="0"/>
                      <a:pt x="1838576" y="1977"/>
                      <a:pt x="1842095" y="5495"/>
                    </a:cubicBezTo>
                    <a:cubicBezTo>
                      <a:pt x="1845613" y="9014"/>
                      <a:pt x="1847590" y="13786"/>
                      <a:pt x="1847590" y="18761"/>
                    </a:cubicBezTo>
                    <a:lnTo>
                      <a:pt x="1847590" y="1099772"/>
                    </a:lnTo>
                    <a:cubicBezTo>
                      <a:pt x="1847590" y="1110133"/>
                      <a:pt x="1839190" y="1118533"/>
                      <a:pt x="1828828" y="1118533"/>
                    </a:cubicBezTo>
                    <a:lnTo>
                      <a:pt x="18761" y="1118533"/>
                    </a:lnTo>
                    <a:cubicBezTo>
                      <a:pt x="8400" y="1118533"/>
                      <a:pt x="0" y="1110133"/>
                      <a:pt x="0" y="1099772"/>
                    </a:cubicBezTo>
                    <a:lnTo>
                      <a:pt x="0" y="18761"/>
                    </a:lnTo>
                    <a:cubicBezTo>
                      <a:pt x="0" y="8400"/>
                      <a:pt x="8400" y="0"/>
                      <a:pt x="18761" y="0"/>
                    </a:cubicBezTo>
                    <a:close/>
                  </a:path>
                </a:pathLst>
              </a:custGeom>
              <a:ln w="38100" cap="sq">
                <a:solidFill>
                  <a:srgbClr val="5DCC6A"/>
                </a:solidFill>
                <a:prstDash val="solid"/>
                <a:miter/>
              </a:ln>
            </p:spPr>
          </p:sp>
          <p:sp>
            <p:nvSpPr>
              <p:cNvPr name="TextBox 17" id="17"/>
              <p:cNvSpPr txBox="true"/>
              <p:nvPr/>
            </p:nvSpPr>
            <p:spPr>
              <a:xfrm>
                <a:off x="0" y="-47625"/>
                <a:ext cx="1847590" cy="1166158"/>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409800" y="376271"/>
              <a:ext cx="8134253" cy="303493"/>
            </a:xfrm>
            <a:prstGeom prst="rect">
              <a:avLst/>
            </a:prstGeom>
          </p:spPr>
          <p:txBody>
            <a:bodyPr anchor="t" rtlCol="false" tIns="0" lIns="0" bIns="0" rIns="0">
              <a:spAutoFit/>
            </a:bodyPr>
            <a:lstStyle/>
            <a:p>
              <a:pPr algn="l">
                <a:lnSpc>
                  <a:spcPts val="1633"/>
                </a:lnSpc>
              </a:pPr>
              <a:r>
                <a:rPr lang="en-US" sz="1738">
                  <a:solidFill>
                    <a:srgbClr val="F8F6F0"/>
                  </a:solidFill>
                  <a:latin typeface="Cy Grotesk Wide"/>
                  <a:ea typeface="Cy Grotesk Wide"/>
                  <a:cs typeface="Cy Grotesk Wide"/>
                  <a:sym typeface="Cy Grotesk Wide"/>
                </a:rPr>
                <a:t>Concentración en Regional BA</a:t>
              </a:r>
            </a:p>
          </p:txBody>
        </p:sp>
        <p:sp>
          <p:nvSpPr>
            <p:cNvPr name="Freeform 19" id="19"/>
            <p:cNvSpPr/>
            <p:nvPr/>
          </p:nvSpPr>
          <p:spPr>
            <a:xfrm flipH="false" flipV="false" rot="0">
              <a:off x="156473" y="967076"/>
              <a:ext cx="8563780" cy="4241805"/>
            </a:xfrm>
            <a:custGeom>
              <a:avLst/>
              <a:gdLst/>
              <a:ahLst/>
              <a:cxnLst/>
              <a:rect r="r" b="b" t="t" l="l"/>
              <a:pathLst>
                <a:path h="4241805" w="8563780">
                  <a:moveTo>
                    <a:pt x="0" y="0"/>
                  </a:moveTo>
                  <a:lnTo>
                    <a:pt x="8563781" y="0"/>
                  </a:lnTo>
                  <a:lnTo>
                    <a:pt x="8563781" y="4241804"/>
                  </a:lnTo>
                  <a:lnTo>
                    <a:pt x="0" y="4241804"/>
                  </a:lnTo>
                  <a:lnTo>
                    <a:pt x="0" y="0"/>
                  </a:lnTo>
                  <a:close/>
                </a:path>
              </a:pathLst>
            </a:custGeom>
            <a:blipFill>
              <a:blip r:embed="rId4"/>
              <a:stretch>
                <a:fillRect l="-6154" t="-2269" r="-2171" b="0"/>
              </a:stretch>
            </a:blipFill>
          </p:spPr>
        </p:sp>
        <p:sp>
          <p:nvSpPr>
            <p:cNvPr name="Freeform 20" id="20"/>
            <p:cNvSpPr/>
            <p:nvPr/>
          </p:nvSpPr>
          <p:spPr>
            <a:xfrm flipH="false" flipV="false" rot="0">
              <a:off x="4140871" y="4660530"/>
              <a:ext cx="2591794" cy="415479"/>
            </a:xfrm>
            <a:custGeom>
              <a:avLst/>
              <a:gdLst/>
              <a:ahLst/>
              <a:cxnLst/>
              <a:rect r="r" b="b" t="t" l="l"/>
              <a:pathLst>
                <a:path h="415479" w="2591794">
                  <a:moveTo>
                    <a:pt x="0" y="0"/>
                  </a:moveTo>
                  <a:lnTo>
                    <a:pt x="2591795" y="0"/>
                  </a:lnTo>
                  <a:lnTo>
                    <a:pt x="2591795" y="415478"/>
                  </a:lnTo>
                  <a:lnTo>
                    <a:pt x="0" y="415478"/>
                  </a:lnTo>
                  <a:lnTo>
                    <a:pt x="0" y="0"/>
                  </a:lnTo>
                  <a:close/>
                </a:path>
              </a:pathLst>
            </a:custGeom>
            <a:blipFill>
              <a:blip r:embed="rId5"/>
              <a:stretch>
                <a:fillRect l="0" t="0" r="0" b="0"/>
              </a:stretch>
            </a:blipFill>
          </p:spPr>
        </p:sp>
      </p:grpSp>
      <p:grpSp>
        <p:nvGrpSpPr>
          <p:cNvPr name="Group 21" id="21"/>
          <p:cNvGrpSpPr/>
          <p:nvPr/>
        </p:nvGrpSpPr>
        <p:grpSpPr>
          <a:xfrm rot="0">
            <a:off x="14305849" y="1657628"/>
            <a:ext cx="3546658" cy="4030485"/>
            <a:chOff x="0" y="0"/>
            <a:chExt cx="4728878" cy="5373980"/>
          </a:xfrm>
        </p:grpSpPr>
        <p:grpSp>
          <p:nvGrpSpPr>
            <p:cNvPr name="Group 22" id="22"/>
            <p:cNvGrpSpPr/>
            <p:nvPr/>
          </p:nvGrpSpPr>
          <p:grpSpPr>
            <a:xfrm rot="0">
              <a:off x="0" y="0"/>
              <a:ext cx="4728878" cy="5373980"/>
              <a:chOff x="0" y="0"/>
              <a:chExt cx="933919" cy="1061322"/>
            </a:xfrm>
          </p:grpSpPr>
          <p:sp>
            <p:nvSpPr>
              <p:cNvPr name="Freeform 23" id="23"/>
              <p:cNvSpPr/>
              <p:nvPr/>
            </p:nvSpPr>
            <p:spPr>
              <a:xfrm flipH="false" flipV="false" rot="0">
                <a:off x="0" y="0"/>
                <a:ext cx="933919" cy="1061322"/>
              </a:xfrm>
              <a:custGeom>
                <a:avLst/>
                <a:gdLst/>
                <a:ahLst/>
                <a:cxnLst/>
                <a:rect r="r" b="b" t="t" l="l"/>
                <a:pathLst>
                  <a:path h="1061322" w="933919">
                    <a:moveTo>
                      <a:pt x="38167" y="0"/>
                    </a:moveTo>
                    <a:lnTo>
                      <a:pt x="895752" y="0"/>
                    </a:lnTo>
                    <a:cubicBezTo>
                      <a:pt x="905874" y="0"/>
                      <a:pt x="915582" y="4021"/>
                      <a:pt x="922740" y="11179"/>
                    </a:cubicBezTo>
                    <a:cubicBezTo>
                      <a:pt x="929898" y="18337"/>
                      <a:pt x="933919" y="28045"/>
                      <a:pt x="933919" y="38167"/>
                    </a:cubicBezTo>
                    <a:lnTo>
                      <a:pt x="933919" y="1023155"/>
                    </a:lnTo>
                    <a:cubicBezTo>
                      <a:pt x="933919" y="1044234"/>
                      <a:pt x="916831" y="1061322"/>
                      <a:pt x="895752" y="1061322"/>
                    </a:cubicBezTo>
                    <a:lnTo>
                      <a:pt x="38167" y="1061322"/>
                    </a:lnTo>
                    <a:cubicBezTo>
                      <a:pt x="28045" y="1061322"/>
                      <a:pt x="18337" y="1057301"/>
                      <a:pt x="11179" y="1050143"/>
                    </a:cubicBezTo>
                    <a:cubicBezTo>
                      <a:pt x="4021" y="1042985"/>
                      <a:pt x="0" y="1033277"/>
                      <a:pt x="0" y="1023155"/>
                    </a:cubicBezTo>
                    <a:lnTo>
                      <a:pt x="0" y="38167"/>
                    </a:lnTo>
                    <a:cubicBezTo>
                      <a:pt x="0" y="28045"/>
                      <a:pt x="4021" y="18337"/>
                      <a:pt x="11179" y="11179"/>
                    </a:cubicBezTo>
                    <a:cubicBezTo>
                      <a:pt x="18337" y="4021"/>
                      <a:pt x="28045" y="0"/>
                      <a:pt x="38167" y="0"/>
                    </a:cubicBezTo>
                    <a:close/>
                  </a:path>
                </a:pathLst>
              </a:custGeom>
              <a:ln w="38100" cap="sq">
                <a:solidFill>
                  <a:srgbClr val="5DCC6A"/>
                </a:solidFill>
                <a:prstDash val="solid"/>
                <a:miter/>
              </a:ln>
            </p:spPr>
          </p:sp>
          <p:sp>
            <p:nvSpPr>
              <p:cNvPr name="TextBox 24" id="24"/>
              <p:cNvSpPr txBox="true"/>
              <p:nvPr/>
            </p:nvSpPr>
            <p:spPr>
              <a:xfrm>
                <a:off x="0" y="-47625"/>
                <a:ext cx="933919" cy="1108947"/>
              </a:xfrm>
              <a:prstGeom prst="rect">
                <a:avLst/>
              </a:prstGeom>
            </p:spPr>
            <p:txBody>
              <a:bodyPr anchor="ctr" rtlCol="false" tIns="49401" lIns="49401" bIns="49401" rIns="49401"/>
              <a:lstStyle/>
              <a:p>
                <a:pPr algn="ctr">
                  <a:lnSpc>
                    <a:spcPts val="2659"/>
                  </a:lnSpc>
                </a:pPr>
              </a:p>
            </p:txBody>
          </p:sp>
        </p:grpSp>
        <p:sp>
          <p:nvSpPr>
            <p:cNvPr name="TextBox 25" id="25"/>
            <p:cNvSpPr txBox="true"/>
            <p:nvPr/>
          </p:nvSpPr>
          <p:spPr>
            <a:xfrm rot="0">
              <a:off x="256064" y="302675"/>
              <a:ext cx="4238596" cy="321907"/>
            </a:xfrm>
            <a:prstGeom prst="rect">
              <a:avLst/>
            </a:prstGeom>
          </p:spPr>
          <p:txBody>
            <a:bodyPr anchor="t" rtlCol="false" tIns="0" lIns="0" bIns="0" rIns="0">
              <a:spAutoFit/>
            </a:bodyPr>
            <a:lstStyle/>
            <a:p>
              <a:pPr algn="l">
                <a:lnSpc>
                  <a:spcPts val="1721"/>
                </a:lnSpc>
              </a:pPr>
              <a:r>
                <a:rPr lang="en-US" sz="1831">
                  <a:solidFill>
                    <a:srgbClr val="F8F6F0"/>
                  </a:solidFill>
                  <a:latin typeface="Cy Grotesk Wide"/>
                  <a:ea typeface="Cy Grotesk Wide"/>
                  <a:cs typeface="Cy Grotesk Wide"/>
                  <a:sym typeface="Cy Grotesk Wide"/>
                </a:rPr>
                <a:t>Equidad en géneros</a:t>
              </a:r>
            </a:p>
          </p:txBody>
        </p:sp>
        <p:sp>
          <p:nvSpPr>
            <p:cNvPr name="Freeform 26" id="26"/>
            <p:cNvSpPr/>
            <p:nvPr/>
          </p:nvSpPr>
          <p:spPr>
            <a:xfrm flipH="false" flipV="false" rot="0">
              <a:off x="368263" y="914020"/>
              <a:ext cx="3992351" cy="4342278"/>
            </a:xfrm>
            <a:custGeom>
              <a:avLst/>
              <a:gdLst/>
              <a:ahLst/>
              <a:cxnLst/>
              <a:rect r="r" b="b" t="t" l="l"/>
              <a:pathLst>
                <a:path h="4342278" w="3992351">
                  <a:moveTo>
                    <a:pt x="0" y="0"/>
                  </a:moveTo>
                  <a:lnTo>
                    <a:pt x="3992352" y="0"/>
                  </a:lnTo>
                  <a:lnTo>
                    <a:pt x="3992352" y="4342278"/>
                  </a:lnTo>
                  <a:lnTo>
                    <a:pt x="0" y="4342278"/>
                  </a:lnTo>
                  <a:lnTo>
                    <a:pt x="0" y="0"/>
                  </a:lnTo>
                  <a:close/>
                </a:path>
              </a:pathLst>
            </a:custGeom>
            <a:blipFill>
              <a:blip r:embed="rId6"/>
              <a:stretch>
                <a:fillRect l="-912" t="-3717" r="-1751" b="-1894"/>
              </a:stretch>
            </a:blipFill>
          </p:spPr>
        </p:sp>
      </p:grpSp>
      <p:grpSp>
        <p:nvGrpSpPr>
          <p:cNvPr name="Group 27" id="27"/>
          <p:cNvGrpSpPr/>
          <p:nvPr/>
        </p:nvGrpSpPr>
        <p:grpSpPr>
          <a:xfrm rot="0">
            <a:off x="435493" y="5975735"/>
            <a:ext cx="8081722" cy="4052684"/>
            <a:chOff x="0" y="0"/>
            <a:chExt cx="10775629" cy="5403579"/>
          </a:xfrm>
        </p:grpSpPr>
        <p:grpSp>
          <p:nvGrpSpPr>
            <p:cNvPr name="Group 28" id="28"/>
            <p:cNvGrpSpPr/>
            <p:nvPr/>
          </p:nvGrpSpPr>
          <p:grpSpPr>
            <a:xfrm rot="0">
              <a:off x="0" y="0"/>
              <a:ext cx="10775629" cy="5403579"/>
              <a:chOff x="0" y="0"/>
              <a:chExt cx="2230540" cy="1118533"/>
            </a:xfrm>
          </p:grpSpPr>
          <p:sp>
            <p:nvSpPr>
              <p:cNvPr name="Freeform 29" id="29"/>
              <p:cNvSpPr/>
              <p:nvPr/>
            </p:nvSpPr>
            <p:spPr>
              <a:xfrm flipH="false" flipV="false" rot="0">
                <a:off x="0" y="0"/>
                <a:ext cx="2230540" cy="1118533"/>
              </a:xfrm>
              <a:custGeom>
                <a:avLst/>
                <a:gdLst/>
                <a:ahLst/>
                <a:cxnLst/>
                <a:rect r="r" b="b" t="t" l="l"/>
                <a:pathLst>
                  <a:path h="1118533" w="2230540">
                    <a:moveTo>
                      <a:pt x="15893" y="0"/>
                    </a:moveTo>
                    <a:lnTo>
                      <a:pt x="2214647" y="0"/>
                    </a:lnTo>
                    <a:cubicBezTo>
                      <a:pt x="2223424" y="0"/>
                      <a:pt x="2230540" y="7116"/>
                      <a:pt x="2230540" y="15893"/>
                    </a:cubicBezTo>
                    <a:lnTo>
                      <a:pt x="2230540" y="1102640"/>
                    </a:lnTo>
                    <a:cubicBezTo>
                      <a:pt x="2230540" y="1111417"/>
                      <a:pt x="2223424" y="1118533"/>
                      <a:pt x="2214647" y="1118533"/>
                    </a:cubicBezTo>
                    <a:lnTo>
                      <a:pt x="15893" y="1118533"/>
                    </a:lnTo>
                    <a:cubicBezTo>
                      <a:pt x="7116" y="1118533"/>
                      <a:pt x="0" y="1111417"/>
                      <a:pt x="0" y="1102640"/>
                    </a:cubicBezTo>
                    <a:lnTo>
                      <a:pt x="0" y="15893"/>
                    </a:lnTo>
                    <a:cubicBezTo>
                      <a:pt x="0" y="7116"/>
                      <a:pt x="7116" y="0"/>
                      <a:pt x="15893" y="0"/>
                    </a:cubicBezTo>
                    <a:close/>
                  </a:path>
                </a:pathLst>
              </a:custGeom>
              <a:ln w="38100" cap="sq">
                <a:solidFill>
                  <a:srgbClr val="5DCC6A"/>
                </a:solidFill>
                <a:prstDash val="solid"/>
                <a:miter/>
              </a:ln>
            </p:spPr>
          </p:sp>
          <p:sp>
            <p:nvSpPr>
              <p:cNvPr name="TextBox 30" id="30"/>
              <p:cNvSpPr txBox="true"/>
              <p:nvPr/>
            </p:nvSpPr>
            <p:spPr>
              <a:xfrm>
                <a:off x="0" y="-47625"/>
                <a:ext cx="2230540" cy="1166158"/>
              </a:xfrm>
              <a:prstGeom prst="rect">
                <a:avLst/>
              </a:prstGeom>
            </p:spPr>
            <p:txBody>
              <a:bodyPr anchor="ctr" rtlCol="false" tIns="49673" lIns="49673" bIns="49673" rIns="49673"/>
              <a:lstStyle/>
              <a:p>
                <a:pPr algn="ctr">
                  <a:lnSpc>
                    <a:spcPts val="2659"/>
                  </a:lnSpc>
                </a:pPr>
              </a:p>
            </p:txBody>
          </p:sp>
        </p:grpSp>
        <p:sp>
          <p:nvSpPr>
            <p:cNvPr name="Freeform 31" id="31"/>
            <p:cNvSpPr/>
            <p:nvPr/>
          </p:nvSpPr>
          <p:spPr>
            <a:xfrm flipH="false" flipV="false" rot="0">
              <a:off x="449999" y="938257"/>
              <a:ext cx="9829367" cy="4341431"/>
            </a:xfrm>
            <a:custGeom>
              <a:avLst/>
              <a:gdLst/>
              <a:ahLst/>
              <a:cxnLst/>
              <a:rect r="r" b="b" t="t" l="l"/>
              <a:pathLst>
                <a:path h="4341431" w="9829367">
                  <a:moveTo>
                    <a:pt x="0" y="0"/>
                  </a:moveTo>
                  <a:lnTo>
                    <a:pt x="9829367" y="0"/>
                  </a:lnTo>
                  <a:lnTo>
                    <a:pt x="9829367" y="4341431"/>
                  </a:lnTo>
                  <a:lnTo>
                    <a:pt x="0" y="4341431"/>
                  </a:lnTo>
                  <a:lnTo>
                    <a:pt x="0" y="0"/>
                  </a:lnTo>
                  <a:close/>
                </a:path>
              </a:pathLst>
            </a:custGeom>
            <a:blipFill>
              <a:blip r:embed="rId7"/>
              <a:stretch>
                <a:fillRect l="0" t="0" r="0" b="0"/>
              </a:stretch>
            </a:blipFill>
          </p:spPr>
        </p:sp>
        <p:sp>
          <p:nvSpPr>
            <p:cNvPr name="TextBox 32" id="32"/>
            <p:cNvSpPr txBox="true"/>
            <p:nvPr/>
          </p:nvSpPr>
          <p:spPr>
            <a:xfrm rot="0">
              <a:off x="449999" y="409788"/>
              <a:ext cx="8074761" cy="305374"/>
            </a:xfrm>
            <a:prstGeom prst="rect">
              <a:avLst/>
            </a:prstGeom>
          </p:spPr>
          <p:txBody>
            <a:bodyPr anchor="t" rtlCol="false" tIns="0" lIns="0" bIns="0" rIns="0">
              <a:spAutoFit/>
            </a:bodyPr>
            <a:lstStyle/>
            <a:p>
              <a:pPr algn="l">
                <a:lnSpc>
                  <a:spcPts val="1642"/>
                </a:lnSpc>
              </a:pPr>
              <a:r>
                <a:rPr lang="en-US" sz="1747">
                  <a:solidFill>
                    <a:srgbClr val="F8F6F0"/>
                  </a:solidFill>
                  <a:latin typeface="Cy Grotesk Wide"/>
                  <a:ea typeface="Cy Grotesk Wide"/>
                  <a:cs typeface="Cy Grotesk Wide"/>
                  <a:sym typeface="Cy Grotesk Wide"/>
                </a:rPr>
                <a:t>3er año es el nivel con mayor abandono</a:t>
              </a:r>
            </a:p>
          </p:txBody>
        </p:sp>
      </p:grpSp>
      <p:grpSp>
        <p:nvGrpSpPr>
          <p:cNvPr name="Group 33" id="33"/>
          <p:cNvGrpSpPr/>
          <p:nvPr/>
        </p:nvGrpSpPr>
        <p:grpSpPr>
          <a:xfrm rot="0">
            <a:off x="8977931" y="5983388"/>
            <a:ext cx="8874577" cy="1147673"/>
            <a:chOff x="0" y="0"/>
            <a:chExt cx="2337337" cy="302268"/>
          </a:xfrm>
        </p:grpSpPr>
        <p:sp>
          <p:nvSpPr>
            <p:cNvPr name="Freeform 34" id="34"/>
            <p:cNvSpPr/>
            <p:nvPr/>
          </p:nvSpPr>
          <p:spPr>
            <a:xfrm flipH="false" flipV="false" rot="0">
              <a:off x="0" y="0"/>
              <a:ext cx="2337337" cy="302268"/>
            </a:xfrm>
            <a:custGeom>
              <a:avLst/>
              <a:gdLst/>
              <a:ahLst/>
              <a:cxnLst/>
              <a:rect r="r" b="b" t="t" l="l"/>
              <a:pathLst>
                <a:path h="302268" w="2337337">
                  <a:moveTo>
                    <a:pt x="11341" y="0"/>
                  </a:moveTo>
                  <a:lnTo>
                    <a:pt x="2325996" y="0"/>
                  </a:lnTo>
                  <a:cubicBezTo>
                    <a:pt x="2332260" y="0"/>
                    <a:pt x="2337337" y="5077"/>
                    <a:pt x="2337337" y="11341"/>
                  </a:cubicBezTo>
                  <a:lnTo>
                    <a:pt x="2337337" y="290927"/>
                  </a:lnTo>
                  <a:cubicBezTo>
                    <a:pt x="2337337" y="293935"/>
                    <a:pt x="2336142" y="296819"/>
                    <a:pt x="2334015" y="298946"/>
                  </a:cubicBezTo>
                  <a:cubicBezTo>
                    <a:pt x="2331889" y="301073"/>
                    <a:pt x="2329004" y="302268"/>
                    <a:pt x="2325996" y="302268"/>
                  </a:cubicBezTo>
                  <a:lnTo>
                    <a:pt x="11341" y="302268"/>
                  </a:lnTo>
                  <a:cubicBezTo>
                    <a:pt x="8333" y="302268"/>
                    <a:pt x="5448" y="301073"/>
                    <a:pt x="3322" y="298946"/>
                  </a:cubicBezTo>
                  <a:cubicBezTo>
                    <a:pt x="1195" y="296819"/>
                    <a:pt x="0" y="293935"/>
                    <a:pt x="0" y="290927"/>
                  </a:cubicBezTo>
                  <a:lnTo>
                    <a:pt x="0" y="11341"/>
                  </a:lnTo>
                  <a:cubicBezTo>
                    <a:pt x="0" y="8333"/>
                    <a:pt x="1195" y="5448"/>
                    <a:pt x="3322" y="3322"/>
                  </a:cubicBezTo>
                  <a:cubicBezTo>
                    <a:pt x="5448" y="1195"/>
                    <a:pt x="8333" y="0"/>
                    <a:pt x="11341" y="0"/>
                  </a:cubicBezTo>
                  <a:close/>
                </a:path>
              </a:pathLst>
            </a:custGeom>
            <a:solidFill>
              <a:srgbClr val="F8F6F0"/>
            </a:solidFill>
            <a:ln cap="sq">
              <a:noFill/>
              <a:prstDash val="solid"/>
              <a:miter/>
            </a:ln>
          </p:spPr>
        </p:sp>
        <p:sp>
          <p:nvSpPr>
            <p:cNvPr name="TextBox 35" id="35"/>
            <p:cNvSpPr txBox="true"/>
            <p:nvPr/>
          </p:nvSpPr>
          <p:spPr>
            <a:xfrm>
              <a:off x="0" y="-47625"/>
              <a:ext cx="2337337" cy="349893"/>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8977931" y="8876938"/>
            <a:ext cx="8874577" cy="1151482"/>
            <a:chOff x="0" y="0"/>
            <a:chExt cx="2337337" cy="303271"/>
          </a:xfrm>
        </p:grpSpPr>
        <p:sp>
          <p:nvSpPr>
            <p:cNvPr name="Freeform 37" id="37"/>
            <p:cNvSpPr/>
            <p:nvPr/>
          </p:nvSpPr>
          <p:spPr>
            <a:xfrm flipH="false" flipV="false" rot="0">
              <a:off x="0" y="0"/>
              <a:ext cx="2337337" cy="303271"/>
            </a:xfrm>
            <a:custGeom>
              <a:avLst/>
              <a:gdLst/>
              <a:ahLst/>
              <a:cxnLst/>
              <a:rect r="r" b="b" t="t" l="l"/>
              <a:pathLst>
                <a:path h="303271" w="2337337">
                  <a:moveTo>
                    <a:pt x="11341" y="0"/>
                  </a:moveTo>
                  <a:lnTo>
                    <a:pt x="2325996" y="0"/>
                  </a:lnTo>
                  <a:cubicBezTo>
                    <a:pt x="2332260" y="0"/>
                    <a:pt x="2337337" y="5077"/>
                    <a:pt x="2337337" y="11341"/>
                  </a:cubicBezTo>
                  <a:lnTo>
                    <a:pt x="2337337" y="291930"/>
                  </a:lnTo>
                  <a:cubicBezTo>
                    <a:pt x="2337337" y="294938"/>
                    <a:pt x="2336142" y="297822"/>
                    <a:pt x="2334015" y="299949"/>
                  </a:cubicBezTo>
                  <a:cubicBezTo>
                    <a:pt x="2331889" y="302076"/>
                    <a:pt x="2329004" y="303271"/>
                    <a:pt x="2325996" y="303271"/>
                  </a:cubicBezTo>
                  <a:lnTo>
                    <a:pt x="11341" y="303271"/>
                  </a:lnTo>
                  <a:cubicBezTo>
                    <a:pt x="8333" y="303271"/>
                    <a:pt x="5448" y="302076"/>
                    <a:pt x="3322" y="299949"/>
                  </a:cubicBezTo>
                  <a:cubicBezTo>
                    <a:pt x="1195" y="297822"/>
                    <a:pt x="0" y="294938"/>
                    <a:pt x="0" y="291930"/>
                  </a:cubicBezTo>
                  <a:lnTo>
                    <a:pt x="0" y="11341"/>
                  </a:lnTo>
                  <a:cubicBezTo>
                    <a:pt x="0" y="8333"/>
                    <a:pt x="1195" y="5448"/>
                    <a:pt x="3322" y="3322"/>
                  </a:cubicBezTo>
                  <a:cubicBezTo>
                    <a:pt x="5448" y="1195"/>
                    <a:pt x="8333" y="0"/>
                    <a:pt x="11341" y="0"/>
                  </a:cubicBezTo>
                  <a:close/>
                </a:path>
              </a:pathLst>
            </a:custGeom>
            <a:solidFill>
              <a:srgbClr val="F8F6F0"/>
            </a:solidFill>
            <a:ln cap="sq">
              <a:noFill/>
              <a:prstDash val="solid"/>
              <a:miter/>
            </a:ln>
          </p:spPr>
        </p:sp>
        <p:sp>
          <p:nvSpPr>
            <p:cNvPr name="TextBox 38" id="38"/>
            <p:cNvSpPr txBox="true"/>
            <p:nvPr/>
          </p:nvSpPr>
          <p:spPr>
            <a:xfrm>
              <a:off x="0" y="-47625"/>
              <a:ext cx="2337337" cy="350896"/>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8977931" y="7426336"/>
            <a:ext cx="8874577" cy="1151482"/>
            <a:chOff x="0" y="0"/>
            <a:chExt cx="2337337" cy="303271"/>
          </a:xfrm>
        </p:grpSpPr>
        <p:sp>
          <p:nvSpPr>
            <p:cNvPr name="Freeform 40" id="40"/>
            <p:cNvSpPr/>
            <p:nvPr/>
          </p:nvSpPr>
          <p:spPr>
            <a:xfrm flipH="false" flipV="false" rot="0">
              <a:off x="0" y="0"/>
              <a:ext cx="2337337" cy="303271"/>
            </a:xfrm>
            <a:custGeom>
              <a:avLst/>
              <a:gdLst/>
              <a:ahLst/>
              <a:cxnLst/>
              <a:rect r="r" b="b" t="t" l="l"/>
              <a:pathLst>
                <a:path h="303271" w="2337337">
                  <a:moveTo>
                    <a:pt x="11341" y="0"/>
                  </a:moveTo>
                  <a:lnTo>
                    <a:pt x="2325996" y="0"/>
                  </a:lnTo>
                  <a:cubicBezTo>
                    <a:pt x="2332260" y="0"/>
                    <a:pt x="2337337" y="5077"/>
                    <a:pt x="2337337" y="11341"/>
                  </a:cubicBezTo>
                  <a:lnTo>
                    <a:pt x="2337337" y="291930"/>
                  </a:lnTo>
                  <a:cubicBezTo>
                    <a:pt x="2337337" y="294938"/>
                    <a:pt x="2336142" y="297822"/>
                    <a:pt x="2334015" y="299949"/>
                  </a:cubicBezTo>
                  <a:cubicBezTo>
                    <a:pt x="2331889" y="302076"/>
                    <a:pt x="2329004" y="303271"/>
                    <a:pt x="2325996" y="303271"/>
                  </a:cubicBezTo>
                  <a:lnTo>
                    <a:pt x="11341" y="303271"/>
                  </a:lnTo>
                  <a:cubicBezTo>
                    <a:pt x="8333" y="303271"/>
                    <a:pt x="5448" y="302076"/>
                    <a:pt x="3322" y="299949"/>
                  </a:cubicBezTo>
                  <a:cubicBezTo>
                    <a:pt x="1195" y="297822"/>
                    <a:pt x="0" y="294938"/>
                    <a:pt x="0" y="291930"/>
                  </a:cubicBezTo>
                  <a:lnTo>
                    <a:pt x="0" y="11341"/>
                  </a:lnTo>
                  <a:cubicBezTo>
                    <a:pt x="0" y="8333"/>
                    <a:pt x="1195" y="5448"/>
                    <a:pt x="3322" y="3322"/>
                  </a:cubicBezTo>
                  <a:cubicBezTo>
                    <a:pt x="5448" y="1195"/>
                    <a:pt x="8333" y="0"/>
                    <a:pt x="11341" y="0"/>
                  </a:cubicBezTo>
                  <a:close/>
                </a:path>
              </a:pathLst>
            </a:custGeom>
            <a:solidFill>
              <a:srgbClr val="F8F6F0"/>
            </a:solidFill>
            <a:ln cap="sq">
              <a:noFill/>
              <a:prstDash val="solid"/>
              <a:miter/>
            </a:ln>
          </p:spPr>
        </p:sp>
        <p:sp>
          <p:nvSpPr>
            <p:cNvPr name="TextBox 41" id="41"/>
            <p:cNvSpPr txBox="true"/>
            <p:nvPr/>
          </p:nvSpPr>
          <p:spPr>
            <a:xfrm>
              <a:off x="0" y="-47625"/>
              <a:ext cx="2337337" cy="350896"/>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3083284" y="512534"/>
            <a:ext cx="12121432" cy="371948"/>
          </a:xfrm>
          <a:prstGeom prst="rect">
            <a:avLst/>
          </a:prstGeom>
        </p:spPr>
        <p:txBody>
          <a:bodyPr anchor="t" rtlCol="false" tIns="0" lIns="0" bIns="0" rIns="0">
            <a:spAutoFit/>
          </a:bodyPr>
          <a:lstStyle/>
          <a:p>
            <a:pPr algn="just">
              <a:lnSpc>
                <a:spcPts val="2726"/>
              </a:lnSpc>
            </a:pPr>
            <a:r>
              <a:rPr lang="en-US" sz="2900">
                <a:solidFill>
                  <a:srgbClr val="000000"/>
                </a:solidFill>
                <a:latin typeface="Cy Grotesk Wide"/>
                <a:ea typeface="Cy Grotesk Wide"/>
                <a:cs typeface="Cy Grotesk Wide"/>
                <a:sym typeface="Cy Grotesk Wide"/>
              </a:rPr>
              <a:t>¿El</a:t>
            </a:r>
            <a:r>
              <a:rPr lang="en-US" sz="2900">
                <a:solidFill>
                  <a:srgbClr val="000000"/>
                </a:solidFill>
                <a:latin typeface="Cy Grotesk Wide"/>
                <a:ea typeface="Cy Grotesk Wide"/>
                <a:cs typeface="Cy Grotesk Wide"/>
                <a:sym typeface="Cy Grotesk Wide"/>
              </a:rPr>
              <a:t> a</a:t>
            </a:r>
            <a:r>
              <a:rPr lang="en-US" sz="2900">
                <a:solidFill>
                  <a:srgbClr val="000000"/>
                </a:solidFill>
                <a:latin typeface="Cy Grotesk Wide"/>
                <a:ea typeface="Cy Grotesk Wide"/>
                <a:cs typeface="Cy Grotesk Wide"/>
                <a:sym typeface="Cy Grotesk Wide"/>
              </a:rPr>
              <a:t>bandono varía </a:t>
            </a:r>
            <a:r>
              <a:rPr lang="en-US" sz="2900">
                <a:solidFill>
                  <a:srgbClr val="000000"/>
                </a:solidFill>
                <a:latin typeface="Cy Grotesk Wide"/>
                <a:ea typeface="Cy Grotesk Wide"/>
                <a:cs typeface="Cy Grotesk Wide"/>
                <a:sym typeface="Cy Grotesk Wide"/>
              </a:rPr>
              <a:t>p</a:t>
            </a:r>
            <a:r>
              <a:rPr lang="en-US" sz="2900">
                <a:solidFill>
                  <a:srgbClr val="000000"/>
                </a:solidFill>
                <a:latin typeface="Cy Grotesk Wide"/>
                <a:ea typeface="Cy Grotesk Wide"/>
                <a:cs typeface="Cy Grotesk Wide"/>
                <a:sym typeface="Cy Grotesk Wide"/>
              </a:rPr>
              <a:t>or reg</a:t>
            </a:r>
            <a:r>
              <a:rPr lang="en-US" sz="2900">
                <a:solidFill>
                  <a:srgbClr val="000000"/>
                </a:solidFill>
                <a:latin typeface="Cy Grotesk Wide"/>
                <a:ea typeface="Cy Grotesk Wide"/>
                <a:cs typeface="Cy Grotesk Wide"/>
                <a:sym typeface="Cy Grotesk Wide"/>
              </a:rPr>
              <a:t>iona</a:t>
            </a:r>
            <a:r>
              <a:rPr lang="en-US" sz="2900">
                <a:solidFill>
                  <a:srgbClr val="000000"/>
                </a:solidFill>
                <a:latin typeface="Cy Grotesk Wide"/>
                <a:ea typeface="Cy Grotesk Wide"/>
                <a:cs typeface="Cy Grotesk Wide"/>
                <a:sym typeface="Cy Grotesk Wide"/>
              </a:rPr>
              <a:t>l, carrer</a:t>
            </a:r>
            <a:r>
              <a:rPr lang="en-US" sz="2900">
                <a:solidFill>
                  <a:srgbClr val="000000"/>
                </a:solidFill>
                <a:latin typeface="Cy Grotesk Wide"/>
                <a:ea typeface="Cy Grotesk Wide"/>
                <a:cs typeface="Cy Grotesk Wide"/>
                <a:sym typeface="Cy Grotesk Wide"/>
              </a:rPr>
              <a:t>a, nivel </a:t>
            </a:r>
            <a:r>
              <a:rPr lang="en-US" sz="2900">
                <a:solidFill>
                  <a:srgbClr val="000000"/>
                </a:solidFill>
                <a:latin typeface="Cy Grotesk Wide"/>
                <a:ea typeface="Cy Grotesk Wide"/>
                <a:cs typeface="Cy Grotesk Wide"/>
                <a:sym typeface="Cy Grotesk Wide"/>
              </a:rPr>
              <a:t>o género?</a:t>
            </a:r>
          </a:p>
        </p:txBody>
      </p:sp>
      <p:sp>
        <p:nvSpPr>
          <p:cNvPr name="TextBox 43" id="43"/>
          <p:cNvSpPr txBox="true"/>
          <p:nvPr/>
        </p:nvSpPr>
        <p:spPr>
          <a:xfrm rot="0">
            <a:off x="9324190" y="6216815"/>
            <a:ext cx="8182058" cy="656053"/>
          </a:xfrm>
          <a:prstGeom prst="rect">
            <a:avLst/>
          </a:prstGeom>
        </p:spPr>
        <p:txBody>
          <a:bodyPr anchor="t" rtlCol="false" tIns="0" lIns="0" bIns="0" rIns="0">
            <a:spAutoFit/>
          </a:bodyPr>
          <a:lstStyle/>
          <a:p>
            <a:pPr algn="l">
              <a:lnSpc>
                <a:spcPts val="2557"/>
              </a:lnSpc>
            </a:pPr>
            <a:r>
              <a:rPr lang="en-US" sz="1997">
                <a:solidFill>
                  <a:srgbClr val="000000"/>
                </a:solidFill>
                <a:latin typeface="Cy Grotesk Wide"/>
                <a:ea typeface="Cy Grotesk Wide"/>
                <a:cs typeface="Cy Grotesk Wide"/>
                <a:sym typeface="Cy Grotesk Wide"/>
              </a:rPr>
              <a:t>El foco de abandono se encuentra en la </a:t>
            </a:r>
            <a:r>
              <a:rPr lang="en-US" sz="1997" b="true">
                <a:solidFill>
                  <a:srgbClr val="000000"/>
                </a:solidFill>
                <a:latin typeface="Cy Grotesk Wide Bold"/>
                <a:ea typeface="Cy Grotesk Wide Bold"/>
                <a:cs typeface="Cy Grotesk Wide Bold"/>
                <a:sym typeface="Cy Grotesk Wide Bold"/>
              </a:rPr>
              <a:t>Regional BA</a:t>
            </a:r>
            <a:r>
              <a:rPr lang="en-US" sz="1997">
                <a:solidFill>
                  <a:srgbClr val="000000"/>
                </a:solidFill>
                <a:latin typeface="Cy Grotesk Wide"/>
                <a:ea typeface="Cy Grotesk Wide"/>
                <a:cs typeface="Cy Grotesk Wide"/>
                <a:sym typeface="Cy Grotesk Wide"/>
              </a:rPr>
              <a:t>, especialmente en </a:t>
            </a:r>
            <a:r>
              <a:rPr lang="en-US" sz="1997" b="true">
                <a:solidFill>
                  <a:srgbClr val="000000"/>
                </a:solidFill>
                <a:latin typeface="Cy Grotesk Wide Bold"/>
                <a:ea typeface="Cy Grotesk Wide Bold"/>
                <a:cs typeface="Cy Grotesk Wide Bold"/>
                <a:sym typeface="Cy Grotesk Wide Bold"/>
              </a:rPr>
              <a:t>niveles intermedios</a:t>
            </a:r>
          </a:p>
        </p:txBody>
      </p:sp>
      <p:sp>
        <p:nvSpPr>
          <p:cNvPr name="TextBox 44" id="44"/>
          <p:cNvSpPr txBox="true"/>
          <p:nvPr/>
        </p:nvSpPr>
        <p:spPr>
          <a:xfrm rot="0">
            <a:off x="9324190" y="9110365"/>
            <a:ext cx="8182058" cy="656053"/>
          </a:xfrm>
          <a:prstGeom prst="rect">
            <a:avLst/>
          </a:prstGeom>
        </p:spPr>
        <p:txBody>
          <a:bodyPr anchor="t" rtlCol="false" tIns="0" lIns="0" bIns="0" rIns="0">
            <a:spAutoFit/>
          </a:bodyPr>
          <a:lstStyle/>
          <a:p>
            <a:pPr algn="l">
              <a:lnSpc>
                <a:spcPts val="2557"/>
              </a:lnSpc>
            </a:pPr>
            <a:r>
              <a:rPr lang="en-US" sz="1997">
                <a:solidFill>
                  <a:srgbClr val="000000"/>
                </a:solidFill>
                <a:latin typeface="Cy Grotesk Wide"/>
                <a:ea typeface="Cy Grotesk Wide"/>
                <a:cs typeface="Cy Grotesk Wide"/>
                <a:sym typeface="Cy Grotesk Wide"/>
              </a:rPr>
              <a:t>Los casos se</a:t>
            </a:r>
            <a:r>
              <a:rPr lang="en-US" sz="1997">
                <a:solidFill>
                  <a:srgbClr val="000000"/>
                </a:solidFill>
                <a:latin typeface="Cy Grotesk Wide"/>
                <a:ea typeface="Cy Grotesk Wide"/>
                <a:cs typeface="Cy Grotesk Wide"/>
                <a:sym typeface="Cy Grotesk Wide"/>
              </a:rPr>
              <a:t> d</a:t>
            </a:r>
            <a:r>
              <a:rPr lang="en-US" sz="1997">
                <a:solidFill>
                  <a:srgbClr val="000000"/>
                </a:solidFill>
                <a:latin typeface="Cy Grotesk Wide"/>
                <a:ea typeface="Cy Grotesk Wide"/>
                <a:cs typeface="Cy Grotesk Wide"/>
                <a:sym typeface="Cy Grotesk Wide"/>
              </a:rPr>
              <a:t>istribuy</a:t>
            </a:r>
            <a:r>
              <a:rPr lang="en-US" sz="1997">
                <a:solidFill>
                  <a:srgbClr val="000000"/>
                </a:solidFill>
                <a:latin typeface="Cy Grotesk Wide"/>
                <a:ea typeface="Cy Grotesk Wide"/>
                <a:cs typeface="Cy Grotesk Wide"/>
                <a:sym typeface="Cy Grotesk Wide"/>
              </a:rPr>
              <a:t>en</a:t>
            </a:r>
            <a:r>
              <a:rPr lang="en-US" sz="1997">
                <a:solidFill>
                  <a:srgbClr val="000000"/>
                </a:solidFill>
                <a:latin typeface="Cy Grotesk Wide"/>
                <a:ea typeface="Cy Grotesk Wide"/>
                <a:cs typeface="Cy Grotesk Wide"/>
                <a:sym typeface="Cy Grotesk Wide"/>
              </a:rPr>
              <a:t> </a:t>
            </a:r>
            <a:r>
              <a:rPr lang="en-US" sz="1997">
                <a:solidFill>
                  <a:srgbClr val="000000"/>
                </a:solidFill>
                <a:latin typeface="Cy Grotesk Wide"/>
                <a:ea typeface="Cy Grotesk Wide"/>
                <a:cs typeface="Cy Grotesk Wide"/>
                <a:sym typeface="Cy Grotesk Wide"/>
              </a:rPr>
              <a:t>en</a:t>
            </a:r>
            <a:r>
              <a:rPr lang="en-US" sz="1997">
                <a:solidFill>
                  <a:srgbClr val="000000"/>
                </a:solidFill>
                <a:latin typeface="Cy Grotesk Wide"/>
                <a:ea typeface="Cy Grotesk Wide"/>
                <a:cs typeface="Cy Grotesk Wide"/>
                <a:sym typeface="Cy Grotesk Wide"/>
              </a:rPr>
              <a:t>tr</a:t>
            </a:r>
            <a:r>
              <a:rPr lang="en-US" sz="1997">
                <a:solidFill>
                  <a:srgbClr val="000000"/>
                </a:solidFill>
                <a:latin typeface="Cy Grotesk Wide"/>
                <a:ea typeface="Cy Grotesk Wide"/>
                <a:cs typeface="Cy Grotesk Wide"/>
                <a:sym typeface="Cy Grotesk Wide"/>
              </a:rPr>
              <a:t>e </a:t>
            </a:r>
            <a:r>
              <a:rPr lang="en-US" sz="1997">
                <a:solidFill>
                  <a:srgbClr val="000000"/>
                </a:solidFill>
                <a:latin typeface="Cy Grotesk Wide"/>
                <a:ea typeface="Cy Grotesk Wide"/>
                <a:cs typeface="Cy Grotesk Wide"/>
                <a:sym typeface="Cy Grotesk Wide"/>
              </a:rPr>
              <a:t>carr</a:t>
            </a:r>
            <a:r>
              <a:rPr lang="en-US" sz="1997">
                <a:solidFill>
                  <a:srgbClr val="000000"/>
                </a:solidFill>
                <a:latin typeface="Cy Grotesk Wide"/>
                <a:ea typeface="Cy Grotesk Wide"/>
                <a:cs typeface="Cy Grotesk Wide"/>
                <a:sym typeface="Cy Grotesk Wide"/>
              </a:rPr>
              <a:t>e</a:t>
            </a:r>
            <a:r>
              <a:rPr lang="en-US" sz="1997">
                <a:solidFill>
                  <a:srgbClr val="000000"/>
                </a:solidFill>
                <a:latin typeface="Cy Grotesk Wide"/>
                <a:ea typeface="Cy Grotesk Wide"/>
                <a:cs typeface="Cy Grotesk Wide"/>
                <a:sym typeface="Cy Grotesk Wide"/>
              </a:rPr>
              <a:t>r</a:t>
            </a:r>
            <a:r>
              <a:rPr lang="en-US" sz="1997">
                <a:solidFill>
                  <a:srgbClr val="000000"/>
                </a:solidFill>
                <a:latin typeface="Cy Grotesk Wide"/>
                <a:ea typeface="Cy Grotesk Wide"/>
                <a:cs typeface="Cy Grotesk Wide"/>
                <a:sym typeface="Cy Grotesk Wide"/>
              </a:rPr>
              <a:t>a</a:t>
            </a:r>
            <a:r>
              <a:rPr lang="en-US" sz="1997">
                <a:solidFill>
                  <a:srgbClr val="000000"/>
                </a:solidFill>
                <a:latin typeface="Cy Grotesk Wide"/>
                <a:ea typeface="Cy Grotesk Wide"/>
                <a:cs typeface="Cy Grotesk Wide"/>
                <a:sym typeface="Cy Grotesk Wide"/>
              </a:rPr>
              <a:t>s de</a:t>
            </a:r>
            <a:r>
              <a:rPr lang="en-US" sz="1997">
                <a:solidFill>
                  <a:srgbClr val="000000"/>
                </a:solidFill>
                <a:latin typeface="Cy Grotesk Wide"/>
                <a:ea typeface="Cy Grotesk Wide"/>
                <a:cs typeface="Cy Grotesk Wide"/>
                <a:sym typeface="Cy Grotesk Wide"/>
              </a:rPr>
              <a:t> dis</a:t>
            </a:r>
            <a:r>
              <a:rPr lang="en-US" sz="1997">
                <a:solidFill>
                  <a:srgbClr val="000000"/>
                </a:solidFill>
                <a:latin typeface="Cy Grotesk Wide"/>
                <a:ea typeface="Cy Grotesk Wide"/>
                <a:cs typeface="Cy Grotesk Wide"/>
                <a:sym typeface="Cy Grotesk Wide"/>
              </a:rPr>
              <a:t>t</a:t>
            </a:r>
            <a:r>
              <a:rPr lang="en-US" sz="1997">
                <a:solidFill>
                  <a:srgbClr val="000000"/>
                </a:solidFill>
                <a:latin typeface="Cy Grotesk Wide"/>
                <a:ea typeface="Cy Grotesk Wide"/>
                <a:cs typeface="Cy Grotesk Wide"/>
                <a:sym typeface="Cy Grotesk Wide"/>
              </a:rPr>
              <a:t>in</a:t>
            </a:r>
            <a:r>
              <a:rPr lang="en-US" sz="1997">
                <a:solidFill>
                  <a:srgbClr val="000000"/>
                </a:solidFill>
                <a:latin typeface="Cy Grotesk Wide"/>
                <a:ea typeface="Cy Grotesk Wide"/>
                <a:cs typeface="Cy Grotesk Wide"/>
                <a:sym typeface="Cy Grotesk Wide"/>
              </a:rPr>
              <a:t>t</a:t>
            </a:r>
            <a:r>
              <a:rPr lang="en-US" sz="1997">
                <a:solidFill>
                  <a:srgbClr val="000000"/>
                </a:solidFill>
                <a:latin typeface="Cy Grotesk Wide"/>
                <a:ea typeface="Cy Grotesk Wide"/>
                <a:cs typeface="Cy Grotesk Wide"/>
                <a:sym typeface="Cy Grotesk Wide"/>
              </a:rPr>
              <a:t>a</a:t>
            </a:r>
            <a:r>
              <a:rPr lang="en-US" sz="1997">
                <a:solidFill>
                  <a:srgbClr val="000000"/>
                </a:solidFill>
                <a:latin typeface="Cy Grotesk Wide"/>
                <a:ea typeface="Cy Grotesk Wide"/>
                <a:cs typeface="Cy Grotesk Wide"/>
                <a:sym typeface="Cy Grotesk Wide"/>
              </a:rPr>
              <a:t>s</a:t>
            </a:r>
            <a:r>
              <a:rPr lang="en-US" sz="1997">
                <a:solidFill>
                  <a:srgbClr val="000000"/>
                </a:solidFill>
                <a:latin typeface="Cy Grotesk Wide"/>
                <a:ea typeface="Cy Grotesk Wide"/>
                <a:cs typeface="Cy Grotesk Wide"/>
                <a:sym typeface="Cy Grotesk Wide"/>
              </a:rPr>
              <a:t> </a:t>
            </a:r>
            <a:r>
              <a:rPr lang="en-US" sz="1997" b="true">
                <a:solidFill>
                  <a:srgbClr val="000000"/>
                </a:solidFill>
                <a:latin typeface="Cy Grotesk Wide Bold"/>
                <a:ea typeface="Cy Grotesk Wide Bold"/>
                <a:cs typeface="Cy Grotesk Wide Bold"/>
                <a:sym typeface="Cy Grotesk Wide Bold"/>
              </a:rPr>
              <a:t>áreas y niveles de formación</a:t>
            </a:r>
          </a:p>
        </p:txBody>
      </p:sp>
      <p:sp>
        <p:nvSpPr>
          <p:cNvPr name="TextBox 45" id="45"/>
          <p:cNvSpPr txBox="true"/>
          <p:nvPr/>
        </p:nvSpPr>
        <p:spPr>
          <a:xfrm rot="0">
            <a:off x="9324190" y="7659763"/>
            <a:ext cx="8182058" cy="656053"/>
          </a:xfrm>
          <a:prstGeom prst="rect">
            <a:avLst/>
          </a:prstGeom>
        </p:spPr>
        <p:txBody>
          <a:bodyPr anchor="t" rtlCol="false" tIns="0" lIns="0" bIns="0" rIns="0">
            <a:spAutoFit/>
          </a:bodyPr>
          <a:lstStyle/>
          <a:p>
            <a:pPr algn="l">
              <a:lnSpc>
                <a:spcPts val="2557"/>
              </a:lnSpc>
            </a:pPr>
            <a:r>
              <a:rPr lang="en-US" sz="1997">
                <a:solidFill>
                  <a:srgbClr val="000000"/>
                </a:solidFill>
                <a:latin typeface="Cy Grotesk Wide"/>
                <a:ea typeface="Cy Grotesk Wide"/>
                <a:cs typeface="Cy Grotesk Wide"/>
                <a:sym typeface="Cy Grotesk Wide"/>
              </a:rPr>
              <a:t>La tasa de abandono en hombres y mujeres es practicamente la </a:t>
            </a:r>
            <a:r>
              <a:rPr lang="en-US" sz="1997" b="true">
                <a:solidFill>
                  <a:srgbClr val="000000"/>
                </a:solidFill>
                <a:latin typeface="Cy Grotesk Wide Bold"/>
                <a:ea typeface="Cy Grotesk Wide Bold"/>
                <a:cs typeface="Cy Grotesk Wide Bold"/>
                <a:sym typeface="Cy Grotesk Wide Bold"/>
              </a:rPr>
              <a:t>misma</a:t>
            </a:r>
          </a:p>
        </p:txBody>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6571" y="704843"/>
            <a:ext cx="18048451" cy="1491048"/>
            <a:chOff x="0" y="0"/>
            <a:chExt cx="20746685" cy="1713959"/>
          </a:xfrm>
        </p:grpSpPr>
        <p:sp>
          <p:nvSpPr>
            <p:cNvPr name="Freeform 3" id="3"/>
            <p:cNvSpPr/>
            <p:nvPr/>
          </p:nvSpPr>
          <p:spPr>
            <a:xfrm flipH="false" flipV="false" rot="0">
              <a:off x="0" y="0"/>
              <a:ext cx="20746686" cy="1713959"/>
            </a:xfrm>
            <a:custGeom>
              <a:avLst/>
              <a:gdLst/>
              <a:ahLst/>
              <a:cxnLst/>
              <a:rect r="r" b="b" t="t" l="l"/>
              <a:pathLst>
                <a:path h="1713959" w="20746686">
                  <a:moveTo>
                    <a:pt x="0" y="0"/>
                  </a:moveTo>
                  <a:lnTo>
                    <a:pt x="20746686" y="0"/>
                  </a:lnTo>
                  <a:lnTo>
                    <a:pt x="20746686" y="1713959"/>
                  </a:lnTo>
                  <a:lnTo>
                    <a:pt x="0" y="1713959"/>
                  </a:lnTo>
                  <a:close/>
                </a:path>
              </a:pathLst>
            </a:custGeom>
            <a:solidFill>
              <a:srgbClr val="54DF64"/>
            </a:solidFill>
          </p:spPr>
        </p:sp>
        <p:sp>
          <p:nvSpPr>
            <p:cNvPr name="TextBox 4" id="4"/>
            <p:cNvSpPr txBox="true"/>
            <p:nvPr/>
          </p:nvSpPr>
          <p:spPr>
            <a:xfrm>
              <a:off x="0" y="-47625"/>
              <a:ext cx="20746685"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17971716" cy="1467918"/>
            <a:chOff x="0" y="0"/>
            <a:chExt cx="20658479" cy="1687371"/>
          </a:xfrm>
        </p:grpSpPr>
        <p:sp>
          <p:nvSpPr>
            <p:cNvPr name="Freeform 6" id="6"/>
            <p:cNvSpPr/>
            <p:nvPr/>
          </p:nvSpPr>
          <p:spPr>
            <a:xfrm flipH="false" flipV="false" rot="0">
              <a:off x="0" y="0"/>
              <a:ext cx="20658479" cy="1687371"/>
            </a:xfrm>
            <a:custGeom>
              <a:avLst/>
              <a:gdLst/>
              <a:ahLst/>
              <a:cxnLst/>
              <a:rect r="r" b="b" t="t" l="l"/>
              <a:pathLst>
                <a:path h="1687371" w="20658479">
                  <a:moveTo>
                    <a:pt x="0" y="0"/>
                  </a:moveTo>
                  <a:lnTo>
                    <a:pt x="20658479" y="0"/>
                  </a:lnTo>
                  <a:lnTo>
                    <a:pt x="20658479" y="1687371"/>
                  </a:lnTo>
                  <a:lnTo>
                    <a:pt x="0" y="1687371"/>
                  </a:lnTo>
                  <a:close/>
                </a:path>
              </a:pathLst>
            </a:custGeom>
            <a:solidFill>
              <a:srgbClr val="000000"/>
            </a:solidFill>
          </p:spPr>
        </p:sp>
        <p:sp>
          <p:nvSpPr>
            <p:cNvPr name="TextBox 7" id="7"/>
            <p:cNvSpPr txBox="true"/>
            <p:nvPr/>
          </p:nvSpPr>
          <p:spPr>
            <a:xfrm>
              <a:off x="0" y="-47625"/>
              <a:ext cx="20658479"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9958962"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7.</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Conclusiones</a:t>
            </a:r>
          </a:p>
        </p:txBody>
      </p:sp>
      <p:grpSp>
        <p:nvGrpSpPr>
          <p:cNvPr name="Group 9" id="9"/>
          <p:cNvGrpSpPr/>
          <p:nvPr/>
        </p:nvGrpSpPr>
        <p:grpSpPr>
          <a:xfrm rot="0">
            <a:off x="-128516" y="2949003"/>
            <a:ext cx="18988919" cy="1401167"/>
            <a:chOff x="0" y="0"/>
            <a:chExt cx="25318559" cy="1868223"/>
          </a:xfrm>
        </p:grpSpPr>
        <p:grpSp>
          <p:nvGrpSpPr>
            <p:cNvPr name="Group 10" id="10"/>
            <p:cNvGrpSpPr/>
            <p:nvPr/>
          </p:nvGrpSpPr>
          <p:grpSpPr>
            <a:xfrm rot="0">
              <a:off x="0" y="0"/>
              <a:ext cx="7293215" cy="1868223"/>
              <a:chOff x="0" y="0"/>
              <a:chExt cx="6287660" cy="1610641"/>
            </a:xfrm>
          </p:grpSpPr>
          <p:sp>
            <p:nvSpPr>
              <p:cNvPr name="Freeform 11" id="11"/>
              <p:cNvSpPr/>
              <p:nvPr/>
            </p:nvSpPr>
            <p:spPr>
              <a:xfrm flipH="false" flipV="false" rot="0">
                <a:off x="0" y="0"/>
                <a:ext cx="6287660" cy="1610641"/>
              </a:xfrm>
              <a:custGeom>
                <a:avLst/>
                <a:gdLst/>
                <a:ahLst/>
                <a:cxnLst/>
                <a:rect r="r" b="b" t="t" l="l"/>
                <a:pathLst>
                  <a:path h="1610641" w="6287660">
                    <a:moveTo>
                      <a:pt x="0" y="0"/>
                    </a:moveTo>
                    <a:lnTo>
                      <a:pt x="6287660" y="0"/>
                    </a:lnTo>
                    <a:lnTo>
                      <a:pt x="6287660" y="1610641"/>
                    </a:lnTo>
                    <a:lnTo>
                      <a:pt x="0" y="1610641"/>
                    </a:lnTo>
                    <a:close/>
                  </a:path>
                </a:pathLst>
              </a:custGeom>
              <a:solidFill>
                <a:srgbClr val="000000"/>
              </a:solidFill>
            </p:spPr>
          </p:sp>
          <p:sp>
            <p:nvSpPr>
              <p:cNvPr name="TextBox 12" id="12"/>
              <p:cNvSpPr txBox="true"/>
              <p:nvPr/>
            </p:nvSpPr>
            <p:spPr>
              <a:xfrm>
                <a:off x="0" y="-47625"/>
                <a:ext cx="6287660" cy="1658266"/>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38923" y="358597"/>
              <a:ext cx="6023620" cy="1140092"/>
            </a:xfrm>
            <a:prstGeom prst="rect">
              <a:avLst/>
            </a:prstGeom>
          </p:spPr>
          <p:txBody>
            <a:bodyPr anchor="t" rtlCol="false" tIns="0" lIns="0" bIns="0" rIns="0">
              <a:spAutoFit/>
            </a:bodyPr>
            <a:lstStyle/>
            <a:p>
              <a:pPr algn="r">
                <a:lnSpc>
                  <a:spcPts val="3195"/>
                </a:lnSpc>
              </a:pPr>
              <a:r>
                <a:rPr lang="en-US" sz="3399">
                  <a:solidFill>
                    <a:srgbClr val="F8F6F0"/>
                  </a:solidFill>
                  <a:latin typeface="Cy Grotesk Wide"/>
                  <a:ea typeface="Cy Grotesk Wide"/>
                  <a:cs typeface="Cy Grotesk Wide"/>
                  <a:sym typeface="Cy Grotesk Wide"/>
                </a:rPr>
                <a:t>Continuidad </a:t>
              </a:r>
              <a:r>
                <a:rPr lang="en-US" sz="3399">
                  <a:solidFill>
                    <a:srgbClr val="F8F6F0"/>
                  </a:solidFill>
                  <a:latin typeface="Cy Grotesk Wide"/>
                  <a:ea typeface="Cy Grotesk Wide"/>
                  <a:cs typeface="Cy Grotesk Wide"/>
                  <a:sym typeface="Cy Grotesk Wide"/>
                </a:rPr>
                <a:t>entre cuatrimestres</a:t>
              </a:r>
            </a:p>
          </p:txBody>
        </p:sp>
        <p:grpSp>
          <p:nvGrpSpPr>
            <p:cNvPr name="Group 14" id="14"/>
            <p:cNvGrpSpPr/>
            <p:nvPr/>
          </p:nvGrpSpPr>
          <p:grpSpPr>
            <a:xfrm rot="0">
              <a:off x="7293215" y="0"/>
              <a:ext cx="18025344" cy="1868223"/>
              <a:chOff x="0" y="0"/>
              <a:chExt cx="15540093" cy="1610641"/>
            </a:xfrm>
          </p:grpSpPr>
          <p:sp>
            <p:nvSpPr>
              <p:cNvPr name="Freeform 15" id="15"/>
              <p:cNvSpPr/>
              <p:nvPr/>
            </p:nvSpPr>
            <p:spPr>
              <a:xfrm flipH="false" flipV="false" rot="0">
                <a:off x="0" y="0"/>
                <a:ext cx="15540093" cy="1610641"/>
              </a:xfrm>
              <a:custGeom>
                <a:avLst/>
                <a:gdLst/>
                <a:ahLst/>
                <a:cxnLst/>
                <a:rect r="r" b="b" t="t" l="l"/>
                <a:pathLst>
                  <a:path h="1610641" w="15540093">
                    <a:moveTo>
                      <a:pt x="0" y="0"/>
                    </a:moveTo>
                    <a:lnTo>
                      <a:pt x="15540093" y="0"/>
                    </a:lnTo>
                    <a:lnTo>
                      <a:pt x="15540093" y="1610641"/>
                    </a:lnTo>
                    <a:lnTo>
                      <a:pt x="0" y="1610641"/>
                    </a:lnTo>
                    <a:close/>
                  </a:path>
                </a:pathLst>
              </a:custGeom>
              <a:solidFill>
                <a:srgbClr val="54DF64"/>
              </a:solidFill>
            </p:spPr>
          </p:sp>
          <p:sp>
            <p:nvSpPr>
              <p:cNvPr name="TextBox 16" id="16"/>
              <p:cNvSpPr txBox="true"/>
              <p:nvPr/>
            </p:nvSpPr>
            <p:spPr>
              <a:xfrm>
                <a:off x="0" y="-47625"/>
                <a:ext cx="15540093" cy="1658266"/>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7838894" y="395688"/>
              <a:ext cx="16051869" cy="1067321"/>
            </a:xfrm>
            <a:prstGeom prst="rect">
              <a:avLst/>
            </a:prstGeom>
          </p:spPr>
          <p:txBody>
            <a:bodyPr anchor="t" rtlCol="false" tIns="0" lIns="0" bIns="0" rIns="0">
              <a:spAutoFit/>
            </a:bodyPr>
            <a:lstStyle/>
            <a:p>
              <a:pPr algn="l" marL="0" indent="0" lvl="1">
                <a:lnSpc>
                  <a:spcPts val="3171"/>
                </a:lnSpc>
              </a:pPr>
              <a:r>
                <a:rPr lang="en-US" sz="2599">
                  <a:solidFill>
                    <a:srgbClr val="000000"/>
                  </a:solidFill>
                  <a:latin typeface="Cy Grotesk Key"/>
                  <a:ea typeface="Cy Grotesk Key"/>
                  <a:cs typeface="Cy Grotesk Key"/>
                  <a:sym typeface="Cy Grotesk Key"/>
                </a:rPr>
                <a:t>La</a:t>
              </a:r>
              <a:r>
                <a:rPr lang="en-US" sz="2599">
                  <a:solidFill>
                    <a:srgbClr val="000000"/>
                  </a:solidFill>
                  <a:latin typeface="Cy Grotesk Key"/>
                  <a:ea typeface="Cy Grotesk Key"/>
                  <a:cs typeface="Cy Grotesk Key"/>
                  <a:sym typeface="Cy Grotesk Key"/>
                </a:rPr>
                <a:t> caída de inscripciones del 2do cuatrimestre se vuelve un indicador clave para implementar estrategias de retención</a:t>
              </a:r>
            </a:p>
          </p:txBody>
        </p:sp>
      </p:grpSp>
      <p:grpSp>
        <p:nvGrpSpPr>
          <p:cNvPr name="Group 18" id="18"/>
          <p:cNvGrpSpPr/>
          <p:nvPr/>
        </p:nvGrpSpPr>
        <p:grpSpPr>
          <a:xfrm rot="0">
            <a:off x="-128516" y="4738841"/>
            <a:ext cx="18988919" cy="1401167"/>
            <a:chOff x="0" y="0"/>
            <a:chExt cx="25318559" cy="1868223"/>
          </a:xfrm>
        </p:grpSpPr>
        <p:grpSp>
          <p:nvGrpSpPr>
            <p:cNvPr name="Group 19" id="19"/>
            <p:cNvGrpSpPr/>
            <p:nvPr/>
          </p:nvGrpSpPr>
          <p:grpSpPr>
            <a:xfrm rot="0">
              <a:off x="0" y="0"/>
              <a:ext cx="7293215" cy="1868223"/>
              <a:chOff x="0" y="0"/>
              <a:chExt cx="6287660" cy="1610641"/>
            </a:xfrm>
          </p:grpSpPr>
          <p:sp>
            <p:nvSpPr>
              <p:cNvPr name="Freeform 20" id="20"/>
              <p:cNvSpPr/>
              <p:nvPr/>
            </p:nvSpPr>
            <p:spPr>
              <a:xfrm flipH="false" flipV="false" rot="0">
                <a:off x="0" y="0"/>
                <a:ext cx="6287660" cy="1610641"/>
              </a:xfrm>
              <a:custGeom>
                <a:avLst/>
                <a:gdLst/>
                <a:ahLst/>
                <a:cxnLst/>
                <a:rect r="r" b="b" t="t" l="l"/>
                <a:pathLst>
                  <a:path h="1610641" w="6287660">
                    <a:moveTo>
                      <a:pt x="0" y="0"/>
                    </a:moveTo>
                    <a:lnTo>
                      <a:pt x="6287660" y="0"/>
                    </a:lnTo>
                    <a:lnTo>
                      <a:pt x="6287660" y="1610641"/>
                    </a:lnTo>
                    <a:lnTo>
                      <a:pt x="0" y="1610641"/>
                    </a:lnTo>
                    <a:close/>
                  </a:path>
                </a:pathLst>
              </a:custGeom>
              <a:solidFill>
                <a:srgbClr val="000000"/>
              </a:solidFill>
            </p:spPr>
          </p:sp>
          <p:sp>
            <p:nvSpPr>
              <p:cNvPr name="TextBox 21" id="21"/>
              <p:cNvSpPr txBox="true"/>
              <p:nvPr/>
            </p:nvSpPr>
            <p:spPr>
              <a:xfrm>
                <a:off x="0" y="-47625"/>
                <a:ext cx="6287660" cy="1658266"/>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638923" y="625248"/>
              <a:ext cx="6023620" cy="606791"/>
            </a:xfrm>
            <a:prstGeom prst="rect">
              <a:avLst/>
            </a:prstGeom>
          </p:spPr>
          <p:txBody>
            <a:bodyPr anchor="t" rtlCol="false" tIns="0" lIns="0" bIns="0" rIns="0">
              <a:spAutoFit/>
            </a:bodyPr>
            <a:lstStyle/>
            <a:p>
              <a:pPr algn="r">
                <a:lnSpc>
                  <a:spcPts val="3195"/>
                </a:lnSpc>
              </a:pPr>
              <a:r>
                <a:rPr lang="en-US" sz="3399">
                  <a:solidFill>
                    <a:srgbClr val="F8F6F0"/>
                  </a:solidFill>
                  <a:latin typeface="Cy Grotesk Wide"/>
                  <a:ea typeface="Cy Grotesk Wide"/>
                  <a:cs typeface="Cy Grotesk Wide"/>
                  <a:sym typeface="Cy Grotesk Wide"/>
                </a:rPr>
                <a:t>Deserción tardí</a:t>
              </a:r>
              <a:r>
                <a:rPr lang="en-US" sz="3399">
                  <a:solidFill>
                    <a:srgbClr val="F8F6F0"/>
                  </a:solidFill>
                  <a:latin typeface="Cy Grotesk Wide"/>
                  <a:ea typeface="Cy Grotesk Wide"/>
                  <a:cs typeface="Cy Grotesk Wide"/>
                  <a:sym typeface="Cy Grotesk Wide"/>
                </a:rPr>
                <a:t>a</a:t>
              </a:r>
            </a:p>
          </p:txBody>
        </p:sp>
        <p:grpSp>
          <p:nvGrpSpPr>
            <p:cNvPr name="Group 23" id="23"/>
            <p:cNvGrpSpPr/>
            <p:nvPr/>
          </p:nvGrpSpPr>
          <p:grpSpPr>
            <a:xfrm rot="0">
              <a:off x="7293215" y="0"/>
              <a:ext cx="18025344" cy="1868223"/>
              <a:chOff x="0" y="0"/>
              <a:chExt cx="15540093" cy="1610641"/>
            </a:xfrm>
          </p:grpSpPr>
          <p:sp>
            <p:nvSpPr>
              <p:cNvPr name="Freeform 24" id="24"/>
              <p:cNvSpPr/>
              <p:nvPr/>
            </p:nvSpPr>
            <p:spPr>
              <a:xfrm flipH="false" flipV="false" rot="0">
                <a:off x="0" y="0"/>
                <a:ext cx="15540093" cy="1610641"/>
              </a:xfrm>
              <a:custGeom>
                <a:avLst/>
                <a:gdLst/>
                <a:ahLst/>
                <a:cxnLst/>
                <a:rect r="r" b="b" t="t" l="l"/>
                <a:pathLst>
                  <a:path h="1610641" w="15540093">
                    <a:moveTo>
                      <a:pt x="0" y="0"/>
                    </a:moveTo>
                    <a:lnTo>
                      <a:pt x="15540093" y="0"/>
                    </a:lnTo>
                    <a:lnTo>
                      <a:pt x="15540093" y="1610641"/>
                    </a:lnTo>
                    <a:lnTo>
                      <a:pt x="0" y="1610641"/>
                    </a:lnTo>
                    <a:close/>
                  </a:path>
                </a:pathLst>
              </a:custGeom>
              <a:solidFill>
                <a:srgbClr val="54DF64"/>
              </a:solidFill>
            </p:spPr>
          </p:sp>
          <p:sp>
            <p:nvSpPr>
              <p:cNvPr name="TextBox 25" id="25"/>
              <p:cNvSpPr txBox="true"/>
              <p:nvPr/>
            </p:nvSpPr>
            <p:spPr>
              <a:xfrm>
                <a:off x="0" y="-47625"/>
                <a:ext cx="15540093" cy="1658266"/>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838894" y="339391"/>
              <a:ext cx="16051869" cy="1067321"/>
            </a:xfrm>
            <a:prstGeom prst="rect">
              <a:avLst/>
            </a:prstGeom>
          </p:spPr>
          <p:txBody>
            <a:bodyPr anchor="t" rtlCol="false" tIns="0" lIns="0" bIns="0" rIns="0">
              <a:spAutoFit/>
            </a:bodyPr>
            <a:lstStyle/>
            <a:p>
              <a:pPr algn="l" marL="0" indent="0" lvl="1">
                <a:lnSpc>
                  <a:spcPts val="3171"/>
                </a:lnSpc>
              </a:pPr>
              <a:r>
                <a:rPr lang="en-US" sz="2599">
                  <a:solidFill>
                    <a:srgbClr val="000000"/>
                  </a:solidFill>
                  <a:latin typeface="Cy Grotesk Key"/>
                  <a:ea typeface="Cy Grotesk Key"/>
                  <a:cs typeface="Cy Grotesk Key"/>
                  <a:sym typeface="Cy Grotesk Key"/>
                </a:rPr>
                <a:t>El</a:t>
              </a:r>
              <a:r>
                <a:rPr lang="en-US" sz="2599">
                  <a:solidFill>
                    <a:srgbClr val="000000"/>
                  </a:solidFill>
                  <a:latin typeface="Cy Grotesk Key"/>
                  <a:ea typeface="Cy Grotesk Key"/>
                  <a:cs typeface="Cy Grotesk Key"/>
                  <a:sym typeface="Cy Grotesk Key"/>
                </a:rPr>
                <a:t> pico máximo de deserción se ubica críticamente en el Nivel 3 (4.408 alumnos) y Nivel 4 (3.411 alumnos)</a:t>
              </a:r>
            </a:p>
          </p:txBody>
        </p:sp>
      </p:grpSp>
      <p:grpSp>
        <p:nvGrpSpPr>
          <p:cNvPr name="Group 27" id="27"/>
          <p:cNvGrpSpPr/>
          <p:nvPr/>
        </p:nvGrpSpPr>
        <p:grpSpPr>
          <a:xfrm rot="0">
            <a:off x="-128516" y="6528679"/>
            <a:ext cx="18988919" cy="1401167"/>
            <a:chOff x="0" y="0"/>
            <a:chExt cx="25318559" cy="1868223"/>
          </a:xfrm>
        </p:grpSpPr>
        <p:grpSp>
          <p:nvGrpSpPr>
            <p:cNvPr name="Group 28" id="28"/>
            <p:cNvGrpSpPr/>
            <p:nvPr/>
          </p:nvGrpSpPr>
          <p:grpSpPr>
            <a:xfrm rot="0">
              <a:off x="0" y="0"/>
              <a:ext cx="7293215" cy="1868223"/>
              <a:chOff x="0" y="0"/>
              <a:chExt cx="6287660" cy="1610641"/>
            </a:xfrm>
          </p:grpSpPr>
          <p:sp>
            <p:nvSpPr>
              <p:cNvPr name="Freeform 29" id="29"/>
              <p:cNvSpPr/>
              <p:nvPr/>
            </p:nvSpPr>
            <p:spPr>
              <a:xfrm flipH="false" flipV="false" rot="0">
                <a:off x="0" y="0"/>
                <a:ext cx="6287660" cy="1610641"/>
              </a:xfrm>
              <a:custGeom>
                <a:avLst/>
                <a:gdLst/>
                <a:ahLst/>
                <a:cxnLst/>
                <a:rect r="r" b="b" t="t" l="l"/>
                <a:pathLst>
                  <a:path h="1610641" w="6287660">
                    <a:moveTo>
                      <a:pt x="0" y="0"/>
                    </a:moveTo>
                    <a:lnTo>
                      <a:pt x="6287660" y="0"/>
                    </a:lnTo>
                    <a:lnTo>
                      <a:pt x="6287660" y="1610641"/>
                    </a:lnTo>
                    <a:lnTo>
                      <a:pt x="0" y="1610641"/>
                    </a:lnTo>
                    <a:close/>
                  </a:path>
                </a:pathLst>
              </a:custGeom>
              <a:solidFill>
                <a:srgbClr val="000000"/>
              </a:solidFill>
            </p:spPr>
          </p:sp>
          <p:sp>
            <p:nvSpPr>
              <p:cNvPr name="TextBox 30" id="30"/>
              <p:cNvSpPr txBox="true"/>
              <p:nvPr/>
            </p:nvSpPr>
            <p:spPr>
              <a:xfrm>
                <a:off x="0" y="-47625"/>
                <a:ext cx="6287660" cy="1658266"/>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638923" y="358597"/>
              <a:ext cx="6023620" cy="1140092"/>
            </a:xfrm>
            <a:prstGeom prst="rect">
              <a:avLst/>
            </a:prstGeom>
          </p:spPr>
          <p:txBody>
            <a:bodyPr anchor="t" rtlCol="false" tIns="0" lIns="0" bIns="0" rIns="0">
              <a:spAutoFit/>
            </a:bodyPr>
            <a:lstStyle/>
            <a:p>
              <a:pPr algn="r">
                <a:lnSpc>
                  <a:spcPts val="3195"/>
                </a:lnSpc>
              </a:pPr>
              <a:r>
                <a:rPr lang="en-US" sz="3399">
                  <a:solidFill>
                    <a:srgbClr val="F8F6F0"/>
                  </a:solidFill>
                  <a:latin typeface="Cy Grotesk Wide"/>
                  <a:ea typeface="Cy Grotesk Wide"/>
                  <a:cs typeface="Cy Grotesk Wide"/>
                  <a:sym typeface="Cy Grotesk Wide"/>
                </a:rPr>
                <a:t>Asignaturas crític</a:t>
              </a:r>
              <a:r>
                <a:rPr lang="en-US" sz="3399">
                  <a:solidFill>
                    <a:srgbClr val="F8F6F0"/>
                  </a:solidFill>
                  <a:latin typeface="Cy Grotesk Wide"/>
                  <a:ea typeface="Cy Grotesk Wide"/>
                  <a:cs typeface="Cy Grotesk Wide"/>
                  <a:sym typeface="Cy Grotesk Wide"/>
                </a:rPr>
                <a:t>as</a:t>
              </a:r>
            </a:p>
          </p:txBody>
        </p:sp>
        <p:grpSp>
          <p:nvGrpSpPr>
            <p:cNvPr name="Group 32" id="32"/>
            <p:cNvGrpSpPr/>
            <p:nvPr/>
          </p:nvGrpSpPr>
          <p:grpSpPr>
            <a:xfrm rot="0">
              <a:off x="7293215" y="0"/>
              <a:ext cx="18025344" cy="1868223"/>
              <a:chOff x="0" y="0"/>
              <a:chExt cx="15540093" cy="1610641"/>
            </a:xfrm>
          </p:grpSpPr>
          <p:sp>
            <p:nvSpPr>
              <p:cNvPr name="Freeform 33" id="33"/>
              <p:cNvSpPr/>
              <p:nvPr/>
            </p:nvSpPr>
            <p:spPr>
              <a:xfrm flipH="false" flipV="false" rot="0">
                <a:off x="0" y="0"/>
                <a:ext cx="15540093" cy="1610641"/>
              </a:xfrm>
              <a:custGeom>
                <a:avLst/>
                <a:gdLst/>
                <a:ahLst/>
                <a:cxnLst/>
                <a:rect r="r" b="b" t="t" l="l"/>
                <a:pathLst>
                  <a:path h="1610641" w="15540093">
                    <a:moveTo>
                      <a:pt x="0" y="0"/>
                    </a:moveTo>
                    <a:lnTo>
                      <a:pt x="15540093" y="0"/>
                    </a:lnTo>
                    <a:lnTo>
                      <a:pt x="15540093" y="1610641"/>
                    </a:lnTo>
                    <a:lnTo>
                      <a:pt x="0" y="1610641"/>
                    </a:lnTo>
                    <a:close/>
                  </a:path>
                </a:pathLst>
              </a:custGeom>
              <a:solidFill>
                <a:srgbClr val="54DF64"/>
              </a:solidFill>
            </p:spPr>
          </p:sp>
          <p:sp>
            <p:nvSpPr>
              <p:cNvPr name="TextBox 34" id="34"/>
              <p:cNvSpPr txBox="true"/>
              <p:nvPr/>
            </p:nvSpPr>
            <p:spPr>
              <a:xfrm>
                <a:off x="0" y="-47625"/>
                <a:ext cx="15540093" cy="1658266"/>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7838894" y="339391"/>
              <a:ext cx="16051869" cy="1067321"/>
            </a:xfrm>
            <a:prstGeom prst="rect">
              <a:avLst/>
            </a:prstGeom>
          </p:spPr>
          <p:txBody>
            <a:bodyPr anchor="t" rtlCol="false" tIns="0" lIns="0" bIns="0" rIns="0">
              <a:spAutoFit/>
            </a:bodyPr>
            <a:lstStyle/>
            <a:p>
              <a:pPr algn="l" marL="0" indent="0" lvl="1">
                <a:lnSpc>
                  <a:spcPts val="3171"/>
                </a:lnSpc>
              </a:pPr>
              <a:r>
                <a:rPr lang="en-US" sz="2599">
                  <a:solidFill>
                    <a:srgbClr val="000000"/>
                  </a:solidFill>
                  <a:latin typeface="Cy Grotesk Key"/>
                  <a:ea typeface="Cy Grotesk Key"/>
                  <a:cs typeface="Cy Grotesk Key"/>
                  <a:sym typeface="Cy Grotesk Key"/>
                </a:rPr>
                <a:t>El</a:t>
              </a:r>
              <a:r>
                <a:rPr lang="en-US" sz="2599">
                  <a:solidFill>
                    <a:srgbClr val="000000"/>
                  </a:solidFill>
                  <a:latin typeface="Cy Grotesk Key"/>
                  <a:ea typeface="Cy Grotesk Key"/>
                  <a:cs typeface="Cy Grotesk Key"/>
                  <a:sym typeface="Cy Grotesk Key"/>
                </a:rPr>
                <a:t> abandono se predice con la desaprobación de materias críticas más que con combinaciones específicas de asignaturas.</a:t>
              </a:r>
            </a:p>
          </p:txBody>
        </p:sp>
      </p:grpSp>
      <p:grpSp>
        <p:nvGrpSpPr>
          <p:cNvPr name="Group 36" id="36"/>
          <p:cNvGrpSpPr/>
          <p:nvPr/>
        </p:nvGrpSpPr>
        <p:grpSpPr>
          <a:xfrm rot="0">
            <a:off x="-128516" y="8320371"/>
            <a:ext cx="18988919" cy="1401167"/>
            <a:chOff x="0" y="0"/>
            <a:chExt cx="25318559" cy="1868223"/>
          </a:xfrm>
        </p:grpSpPr>
        <p:grpSp>
          <p:nvGrpSpPr>
            <p:cNvPr name="Group 37" id="37"/>
            <p:cNvGrpSpPr/>
            <p:nvPr/>
          </p:nvGrpSpPr>
          <p:grpSpPr>
            <a:xfrm rot="0">
              <a:off x="0" y="0"/>
              <a:ext cx="7293215" cy="1868223"/>
              <a:chOff x="0" y="0"/>
              <a:chExt cx="6287660" cy="1610641"/>
            </a:xfrm>
          </p:grpSpPr>
          <p:sp>
            <p:nvSpPr>
              <p:cNvPr name="Freeform 38" id="38"/>
              <p:cNvSpPr/>
              <p:nvPr/>
            </p:nvSpPr>
            <p:spPr>
              <a:xfrm flipH="false" flipV="false" rot="0">
                <a:off x="0" y="0"/>
                <a:ext cx="6287660" cy="1610641"/>
              </a:xfrm>
              <a:custGeom>
                <a:avLst/>
                <a:gdLst/>
                <a:ahLst/>
                <a:cxnLst/>
                <a:rect r="r" b="b" t="t" l="l"/>
                <a:pathLst>
                  <a:path h="1610641" w="6287660">
                    <a:moveTo>
                      <a:pt x="0" y="0"/>
                    </a:moveTo>
                    <a:lnTo>
                      <a:pt x="6287660" y="0"/>
                    </a:lnTo>
                    <a:lnTo>
                      <a:pt x="6287660" y="1610641"/>
                    </a:lnTo>
                    <a:lnTo>
                      <a:pt x="0" y="1610641"/>
                    </a:lnTo>
                    <a:close/>
                  </a:path>
                </a:pathLst>
              </a:custGeom>
              <a:solidFill>
                <a:srgbClr val="000000"/>
              </a:solidFill>
            </p:spPr>
          </p:sp>
          <p:sp>
            <p:nvSpPr>
              <p:cNvPr name="TextBox 39" id="39"/>
              <p:cNvSpPr txBox="true"/>
              <p:nvPr/>
            </p:nvSpPr>
            <p:spPr>
              <a:xfrm>
                <a:off x="0" y="-47625"/>
                <a:ext cx="6287660" cy="1658266"/>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638923" y="358597"/>
              <a:ext cx="6023620" cy="1140092"/>
            </a:xfrm>
            <a:prstGeom prst="rect">
              <a:avLst/>
            </a:prstGeom>
          </p:spPr>
          <p:txBody>
            <a:bodyPr anchor="t" rtlCol="false" tIns="0" lIns="0" bIns="0" rIns="0">
              <a:spAutoFit/>
            </a:bodyPr>
            <a:lstStyle/>
            <a:p>
              <a:pPr algn="r">
                <a:lnSpc>
                  <a:spcPts val="3195"/>
                </a:lnSpc>
              </a:pPr>
              <a:r>
                <a:rPr lang="en-US" sz="3399">
                  <a:solidFill>
                    <a:srgbClr val="F8F6F0"/>
                  </a:solidFill>
                  <a:latin typeface="Cy Grotesk Wide"/>
                  <a:ea typeface="Cy Grotesk Wide"/>
                  <a:cs typeface="Cy Grotesk Wide"/>
                  <a:sym typeface="Cy Grotesk Wide"/>
                </a:rPr>
                <a:t>Desvinculación previ</a:t>
              </a:r>
              <a:r>
                <a:rPr lang="en-US" sz="3399">
                  <a:solidFill>
                    <a:srgbClr val="F8F6F0"/>
                  </a:solidFill>
                  <a:latin typeface="Cy Grotesk Wide"/>
                  <a:ea typeface="Cy Grotesk Wide"/>
                  <a:cs typeface="Cy Grotesk Wide"/>
                  <a:sym typeface="Cy Grotesk Wide"/>
                </a:rPr>
                <a:t>a</a:t>
              </a:r>
            </a:p>
          </p:txBody>
        </p:sp>
        <p:grpSp>
          <p:nvGrpSpPr>
            <p:cNvPr name="Group 41" id="41"/>
            <p:cNvGrpSpPr/>
            <p:nvPr/>
          </p:nvGrpSpPr>
          <p:grpSpPr>
            <a:xfrm rot="0">
              <a:off x="7293215" y="0"/>
              <a:ext cx="18025344" cy="1868223"/>
              <a:chOff x="0" y="0"/>
              <a:chExt cx="15540093" cy="1610641"/>
            </a:xfrm>
          </p:grpSpPr>
          <p:sp>
            <p:nvSpPr>
              <p:cNvPr name="Freeform 42" id="42"/>
              <p:cNvSpPr/>
              <p:nvPr/>
            </p:nvSpPr>
            <p:spPr>
              <a:xfrm flipH="false" flipV="false" rot="0">
                <a:off x="0" y="0"/>
                <a:ext cx="15540093" cy="1610641"/>
              </a:xfrm>
              <a:custGeom>
                <a:avLst/>
                <a:gdLst/>
                <a:ahLst/>
                <a:cxnLst/>
                <a:rect r="r" b="b" t="t" l="l"/>
                <a:pathLst>
                  <a:path h="1610641" w="15540093">
                    <a:moveTo>
                      <a:pt x="0" y="0"/>
                    </a:moveTo>
                    <a:lnTo>
                      <a:pt x="15540093" y="0"/>
                    </a:lnTo>
                    <a:lnTo>
                      <a:pt x="15540093" y="1610641"/>
                    </a:lnTo>
                    <a:lnTo>
                      <a:pt x="0" y="1610641"/>
                    </a:lnTo>
                    <a:close/>
                  </a:path>
                </a:pathLst>
              </a:custGeom>
              <a:solidFill>
                <a:srgbClr val="54DF64"/>
              </a:solidFill>
            </p:spPr>
          </p:sp>
          <p:sp>
            <p:nvSpPr>
              <p:cNvPr name="TextBox 43" id="43"/>
              <p:cNvSpPr txBox="true"/>
              <p:nvPr/>
            </p:nvSpPr>
            <p:spPr>
              <a:xfrm>
                <a:off x="0" y="-47625"/>
                <a:ext cx="15540093" cy="1658266"/>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0">
              <a:off x="7838894" y="339391"/>
              <a:ext cx="16051869" cy="1067321"/>
            </a:xfrm>
            <a:prstGeom prst="rect">
              <a:avLst/>
            </a:prstGeom>
          </p:spPr>
          <p:txBody>
            <a:bodyPr anchor="t" rtlCol="false" tIns="0" lIns="0" bIns="0" rIns="0">
              <a:spAutoFit/>
            </a:bodyPr>
            <a:lstStyle/>
            <a:p>
              <a:pPr algn="l" marL="0" indent="0" lvl="1">
                <a:lnSpc>
                  <a:spcPts val="3171"/>
                </a:lnSpc>
              </a:pPr>
              <a:r>
                <a:rPr lang="en-US" sz="2599">
                  <a:solidFill>
                    <a:srgbClr val="000000"/>
                  </a:solidFill>
                  <a:latin typeface="Cy Grotesk Key"/>
                  <a:ea typeface="Cy Grotesk Key"/>
                  <a:cs typeface="Cy Grotesk Key"/>
                  <a:sym typeface="Cy Grotesk Key"/>
                </a:rPr>
                <a:t>32% del</a:t>
              </a:r>
              <a:r>
                <a:rPr lang="en-US" sz="2599">
                  <a:solidFill>
                    <a:srgbClr val="000000"/>
                  </a:solidFill>
                  <a:latin typeface="Cy Grotesk Key"/>
                  <a:ea typeface="Cy Grotesk Key"/>
                  <a:cs typeface="Cy Grotesk Key"/>
                  <a:sym typeface="Cy Grotesk Key"/>
                </a:rPr>
                <a:t> universo de desertores abandona el sistema universitario sin registrar una sola cursada</a:t>
              </a:r>
            </a:p>
          </p:txBody>
        </p:sp>
      </p:gr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96120">
            <a:off x="-10287208" y="659304"/>
            <a:ext cx="21306287" cy="1491048"/>
            <a:chOff x="0" y="0"/>
            <a:chExt cx="24491567" cy="1713959"/>
          </a:xfrm>
        </p:grpSpPr>
        <p:sp>
          <p:nvSpPr>
            <p:cNvPr name="Freeform 3" id="3"/>
            <p:cNvSpPr/>
            <p:nvPr/>
          </p:nvSpPr>
          <p:spPr>
            <a:xfrm flipH="false" flipV="false" rot="0">
              <a:off x="0" y="0"/>
              <a:ext cx="24491567" cy="1713959"/>
            </a:xfrm>
            <a:custGeom>
              <a:avLst/>
              <a:gdLst/>
              <a:ahLst/>
              <a:cxnLst/>
              <a:rect r="r" b="b" t="t" l="l"/>
              <a:pathLst>
                <a:path h="1713959" w="24491567">
                  <a:moveTo>
                    <a:pt x="0" y="0"/>
                  </a:moveTo>
                  <a:lnTo>
                    <a:pt x="24491567" y="0"/>
                  </a:lnTo>
                  <a:lnTo>
                    <a:pt x="24491567" y="1713959"/>
                  </a:lnTo>
                  <a:lnTo>
                    <a:pt x="0" y="1713959"/>
                  </a:lnTo>
                  <a:close/>
                </a:path>
              </a:pathLst>
            </a:custGeom>
            <a:solidFill>
              <a:srgbClr val="54DF64"/>
            </a:solidFill>
          </p:spPr>
        </p:sp>
        <p:sp>
          <p:nvSpPr>
            <p:cNvPr name="TextBox 4" id="4"/>
            <p:cNvSpPr txBox="true"/>
            <p:nvPr/>
          </p:nvSpPr>
          <p:spPr>
            <a:xfrm>
              <a:off x="0" y="-47625"/>
              <a:ext cx="24491567" cy="1761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1172960" cy="1467918"/>
            <a:chOff x="0" y="0"/>
            <a:chExt cx="24338307" cy="1687371"/>
          </a:xfrm>
        </p:grpSpPr>
        <p:sp>
          <p:nvSpPr>
            <p:cNvPr name="Freeform 6" id="6"/>
            <p:cNvSpPr/>
            <p:nvPr/>
          </p:nvSpPr>
          <p:spPr>
            <a:xfrm flipH="false" flipV="false" rot="0">
              <a:off x="0" y="0"/>
              <a:ext cx="24338307" cy="1687371"/>
            </a:xfrm>
            <a:custGeom>
              <a:avLst/>
              <a:gdLst/>
              <a:ahLst/>
              <a:cxnLst/>
              <a:rect r="r" b="b" t="t" l="l"/>
              <a:pathLst>
                <a:path h="1687371" w="24338307">
                  <a:moveTo>
                    <a:pt x="0" y="0"/>
                  </a:moveTo>
                  <a:lnTo>
                    <a:pt x="24338307" y="0"/>
                  </a:lnTo>
                  <a:lnTo>
                    <a:pt x="24338307" y="1687371"/>
                  </a:lnTo>
                  <a:lnTo>
                    <a:pt x="0" y="1687371"/>
                  </a:lnTo>
                  <a:close/>
                </a:path>
              </a:pathLst>
            </a:custGeom>
            <a:solidFill>
              <a:srgbClr val="000000"/>
            </a:solidFill>
          </p:spPr>
        </p:sp>
        <p:sp>
          <p:nvSpPr>
            <p:cNvPr name="TextBox 7" id="7"/>
            <p:cNvSpPr txBox="true"/>
            <p:nvPr/>
          </p:nvSpPr>
          <p:spPr>
            <a:xfrm>
              <a:off x="0" y="-47625"/>
              <a:ext cx="24338307" cy="173499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9876501"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7.</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Decisiones sugeridas</a:t>
            </a:r>
          </a:p>
        </p:txBody>
      </p:sp>
      <p:grpSp>
        <p:nvGrpSpPr>
          <p:cNvPr name="Group 9" id="9"/>
          <p:cNvGrpSpPr/>
          <p:nvPr/>
        </p:nvGrpSpPr>
        <p:grpSpPr>
          <a:xfrm rot="0">
            <a:off x="0" y="3012092"/>
            <a:ext cx="19004151" cy="985197"/>
            <a:chOff x="0" y="0"/>
            <a:chExt cx="25338867" cy="1313595"/>
          </a:xfrm>
        </p:grpSpPr>
        <p:grpSp>
          <p:nvGrpSpPr>
            <p:cNvPr name="Group 10" id="10"/>
            <p:cNvGrpSpPr/>
            <p:nvPr/>
          </p:nvGrpSpPr>
          <p:grpSpPr>
            <a:xfrm rot="0">
              <a:off x="0" y="0"/>
              <a:ext cx="3058603" cy="1313595"/>
              <a:chOff x="0" y="0"/>
              <a:chExt cx="2634783" cy="1131575"/>
            </a:xfrm>
          </p:grpSpPr>
          <p:sp>
            <p:nvSpPr>
              <p:cNvPr name="Freeform 11" id="11"/>
              <p:cNvSpPr/>
              <p:nvPr/>
            </p:nvSpPr>
            <p:spPr>
              <a:xfrm flipH="false" flipV="false" rot="0">
                <a:off x="0" y="0"/>
                <a:ext cx="2634783" cy="1131575"/>
              </a:xfrm>
              <a:custGeom>
                <a:avLst/>
                <a:gdLst/>
                <a:ahLst/>
                <a:cxnLst/>
                <a:rect r="r" b="b" t="t" l="l"/>
                <a:pathLst>
                  <a:path h="1131575" w="2634783">
                    <a:moveTo>
                      <a:pt x="0" y="0"/>
                    </a:moveTo>
                    <a:lnTo>
                      <a:pt x="2634783" y="0"/>
                    </a:lnTo>
                    <a:lnTo>
                      <a:pt x="2634783" y="1131575"/>
                    </a:lnTo>
                    <a:lnTo>
                      <a:pt x="0" y="1131575"/>
                    </a:lnTo>
                    <a:close/>
                  </a:path>
                </a:pathLst>
              </a:custGeom>
              <a:solidFill>
                <a:srgbClr val="54DF64"/>
              </a:solidFill>
            </p:spPr>
          </p:sp>
          <p:sp>
            <p:nvSpPr>
              <p:cNvPr name="TextBox 12" id="12"/>
              <p:cNvSpPr txBox="true"/>
              <p:nvPr/>
            </p:nvSpPr>
            <p:spPr>
              <a:xfrm>
                <a:off x="0" y="-38100"/>
                <a:ext cx="2634783" cy="1169675"/>
              </a:xfrm>
              <a:prstGeom prst="rect">
                <a:avLst/>
              </a:prstGeom>
            </p:spPr>
            <p:txBody>
              <a:bodyPr anchor="ctr" rtlCol="false" tIns="50800" lIns="50800" bIns="50800" rIns="50800"/>
              <a:lstStyle/>
              <a:p>
                <a:pPr algn="ctr">
                  <a:lnSpc>
                    <a:spcPts val="2660"/>
                  </a:lnSpc>
                </a:pPr>
              </a:p>
            </p:txBody>
          </p:sp>
        </p:grpSp>
        <p:grpSp>
          <p:nvGrpSpPr>
            <p:cNvPr name="Group 13" id="13"/>
            <p:cNvGrpSpPr/>
            <p:nvPr/>
          </p:nvGrpSpPr>
          <p:grpSpPr>
            <a:xfrm rot="0">
              <a:off x="3058603" y="0"/>
              <a:ext cx="22280265" cy="1313595"/>
              <a:chOff x="0" y="0"/>
              <a:chExt cx="19192970" cy="1131575"/>
            </a:xfrm>
          </p:grpSpPr>
          <p:sp>
            <p:nvSpPr>
              <p:cNvPr name="Freeform 14" id="14"/>
              <p:cNvSpPr/>
              <p:nvPr/>
            </p:nvSpPr>
            <p:spPr>
              <a:xfrm flipH="false" flipV="false" rot="0">
                <a:off x="0" y="0"/>
                <a:ext cx="19192970" cy="1131575"/>
              </a:xfrm>
              <a:custGeom>
                <a:avLst/>
                <a:gdLst/>
                <a:ahLst/>
                <a:cxnLst/>
                <a:rect r="r" b="b" t="t" l="l"/>
                <a:pathLst>
                  <a:path h="1131575" w="19192970">
                    <a:moveTo>
                      <a:pt x="0" y="0"/>
                    </a:moveTo>
                    <a:lnTo>
                      <a:pt x="19192970" y="0"/>
                    </a:lnTo>
                    <a:lnTo>
                      <a:pt x="19192970" y="1131575"/>
                    </a:lnTo>
                    <a:lnTo>
                      <a:pt x="0" y="1131575"/>
                    </a:lnTo>
                    <a:close/>
                  </a:path>
                </a:pathLst>
              </a:custGeom>
              <a:solidFill>
                <a:srgbClr val="000000"/>
              </a:solidFill>
            </p:spPr>
          </p:sp>
          <p:sp>
            <p:nvSpPr>
              <p:cNvPr name="TextBox 15" id="15"/>
              <p:cNvSpPr txBox="true"/>
              <p:nvPr/>
            </p:nvSpPr>
            <p:spPr>
              <a:xfrm>
                <a:off x="0" y="-38100"/>
                <a:ext cx="19192970" cy="1169675"/>
              </a:xfrm>
              <a:prstGeom prst="rect">
                <a:avLst/>
              </a:prstGeom>
            </p:spPr>
            <p:txBody>
              <a:bodyPr anchor="ctr" rtlCol="false" tIns="50800" lIns="50800" bIns="50800" rIns="50800"/>
              <a:lstStyle/>
              <a:p>
                <a:pPr algn="ctr">
                  <a:lnSpc>
                    <a:spcPts val="2660"/>
                  </a:lnSpc>
                </a:pPr>
              </a:p>
            </p:txBody>
          </p:sp>
        </p:grpSp>
        <p:sp>
          <p:nvSpPr>
            <p:cNvPr name="TextBox 16" id="16"/>
            <p:cNvSpPr txBox="true"/>
            <p:nvPr/>
          </p:nvSpPr>
          <p:spPr>
            <a:xfrm rot="0">
              <a:off x="3448637" y="229233"/>
              <a:ext cx="14799327" cy="740830"/>
            </a:xfrm>
            <a:prstGeom prst="rect">
              <a:avLst/>
            </a:prstGeom>
          </p:spPr>
          <p:txBody>
            <a:bodyPr anchor="t" rtlCol="false" tIns="0" lIns="0" bIns="0" rIns="0">
              <a:spAutoFit/>
            </a:bodyPr>
            <a:lstStyle/>
            <a:p>
              <a:pPr algn="l" marL="0" indent="0" lvl="1">
                <a:lnSpc>
                  <a:spcPts val="4901"/>
                </a:lnSpc>
              </a:pPr>
              <a:r>
                <a:rPr lang="en-US" sz="3102">
                  <a:solidFill>
                    <a:srgbClr val="F8F6F0"/>
                  </a:solidFill>
                  <a:latin typeface="Cy Grotesk Key"/>
                  <a:ea typeface="Cy Grotesk Key"/>
                  <a:cs typeface="Cy Grotesk Key"/>
                  <a:sym typeface="Cy Grotesk Key"/>
                </a:rPr>
                <a:t>Progr</a:t>
              </a:r>
              <a:r>
                <a:rPr lang="en-US" sz="3102">
                  <a:solidFill>
                    <a:srgbClr val="F8F6F0"/>
                  </a:solidFill>
                  <a:latin typeface="Cy Grotesk Key"/>
                  <a:ea typeface="Cy Grotesk Key"/>
                  <a:cs typeface="Cy Grotesk Key"/>
                  <a:sym typeface="Cy Grotesk Key"/>
                </a:rPr>
                <a:t>ama de incorporación inmediata</a:t>
              </a:r>
            </a:p>
          </p:txBody>
        </p:sp>
        <p:sp>
          <p:nvSpPr>
            <p:cNvPr name="TextBox 17" id="17"/>
            <p:cNvSpPr txBox="true"/>
            <p:nvPr/>
          </p:nvSpPr>
          <p:spPr>
            <a:xfrm rot="0">
              <a:off x="659798" y="298908"/>
              <a:ext cx="1943434" cy="830079"/>
            </a:xfrm>
            <a:prstGeom prst="rect">
              <a:avLst/>
            </a:prstGeom>
          </p:spPr>
          <p:txBody>
            <a:bodyPr anchor="t" rtlCol="false" tIns="0" lIns="0" bIns="0" rIns="0">
              <a:spAutoFit/>
            </a:bodyPr>
            <a:lstStyle/>
            <a:p>
              <a:pPr algn="r">
                <a:lnSpc>
                  <a:spcPts val="4421"/>
                </a:lnSpc>
              </a:pPr>
              <a:r>
                <a:rPr lang="en-US" sz="4703" b="true">
                  <a:solidFill>
                    <a:srgbClr val="000000"/>
                  </a:solidFill>
                  <a:latin typeface="Cy Grotesk Wide Bold"/>
                  <a:ea typeface="Cy Grotesk Wide Bold"/>
                  <a:cs typeface="Cy Grotesk Wide Bold"/>
                  <a:sym typeface="Cy Grotesk Wide Bold"/>
                </a:rPr>
                <a:t>01</a:t>
              </a:r>
            </a:p>
          </p:txBody>
        </p:sp>
      </p:grpSp>
      <p:grpSp>
        <p:nvGrpSpPr>
          <p:cNvPr name="Group 18" id="18"/>
          <p:cNvGrpSpPr/>
          <p:nvPr/>
        </p:nvGrpSpPr>
        <p:grpSpPr>
          <a:xfrm rot="0">
            <a:off x="0" y="4450495"/>
            <a:ext cx="19004151" cy="985197"/>
            <a:chOff x="0" y="0"/>
            <a:chExt cx="25338867" cy="1313595"/>
          </a:xfrm>
        </p:grpSpPr>
        <p:grpSp>
          <p:nvGrpSpPr>
            <p:cNvPr name="Group 19" id="19"/>
            <p:cNvGrpSpPr/>
            <p:nvPr/>
          </p:nvGrpSpPr>
          <p:grpSpPr>
            <a:xfrm rot="0">
              <a:off x="0" y="0"/>
              <a:ext cx="3058603" cy="1313595"/>
              <a:chOff x="0" y="0"/>
              <a:chExt cx="2634783" cy="1131575"/>
            </a:xfrm>
          </p:grpSpPr>
          <p:sp>
            <p:nvSpPr>
              <p:cNvPr name="Freeform 20" id="20"/>
              <p:cNvSpPr/>
              <p:nvPr/>
            </p:nvSpPr>
            <p:spPr>
              <a:xfrm flipH="false" flipV="false" rot="0">
                <a:off x="0" y="0"/>
                <a:ext cx="2634783" cy="1131575"/>
              </a:xfrm>
              <a:custGeom>
                <a:avLst/>
                <a:gdLst/>
                <a:ahLst/>
                <a:cxnLst/>
                <a:rect r="r" b="b" t="t" l="l"/>
                <a:pathLst>
                  <a:path h="1131575" w="2634783">
                    <a:moveTo>
                      <a:pt x="0" y="0"/>
                    </a:moveTo>
                    <a:lnTo>
                      <a:pt x="2634783" y="0"/>
                    </a:lnTo>
                    <a:lnTo>
                      <a:pt x="2634783" y="1131575"/>
                    </a:lnTo>
                    <a:lnTo>
                      <a:pt x="0" y="1131575"/>
                    </a:lnTo>
                    <a:close/>
                  </a:path>
                </a:pathLst>
              </a:custGeom>
              <a:solidFill>
                <a:srgbClr val="54DF64"/>
              </a:solidFill>
            </p:spPr>
          </p:sp>
          <p:sp>
            <p:nvSpPr>
              <p:cNvPr name="TextBox 21" id="21"/>
              <p:cNvSpPr txBox="true"/>
              <p:nvPr/>
            </p:nvSpPr>
            <p:spPr>
              <a:xfrm>
                <a:off x="0" y="-38100"/>
                <a:ext cx="2634783" cy="1169675"/>
              </a:xfrm>
              <a:prstGeom prst="rect">
                <a:avLst/>
              </a:prstGeom>
            </p:spPr>
            <p:txBody>
              <a:bodyPr anchor="ctr" rtlCol="false" tIns="50800" lIns="50800" bIns="50800" rIns="50800"/>
              <a:lstStyle/>
              <a:p>
                <a:pPr algn="ctr">
                  <a:lnSpc>
                    <a:spcPts val="2660"/>
                  </a:lnSpc>
                </a:pPr>
              </a:p>
            </p:txBody>
          </p:sp>
        </p:grpSp>
        <p:grpSp>
          <p:nvGrpSpPr>
            <p:cNvPr name="Group 22" id="22"/>
            <p:cNvGrpSpPr/>
            <p:nvPr/>
          </p:nvGrpSpPr>
          <p:grpSpPr>
            <a:xfrm rot="0">
              <a:off x="3058603" y="0"/>
              <a:ext cx="22280265" cy="1313595"/>
              <a:chOff x="0" y="0"/>
              <a:chExt cx="19192970" cy="1131575"/>
            </a:xfrm>
          </p:grpSpPr>
          <p:sp>
            <p:nvSpPr>
              <p:cNvPr name="Freeform 23" id="23"/>
              <p:cNvSpPr/>
              <p:nvPr/>
            </p:nvSpPr>
            <p:spPr>
              <a:xfrm flipH="false" flipV="false" rot="0">
                <a:off x="0" y="0"/>
                <a:ext cx="19192970" cy="1131575"/>
              </a:xfrm>
              <a:custGeom>
                <a:avLst/>
                <a:gdLst/>
                <a:ahLst/>
                <a:cxnLst/>
                <a:rect r="r" b="b" t="t" l="l"/>
                <a:pathLst>
                  <a:path h="1131575" w="19192970">
                    <a:moveTo>
                      <a:pt x="0" y="0"/>
                    </a:moveTo>
                    <a:lnTo>
                      <a:pt x="19192970" y="0"/>
                    </a:lnTo>
                    <a:lnTo>
                      <a:pt x="19192970" y="1131575"/>
                    </a:lnTo>
                    <a:lnTo>
                      <a:pt x="0" y="1131575"/>
                    </a:lnTo>
                    <a:close/>
                  </a:path>
                </a:pathLst>
              </a:custGeom>
              <a:solidFill>
                <a:srgbClr val="000000"/>
              </a:solidFill>
            </p:spPr>
          </p:sp>
          <p:sp>
            <p:nvSpPr>
              <p:cNvPr name="TextBox 24" id="24"/>
              <p:cNvSpPr txBox="true"/>
              <p:nvPr/>
            </p:nvSpPr>
            <p:spPr>
              <a:xfrm>
                <a:off x="0" y="-38100"/>
                <a:ext cx="19192970" cy="1169675"/>
              </a:xfrm>
              <a:prstGeom prst="rect">
                <a:avLst/>
              </a:prstGeom>
            </p:spPr>
            <p:txBody>
              <a:bodyPr anchor="ctr" rtlCol="false" tIns="50800" lIns="50800" bIns="50800" rIns="50800"/>
              <a:lstStyle/>
              <a:p>
                <a:pPr algn="ctr">
                  <a:lnSpc>
                    <a:spcPts val="2660"/>
                  </a:lnSpc>
                </a:pPr>
              </a:p>
            </p:txBody>
          </p:sp>
        </p:grpSp>
        <p:sp>
          <p:nvSpPr>
            <p:cNvPr name="TextBox 25" id="25"/>
            <p:cNvSpPr txBox="true"/>
            <p:nvPr/>
          </p:nvSpPr>
          <p:spPr>
            <a:xfrm rot="0">
              <a:off x="3448637" y="229233"/>
              <a:ext cx="14799327" cy="740830"/>
            </a:xfrm>
            <a:prstGeom prst="rect">
              <a:avLst/>
            </a:prstGeom>
          </p:spPr>
          <p:txBody>
            <a:bodyPr anchor="t" rtlCol="false" tIns="0" lIns="0" bIns="0" rIns="0">
              <a:spAutoFit/>
            </a:bodyPr>
            <a:lstStyle/>
            <a:p>
              <a:pPr algn="l" marL="0" indent="0" lvl="1">
                <a:lnSpc>
                  <a:spcPts val="4901"/>
                </a:lnSpc>
              </a:pPr>
              <a:r>
                <a:rPr lang="en-US" sz="3102">
                  <a:solidFill>
                    <a:srgbClr val="F8F6F0"/>
                  </a:solidFill>
                  <a:latin typeface="Cy Grotesk Key"/>
                  <a:ea typeface="Cy Grotesk Key"/>
                  <a:cs typeface="Cy Grotesk Key"/>
                  <a:sym typeface="Cy Grotesk Key"/>
                </a:rPr>
                <a:t>Cursos</a:t>
              </a:r>
              <a:r>
                <a:rPr lang="en-US" sz="3102">
                  <a:solidFill>
                    <a:srgbClr val="F8F6F0"/>
                  </a:solidFill>
                  <a:latin typeface="Cy Grotesk Key"/>
                  <a:ea typeface="Cy Grotesk Key"/>
                  <a:cs typeface="Cy Grotesk Key"/>
                  <a:sym typeface="Cy Grotesk Key"/>
                </a:rPr>
                <a:t> de nivelación en asignaturas críticas</a:t>
              </a:r>
            </a:p>
          </p:txBody>
        </p:sp>
        <p:sp>
          <p:nvSpPr>
            <p:cNvPr name="TextBox 26" id="26"/>
            <p:cNvSpPr txBox="true"/>
            <p:nvPr/>
          </p:nvSpPr>
          <p:spPr>
            <a:xfrm rot="0">
              <a:off x="672508" y="298908"/>
              <a:ext cx="1943434" cy="830079"/>
            </a:xfrm>
            <a:prstGeom prst="rect">
              <a:avLst/>
            </a:prstGeom>
          </p:spPr>
          <p:txBody>
            <a:bodyPr anchor="t" rtlCol="false" tIns="0" lIns="0" bIns="0" rIns="0">
              <a:spAutoFit/>
            </a:bodyPr>
            <a:lstStyle/>
            <a:p>
              <a:pPr algn="r">
                <a:lnSpc>
                  <a:spcPts val="4421"/>
                </a:lnSpc>
              </a:pPr>
              <a:r>
                <a:rPr lang="en-US" sz="4703" b="true">
                  <a:solidFill>
                    <a:srgbClr val="000000"/>
                  </a:solidFill>
                  <a:latin typeface="Cy Grotesk Wide Bold"/>
                  <a:ea typeface="Cy Grotesk Wide Bold"/>
                  <a:cs typeface="Cy Grotesk Wide Bold"/>
                  <a:sym typeface="Cy Grotesk Wide Bold"/>
                </a:rPr>
                <a:t>02</a:t>
              </a:r>
            </a:p>
          </p:txBody>
        </p:sp>
      </p:grpSp>
      <p:grpSp>
        <p:nvGrpSpPr>
          <p:cNvPr name="Group 27" id="27"/>
          <p:cNvGrpSpPr/>
          <p:nvPr/>
        </p:nvGrpSpPr>
        <p:grpSpPr>
          <a:xfrm rot="0">
            <a:off x="0" y="5888897"/>
            <a:ext cx="19004151" cy="985197"/>
            <a:chOff x="0" y="0"/>
            <a:chExt cx="25338867" cy="1313595"/>
          </a:xfrm>
        </p:grpSpPr>
        <p:grpSp>
          <p:nvGrpSpPr>
            <p:cNvPr name="Group 28" id="28"/>
            <p:cNvGrpSpPr/>
            <p:nvPr/>
          </p:nvGrpSpPr>
          <p:grpSpPr>
            <a:xfrm rot="0">
              <a:off x="0" y="0"/>
              <a:ext cx="3058603" cy="1313595"/>
              <a:chOff x="0" y="0"/>
              <a:chExt cx="2634783" cy="1131575"/>
            </a:xfrm>
          </p:grpSpPr>
          <p:sp>
            <p:nvSpPr>
              <p:cNvPr name="Freeform 29" id="29"/>
              <p:cNvSpPr/>
              <p:nvPr/>
            </p:nvSpPr>
            <p:spPr>
              <a:xfrm flipH="false" flipV="false" rot="0">
                <a:off x="0" y="0"/>
                <a:ext cx="2634783" cy="1131575"/>
              </a:xfrm>
              <a:custGeom>
                <a:avLst/>
                <a:gdLst/>
                <a:ahLst/>
                <a:cxnLst/>
                <a:rect r="r" b="b" t="t" l="l"/>
                <a:pathLst>
                  <a:path h="1131575" w="2634783">
                    <a:moveTo>
                      <a:pt x="0" y="0"/>
                    </a:moveTo>
                    <a:lnTo>
                      <a:pt x="2634783" y="0"/>
                    </a:lnTo>
                    <a:lnTo>
                      <a:pt x="2634783" y="1131575"/>
                    </a:lnTo>
                    <a:lnTo>
                      <a:pt x="0" y="1131575"/>
                    </a:lnTo>
                    <a:close/>
                  </a:path>
                </a:pathLst>
              </a:custGeom>
              <a:solidFill>
                <a:srgbClr val="000000"/>
              </a:solidFill>
            </p:spPr>
          </p:sp>
          <p:sp>
            <p:nvSpPr>
              <p:cNvPr name="TextBox 30" id="30"/>
              <p:cNvSpPr txBox="true"/>
              <p:nvPr/>
            </p:nvSpPr>
            <p:spPr>
              <a:xfrm>
                <a:off x="0" y="-38100"/>
                <a:ext cx="2634783" cy="1169675"/>
              </a:xfrm>
              <a:prstGeom prst="rect">
                <a:avLst/>
              </a:prstGeom>
            </p:spPr>
            <p:txBody>
              <a:bodyPr anchor="ctr" rtlCol="false" tIns="50800" lIns="50800" bIns="50800" rIns="50800"/>
              <a:lstStyle/>
              <a:p>
                <a:pPr algn="ctr">
                  <a:lnSpc>
                    <a:spcPts val="2660"/>
                  </a:lnSpc>
                </a:pPr>
              </a:p>
            </p:txBody>
          </p:sp>
        </p:grpSp>
        <p:grpSp>
          <p:nvGrpSpPr>
            <p:cNvPr name="Group 31" id="31"/>
            <p:cNvGrpSpPr/>
            <p:nvPr/>
          </p:nvGrpSpPr>
          <p:grpSpPr>
            <a:xfrm rot="0">
              <a:off x="3058603" y="0"/>
              <a:ext cx="22280265" cy="1313595"/>
              <a:chOff x="0" y="0"/>
              <a:chExt cx="19192970" cy="1131575"/>
            </a:xfrm>
          </p:grpSpPr>
          <p:sp>
            <p:nvSpPr>
              <p:cNvPr name="Freeform 32" id="32"/>
              <p:cNvSpPr/>
              <p:nvPr/>
            </p:nvSpPr>
            <p:spPr>
              <a:xfrm flipH="false" flipV="false" rot="0">
                <a:off x="0" y="0"/>
                <a:ext cx="19192970" cy="1131575"/>
              </a:xfrm>
              <a:custGeom>
                <a:avLst/>
                <a:gdLst/>
                <a:ahLst/>
                <a:cxnLst/>
                <a:rect r="r" b="b" t="t" l="l"/>
                <a:pathLst>
                  <a:path h="1131575" w="19192970">
                    <a:moveTo>
                      <a:pt x="0" y="0"/>
                    </a:moveTo>
                    <a:lnTo>
                      <a:pt x="19192970" y="0"/>
                    </a:lnTo>
                    <a:lnTo>
                      <a:pt x="19192970" y="1131575"/>
                    </a:lnTo>
                    <a:lnTo>
                      <a:pt x="0" y="1131575"/>
                    </a:lnTo>
                    <a:close/>
                  </a:path>
                </a:pathLst>
              </a:custGeom>
              <a:solidFill>
                <a:srgbClr val="54DF64"/>
              </a:solidFill>
            </p:spPr>
          </p:sp>
          <p:sp>
            <p:nvSpPr>
              <p:cNvPr name="TextBox 33" id="33"/>
              <p:cNvSpPr txBox="true"/>
              <p:nvPr/>
            </p:nvSpPr>
            <p:spPr>
              <a:xfrm>
                <a:off x="0" y="-38100"/>
                <a:ext cx="19192970" cy="1169675"/>
              </a:xfrm>
              <a:prstGeom prst="rect">
                <a:avLst/>
              </a:prstGeom>
            </p:spPr>
            <p:txBody>
              <a:bodyPr anchor="ctr" rtlCol="false" tIns="50800" lIns="50800" bIns="50800" rIns="50800"/>
              <a:lstStyle/>
              <a:p>
                <a:pPr algn="ctr">
                  <a:lnSpc>
                    <a:spcPts val="2660"/>
                  </a:lnSpc>
                </a:pPr>
              </a:p>
            </p:txBody>
          </p:sp>
        </p:grpSp>
        <p:sp>
          <p:nvSpPr>
            <p:cNvPr name="TextBox 34" id="34"/>
            <p:cNvSpPr txBox="true"/>
            <p:nvPr/>
          </p:nvSpPr>
          <p:spPr>
            <a:xfrm rot="0">
              <a:off x="3448637" y="229233"/>
              <a:ext cx="14799327" cy="740830"/>
            </a:xfrm>
            <a:prstGeom prst="rect">
              <a:avLst/>
            </a:prstGeom>
          </p:spPr>
          <p:txBody>
            <a:bodyPr anchor="t" rtlCol="false" tIns="0" lIns="0" bIns="0" rIns="0">
              <a:spAutoFit/>
            </a:bodyPr>
            <a:lstStyle/>
            <a:p>
              <a:pPr algn="l" marL="0" indent="0" lvl="1">
                <a:lnSpc>
                  <a:spcPts val="4901"/>
                </a:lnSpc>
              </a:pPr>
              <a:r>
                <a:rPr lang="en-US" sz="3102">
                  <a:solidFill>
                    <a:srgbClr val="000000"/>
                  </a:solidFill>
                  <a:latin typeface="Cy Grotesk Key"/>
                  <a:ea typeface="Cy Grotesk Key"/>
                  <a:cs typeface="Cy Grotesk Key"/>
                  <a:sym typeface="Cy Grotesk Key"/>
                </a:rPr>
                <a:t>Rediseño de oferta horaria</a:t>
              </a:r>
            </a:p>
          </p:txBody>
        </p:sp>
        <p:sp>
          <p:nvSpPr>
            <p:cNvPr name="TextBox 35" id="35"/>
            <p:cNvSpPr txBox="true"/>
            <p:nvPr/>
          </p:nvSpPr>
          <p:spPr>
            <a:xfrm rot="0">
              <a:off x="672508" y="298908"/>
              <a:ext cx="1943434" cy="830079"/>
            </a:xfrm>
            <a:prstGeom prst="rect">
              <a:avLst/>
            </a:prstGeom>
          </p:spPr>
          <p:txBody>
            <a:bodyPr anchor="t" rtlCol="false" tIns="0" lIns="0" bIns="0" rIns="0">
              <a:spAutoFit/>
            </a:bodyPr>
            <a:lstStyle/>
            <a:p>
              <a:pPr algn="r">
                <a:lnSpc>
                  <a:spcPts val="4421"/>
                </a:lnSpc>
              </a:pPr>
              <a:r>
                <a:rPr lang="en-US" b="true" sz="4703">
                  <a:solidFill>
                    <a:srgbClr val="F8F6F0"/>
                  </a:solidFill>
                  <a:latin typeface="Cy Grotesk Wide Bold"/>
                  <a:ea typeface="Cy Grotesk Wide Bold"/>
                  <a:cs typeface="Cy Grotesk Wide Bold"/>
                  <a:sym typeface="Cy Grotesk Wide Bold"/>
                </a:rPr>
                <a:t>03</a:t>
              </a:r>
            </a:p>
          </p:txBody>
        </p:sp>
      </p:grpSp>
      <p:grpSp>
        <p:nvGrpSpPr>
          <p:cNvPr name="Group 36" id="36"/>
          <p:cNvGrpSpPr/>
          <p:nvPr/>
        </p:nvGrpSpPr>
        <p:grpSpPr>
          <a:xfrm rot="0">
            <a:off x="0" y="7327299"/>
            <a:ext cx="19004151" cy="985197"/>
            <a:chOff x="0" y="0"/>
            <a:chExt cx="25338867" cy="1313595"/>
          </a:xfrm>
        </p:grpSpPr>
        <p:grpSp>
          <p:nvGrpSpPr>
            <p:cNvPr name="Group 37" id="37"/>
            <p:cNvGrpSpPr/>
            <p:nvPr/>
          </p:nvGrpSpPr>
          <p:grpSpPr>
            <a:xfrm rot="0">
              <a:off x="0" y="0"/>
              <a:ext cx="3058603" cy="1313595"/>
              <a:chOff x="0" y="0"/>
              <a:chExt cx="2634783" cy="1131575"/>
            </a:xfrm>
          </p:grpSpPr>
          <p:sp>
            <p:nvSpPr>
              <p:cNvPr name="Freeform 38" id="38"/>
              <p:cNvSpPr/>
              <p:nvPr/>
            </p:nvSpPr>
            <p:spPr>
              <a:xfrm flipH="false" flipV="false" rot="0">
                <a:off x="0" y="0"/>
                <a:ext cx="2634783" cy="1131575"/>
              </a:xfrm>
              <a:custGeom>
                <a:avLst/>
                <a:gdLst/>
                <a:ahLst/>
                <a:cxnLst/>
                <a:rect r="r" b="b" t="t" l="l"/>
                <a:pathLst>
                  <a:path h="1131575" w="2634783">
                    <a:moveTo>
                      <a:pt x="0" y="0"/>
                    </a:moveTo>
                    <a:lnTo>
                      <a:pt x="2634783" y="0"/>
                    </a:lnTo>
                    <a:lnTo>
                      <a:pt x="2634783" y="1131575"/>
                    </a:lnTo>
                    <a:lnTo>
                      <a:pt x="0" y="1131575"/>
                    </a:lnTo>
                    <a:close/>
                  </a:path>
                </a:pathLst>
              </a:custGeom>
              <a:solidFill>
                <a:srgbClr val="000000"/>
              </a:solidFill>
            </p:spPr>
          </p:sp>
          <p:sp>
            <p:nvSpPr>
              <p:cNvPr name="TextBox 39" id="39"/>
              <p:cNvSpPr txBox="true"/>
              <p:nvPr/>
            </p:nvSpPr>
            <p:spPr>
              <a:xfrm>
                <a:off x="0" y="-38100"/>
                <a:ext cx="2634783" cy="1169675"/>
              </a:xfrm>
              <a:prstGeom prst="rect">
                <a:avLst/>
              </a:prstGeom>
            </p:spPr>
            <p:txBody>
              <a:bodyPr anchor="ctr" rtlCol="false" tIns="50800" lIns="50800" bIns="50800" rIns="50800"/>
              <a:lstStyle/>
              <a:p>
                <a:pPr algn="ctr">
                  <a:lnSpc>
                    <a:spcPts val="2660"/>
                  </a:lnSpc>
                </a:pPr>
              </a:p>
            </p:txBody>
          </p:sp>
        </p:grpSp>
        <p:grpSp>
          <p:nvGrpSpPr>
            <p:cNvPr name="Group 40" id="40"/>
            <p:cNvGrpSpPr/>
            <p:nvPr/>
          </p:nvGrpSpPr>
          <p:grpSpPr>
            <a:xfrm rot="0">
              <a:off x="3058603" y="0"/>
              <a:ext cx="22280265" cy="1313595"/>
              <a:chOff x="0" y="0"/>
              <a:chExt cx="19192970" cy="1131575"/>
            </a:xfrm>
          </p:grpSpPr>
          <p:sp>
            <p:nvSpPr>
              <p:cNvPr name="Freeform 41" id="41"/>
              <p:cNvSpPr/>
              <p:nvPr/>
            </p:nvSpPr>
            <p:spPr>
              <a:xfrm flipH="false" flipV="false" rot="0">
                <a:off x="0" y="0"/>
                <a:ext cx="19192970" cy="1131575"/>
              </a:xfrm>
              <a:custGeom>
                <a:avLst/>
                <a:gdLst/>
                <a:ahLst/>
                <a:cxnLst/>
                <a:rect r="r" b="b" t="t" l="l"/>
                <a:pathLst>
                  <a:path h="1131575" w="19192970">
                    <a:moveTo>
                      <a:pt x="0" y="0"/>
                    </a:moveTo>
                    <a:lnTo>
                      <a:pt x="19192970" y="0"/>
                    </a:lnTo>
                    <a:lnTo>
                      <a:pt x="19192970" y="1131575"/>
                    </a:lnTo>
                    <a:lnTo>
                      <a:pt x="0" y="1131575"/>
                    </a:lnTo>
                    <a:close/>
                  </a:path>
                </a:pathLst>
              </a:custGeom>
              <a:solidFill>
                <a:srgbClr val="54DF64"/>
              </a:solidFill>
            </p:spPr>
          </p:sp>
          <p:sp>
            <p:nvSpPr>
              <p:cNvPr name="TextBox 42" id="42"/>
              <p:cNvSpPr txBox="true"/>
              <p:nvPr/>
            </p:nvSpPr>
            <p:spPr>
              <a:xfrm>
                <a:off x="0" y="-38100"/>
                <a:ext cx="19192970" cy="1169675"/>
              </a:xfrm>
              <a:prstGeom prst="rect">
                <a:avLst/>
              </a:prstGeom>
            </p:spPr>
            <p:txBody>
              <a:bodyPr anchor="ctr" rtlCol="false" tIns="50800" lIns="50800" bIns="50800" rIns="50800"/>
              <a:lstStyle/>
              <a:p>
                <a:pPr algn="ctr">
                  <a:lnSpc>
                    <a:spcPts val="2660"/>
                  </a:lnSpc>
                </a:pPr>
              </a:p>
            </p:txBody>
          </p:sp>
        </p:grpSp>
        <p:sp>
          <p:nvSpPr>
            <p:cNvPr name="TextBox 43" id="43"/>
            <p:cNvSpPr txBox="true"/>
            <p:nvPr/>
          </p:nvSpPr>
          <p:spPr>
            <a:xfrm rot="0">
              <a:off x="3448637" y="229233"/>
              <a:ext cx="14799327" cy="740830"/>
            </a:xfrm>
            <a:prstGeom prst="rect">
              <a:avLst/>
            </a:prstGeom>
          </p:spPr>
          <p:txBody>
            <a:bodyPr anchor="t" rtlCol="false" tIns="0" lIns="0" bIns="0" rIns="0">
              <a:spAutoFit/>
            </a:bodyPr>
            <a:lstStyle/>
            <a:p>
              <a:pPr algn="l" marL="0" indent="0" lvl="1">
                <a:lnSpc>
                  <a:spcPts val="4901"/>
                </a:lnSpc>
              </a:pPr>
              <a:r>
                <a:rPr lang="en-US" sz="3102">
                  <a:solidFill>
                    <a:srgbClr val="000000"/>
                  </a:solidFill>
                  <a:latin typeface="Cy Grotesk Key"/>
                  <a:ea typeface="Cy Grotesk Key"/>
                  <a:cs typeface="Cy Grotesk Key"/>
                  <a:sym typeface="Cy Grotesk Key"/>
                </a:rPr>
                <a:t>Comisión de acompañamiento en ciclo superior</a:t>
              </a:r>
            </a:p>
          </p:txBody>
        </p:sp>
        <p:sp>
          <p:nvSpPr>
            <p:cNvPr name="TextBox 44" id="44"/>
            <p:cNvSpPr txBox="true"/>
            <p:nvPr/>
          </p:nvSpPr>
          <p:spPr>
            <a:xfrm rot="0">
              <a:off x="672508" y="298908"/>
              <a:ext cx="1943434" cy="830079"/>
            </a:xfrm>
            <a:prstGeom prst="rect">
              <a:avLst/>
            </a:prstGeom>
          </p:spPr>
          <p:txBody>
            <a:bodyPr anchor="t" rtlCol="false" tIns="0" lIns="0" bIns="0" rIns="0">
              <a:spAutoFit/>
            </a:bodyPr>
            <a:lstStyle/>
            <a:p>
              <a:pPr algn="r">
                <a:lnSpc>
                  <a:spcPts val="4421"/>
                </a:lnSpc>
              </a:pPr>
              <a:r>
                <a:rPr lang="en-US" b="true" sz="4703">
                  <a:solidFill>
                    <a:srgbClr val="F8F6F0"/>
                  </a:solidFill>
                  <a:latin typeface="Cy Grotesk Wide Bold"/>
                  <a:ea typeface="Cy Grotesk Wide Bold"/>
                  <a:cs typeface="Cy Grotesk Wide Bold"/>
                  <a:sym typeface="Cy Grotesk Wide Bold"/>
                </a:rPr>
                <a:t>04</a:t>
              </a:r>
            </a:p>
          </p:txBody>
        </p:sp>
      </p:grpSp>
      <p:grpSp>
        <p:nvGrpSpPr>
          <p:cNvPr name="Group 45" id="45"/>
          <p:cNvGrpSpPr/>
          <p:nvPr/>
        </p:nvGrpSpPr>
        <p:grpSpPr>
          <a:xfrm rot="0">
            <a:off x="0" y="8765702"/>
            <a:ext cx="19004151" cy="985197"/>
            <a:chOff x="0" y="0"/>
            <a:chExt cx="25338867" cy="1313595"/>
          </a:xfrm>
        </p:grpSpPr>
        <p:grpSp>
          <p:nvGrpSpPr>
            <p:cNvPr name="Group 46" id="46"/>
            <p:cNvGrpSpPr/>
            <p:nvPr/>
          </p:nvGrpSpPr>
          <p:grpSpPr>
            <a:xfrm rot="0">
              <a:off x="0" y="0"/>
              <a:ext cx="3058603" cy="1313595"/>
              <a:chOff x="0" y="0"/>
              <a:chExt cx="2634783" cy="1131575"/>
            </a:xfrm>
          </p:grpSpPr>
          <p:sp>
            <p:nvSpPr>
              <p:cNvPr name="Freeform 47" id="47"/>
              <p:cNvSpPr/>
              <p:nvPr/>
            </p:nvSpPr>
            <p:spPr>
              <a:xfrm flipH="false" flipV="false" rot="0">
                <a:off x="0" y="0"/>
                <a:ext cx="2634783" cy="1131575"/>
              </a:xfrm>
              <a:custGeom>
                <a:avLst/>
                <a:gdLst/>
                <a:ahLst/>
                <a:cxnLst/>
                <a:rect r="r" b="b" t="t" l="l"/>
                <a:pathLst>
                  <a:path h="1131575" w="2634783">
                    <a:moveTo>
                      <a:pt x="0" y="0"/>
                    </a:moveTo>
                    <a:lnTo>
                      <a:pt x="2634783" y="0"/>
                    </a:lnTo>
                    <a:lnTo>
                      <a:pt x="2634783" y="1131575"/>
                    </a:lnTo>
                    <a:lnTo>
                      <a:pt x="0" y="1131575"/>
                    </a:lnTo>
                    <a:close/>
                  </a:path>
                </a:pathLst>
              </a:custGeom>
              <a:solidFill>
                <a:srgbClr val="54DF64"/>
              </a:solidFill>
            </p:spPr>
          </p:sp>
          <p:sp>
            <p:nvSpPr>
              <p:cNvPr name="TextBox 48" id="48"/>
              <p:cNvSpPr txBox="true"/>
              <p:nvPr/>
            </p:nvSpPr>
            <p:spPr>
              <a:xfrm>
                <a:off x="0" y="-38100"/>
                <a:ext cx="2634783" cy="1169675"/>
              </a:xfrm>
              <a:prstGeom prst="rect">
                <a:avLst/>
              </a:prstGeom>
            </p:spPr>
            <p:txBody>
              <a:bodyPr anchor="ctr" rtlCol="false" tIns="50800" lIns="50800" bIns="50800" rIns="50800"/>
              <a:lstStyle/>
              <a:p>
                <a:pPr algn="ctr">
                  <a:lnSpc>
                    <a:spcPts val="2660"/>
                  </a:lnSpc>
                </a:pPr>
              </a:p>
            </p:txBody>
          </p:sp>
        </p:grpSp>
        <p:grpSp>
          <p:nvGrpSpPr>
            <p:cNvPr name="Group 49" id="49"/>
            <p:cNvGrpSpPr/>
            <p:nvPr/>
          </p:nvGrpSpPr>
          <p:grpSpPr>
            <a:xfrm rot="0">
              <a:off x="3058603" y="0"/>
              <a:ext cx="22280265" cy="1313595"/>
              <a:chOff x="0" y="0"/>
              <a:chExt cx="19192970" cy="1131575"/>
            </a:xfrm>
          </p:grpSpPr>
          <p:sp>
            <p:nvSpPr>
              <p:cNvPr name="Freeform 50" id="50"/>
              <p:cNvSpPr/>
              <p:nvPr/>
            </p:nvSpPr>
            <p:spPr>
              <a:xfrm flipH="false" flipV="false" rot="0">
                <a:off x="0" y="0"/>
                <a:ext cx="19192970" cy="1131575"/>
              </a:xfrm>
              <a:custGeom>
                <a:avLst/>
                <a:gdLst/>
                <a:ahLst/>
                <a:cxnLst/>
                <a:rect r="r" b="b" t="t" l="l"/>
                <a:pathLst>
                  <a:path h="1131575" w="19192970">
                    <a:moveTo>
                      <a:pt x="0" y="0"/>
                    </a:moveTo>
                    <a:lnTo>
                      <a:pt x="19192970" y="0"/>
                    </a:lnTo>
                    <a:lnTo>
                      <a:pt x="19192970" y="1131575"/>
                    </a:lnTo>
                    <a:lnTo>
                      <a:pt x="0" y="1131575"/>
                    </a:lnTo>
                    <a:close/>
                  </a:path>
                </a:pathLst>
              </a:custGeom>
              <a:solidFill>
                <a:srgbClr val="000000"/>
              </a:solidFill>
            </p:spPr>
          </p:sp>
          <p:sp>
            <p:nvSpPr>
              <p:cNvPr name="TextBox 51" id="51"/>
              <p:cNvSpPr txBox="true"/>
              <p:nvPr/>
            </p:nvSpPr>
            <p:spPr>
              <a:xfrm>
                <a:off x="0" y="-38100"/>
                <a:ext cx="19192970" cy="1169675"/>
              </a:xfrm>
              <a:prstGeom prst="rect">
                <a:avLst/>
              </a:prstGeom>
            </p:spPr>
            <p:txBody>
              <a:bodyPr anchor="ctr" rtlCol="false" tIns="50800" lIns="50800" bIns="50800" rIns="50800"/>
              <a:lstStyle/>
              <a:p>
                <a:pPr algn="ctr">
                  <a:lnSpc>
                    <a:spcPts val="2660"/>
                  </a:lnSpc>
                </a:pPr>
              </a:p>
            </p:txBody>
          </p:sp>
        </p:grpSp>
        <p:sp>
          <p:nvSpPr>
            <p:cNvPr name="TextBox 52" id="52"/>
            <p:cNvSpPr txBox="true"/>
            <p:nvPr/>
          </p:nvSpPr>
          <p:spPr>
            <a:xfrm rot="0">
              <a:off x="3448637" y="229233"/>
              <a:ext cx="14799327" cy="740830"/>
            </a:xfrm>
            <a:prstGeom prst="rect">
              <a:avLst/>
            </a:prstGeom>
          </p:spPr>
          <p:txBody>
            <a:bodyPr anchor="t" rtlCol="false" tIns="0" lIns="0" bIns="0" rIns="0">
              <a:spAutoFit/>
            </a:bodyPr>
            <a:lstStyle/>
            <a:p>
              <a:pPr algn="l" marL="0" indent="0" lvl="1">
                <a:lnSpc>
                  <a:spcPts val="4901"/>
                </a:lnSpc>
              </a:pPr>
              <a:r>
                <a:rPr lang="en-US" sz="3102">
                  <a:solidFill>
                    <a:srgbClr val="F8F6F0"/>
                  </a:solidFill>
                  <a:latin typeface="Cy Grotesk Key"/>
                  <a:ea typeface="Cy Grotesk Key"/>
                  <a:cs typeface="Cy Grotesk Key"/>
                  <a:sym typeface="Cy Grotesk Key"/>
                </a:rPr>
                <a:t>Sistema</a:t>
              </a:r>
              <a:r>
                <a:rPr lang="en-US" sz="3102">
                  <a:solidFill>
                    <a:srgbClr val="F8F6F0"/>
                  </a:solidFill>
                  <a:latin typeface="Cy Grotesk Key"/>
                  <a:ea typeface="Cy Grotesk Key"/>
                  <a:cs typeface="Cy Grotesk Key"/>
                  <a:sym typeface="Cy Grotesk Key"/>
                </a:rPr>
                <a:t> de alerta por reinscripción</a:t>
              </a:r>
            </a:p>
          </p:txBody>
        </p:sp>
        <p:sp>
          <p:nvSpPr>
            <p:cNvPr name="TextBox 53" id="53"/>
            <p:cNvSpPr txBox="true"/>
            <p:nvPr/>
          </p:nvSpPr>
          <p:spPr>
            <a:xfrm rot="0">
              <a:off x="672508" y="298908"/>
              <a:ext cx="1943434" cy="830079"/>
            </a:xfrm>
            <a:prstGeom prst="rect">
              <a:avLst/>
            </a:prstGeom>
          </p:spPr>
          <p:txBody>
            <a:bodyPr anchor="t" rtlCol="false" tIns="0" lIns="0" bIns="0" rIns="0">
              <a:spAutoFit/>
            </a:bodyPr>
            <a:lstStyle/>
            <a:p>
              <a:pPr algn="r">
                <a:lnSpc>
                  <a:spcPts val="4421"/>
                </a:lnSpc>
              </a:pPr>
              <a:r>
                <a:rPr lang="en-US" sz="4703" b="true">
                  <a:solidFill>
                    <a:srgbClr val="000000"/>
                  </a:solidFill>
                  <a:latin typeface="Cy Grotesk Wide Bold"/>
                  <a:ea typeface="Cy Grotesk Wide Bold"/>
                  <a:cs typeface="Cy Grotesk Wide Bold"/>
                  <a:sym typeface="Cy Grotesk Wide Bold"/>
                </a:rPr>
                <a:t>05</a:t>
              </a:r>
            </a:p>
          </p:txBody>
        </p:sp>
      </p:gr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96120">
            <a:off x="-10287255" y="675910"/>
            <a:ext cx="20118580" cy="1471017"/>
            <a:chOff x="0" y="0"/>
            <a:chExt cx="23126298" cy="1690934"/>
          </a:xfrm>
        </p:grpSpPr>
        <p:sp>
          <p:nvSpPr>
            <p:cNvPr name="Freeform 3" id="3"/>
            <p:cNvSpPr/>
            <p:nvPr/>
          </p:nvSpPr>
          <p:spPr>
            <a:xfrm flipH="false" flipV="false" rot="0">
              <a:off x="0" y="0"/>
              <a:ext cx="23126298" cy="1690934"/>
            </a:xfrm>
            <a:custGeom>
              <a:avLst/>
              <a:gdLst/>
              <a:ahLst/>
              <a:cxnLst/>
              <a:rect r="r" b="b" t="t" l="l"/>
              <a:pathLst>
                <a:path h="1690934" w="23126298">
                  <a:moveTo>
                    <a:pt x="0" y="0"/>
                  </a:moveTo>
                  <a:lnTo>
                    <a:pt x="23126298" y="0"/>
                  </a:lnTo>
                  <a:lnTo>
                    <a:pt x="23126298" y="1690934"/>
                  </a:lnTo>
                  <a:lnTo>
                    <a:pt x="0" y="1690934"/>
                  </a:lnTo>
                  <a:close/>
                </a:path>
              </a:pathLst>
            </a:custGeom>
            <a:solidFill>
              <a:srgbClr val="54DF64"/>
            </a:solidFill>
          </p:spPr>
        </p:sp>
        <p:sp>
          <p:nvSpPr>
            <p:cNvPr name="TextBox 4" id="4"/>
            <p:cNvSpPr txBox="true"/>
            <p:nvPr/>
          </p:nvSpPr>
          <p:spPr>
            <a:xfrm>
              <a:off x="0" y="-47625"/>
              <a:ext cx="23126298" cy="17385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0025218" cy="1511934"/>
            <a:chOff x="0" y="0"/>
            <a:chExt cx="23018978" cy="1737967"/>
          </a:xfrm>
        </p:grpSpPr>
        <p:sp>
          <p:nvSpPr>
            <p:cNvPr name="Freeform 6" id="6"/>
            <p:cNvSpPr/>
            <p:nvPr/>
          </p:nvSpPr>
          <p:spPr>
            <a:xfrm flipH="false" flipV="false" rot="0">
              <a:off x="0" y="0"/>
              <a:ext cx="23018978" cy="1737967"/>
            </a:xfrm>
            <a:custGeom>
              <a:avLst/>
              <a:gdLst/>
              <a:ahLst/>
              <a:cxnLst/>
              <a:rect r="r" b="b" t="t" l="l"/>
              <a:pathLst>
                <a:path h="1737967" w="23018978">
                  <a:moveTo>
                    <a:pt x="0" y="0"/>
                  </a:moveTo>
                  <a:lnTo>
                    <a:pt x="23018978" y="0"/>
                  </a:lnTo>
                  <a:lnTo>
                    <a:pt x="23018978" y="1737967"/>
                  </a:lnTo>
                  <a:lnTo>
                    <a:pt x="0" y="1737967"/>
                  </a:lnTo>
                  <a:close/>
                </a:path>
              </a:pathLst>
            </a:custGeom>
            <a:solidFill>
              <a:srgbClr val="000000"/>
            </a:solidFill>
          </p:spPr>
        </p:sp>
        <p:sp>
          <p:nvSpPr>
            <p:cNvPr name="TextBox 7" id="7"/>
            <p:cNvSpPr txBox="true"/>
            <p:nvPr/>
          </p:nvSpPr>
          <p:spPr>
            <a:xfrm>
              <a:off x="0" y="-47625"/>
              <a:ext cx="23018978" cy="178559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8701430"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8.</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Análisis predictivo</a:t>
            </a:r>
          </a:p>
        </p:txBody>
      </p:sp>
      <p:grpSp>
        <p:nvGrpSpPr>
          <p:cNvPr name="Group 9" id="9"/>
          <p:cNvGrpSpPr/>
          <p:nvPr/>
        </p:nvGrpSpPr>
        <p:grpSpPr>
          <a:xfrm rot="0">
            <a:off x="-12994183" y="2943182"/>
            <a:ext cx="19336651" cy="806922"/>
            <a:chOff x="0" y="0"/>
            <a:chExt cx="22227471" cy="927557"/>
          </a:xfrm>
        </p:grpSpPr>
        <p:sp>
          <p:nvSpPr>
            <p:cNvPr name="Freeform 10" id="10"/>
            <p:cNvSpPr/>
            <p:nvPr/>
          </p:nvSpPr>
          <p:spPr>
            <a:xfrm flipH="false" flipV="false" rot="0">
              <a:off x="0" y="0"/>
              <a:ext cx="22227471" cy="927557"/>
            </a:xfrm>
            <a:custGeom>
              <a:avLst/>
              <a:gdLst/>
              <a:ahLst/>
              <a:cxnLst/>
              <a:rect r="r" b="b" t="t" l="l"/>
              <a:pathLst>
                <a:path h="927557" w="22227471">
                  <a:moveTo>
                    <a:pt x="0" y="0"/>
                  </a:moveTo>
                  <a:lnTo>
                    <a:pt x="22227471" y="0"/>
                  </a:lnTo>
                  <a:lnTo>
                    <a:pt x="22227471" y="927557"/>
                  </a:lnTo>
                  <a:lnTo>
                    <a:pt x="0" y="927557"/>
                  </a:lnTo>
                  <a:close/>
                </a:path>
              </a:pathLst>
            </a:custGeom>
            <a:solidFill>
              <a:srgbClr val="54DF64"/>
            </a:solidFill>
          </p:spPr>
        </p:sp>
        <p:sp>
          <p:nvSpPr>
            <p:cNvPr name="TextBox 11" id="11"/>
            <p:cNvSpPr txBox="true"/>
            <p:nvPr/>
          </p:nvSpPr>
          <p:spPr>
            <a:xfrm>
              <a:off x="0" y="-47625"/>
              <a:ext cx="22227471" cy="97518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748205" y="2995170"/>
            <a:ext cx="5594262" cy="598170"/>
          </a:xfrm>
          <a:prstGeom prst="rect">
            <a:avLst/>
          </a:prstGeom>
        </p:spPr>
        <p:txBody>
          <a:bodyPr anchor="t" rtlCol="false" tIns="0" lIns="0" bIns="0" rIns="0">
            <a:spAutoFit/>
          </a:bodyPr>
          <a:lstStyle/>
          <a:p>
            <a:pPr algn="l">
              <a:lnSpc>
                <a:spcPts val="4949"/>
              </a:lnSpc>
            </a:pPr>
            <a:r>
              <a:rPr lang="en-US" sz="3299">
                <a:solidFill>
                  <a:srgbClr val="000000"/>
                </a:solidFill>
                <a:latin typeface="Cy Grotesk Key"/>
                <a:ea typeface="Cy Grotesk Key"/>
                <a:cs typeface="Cy Grotesk Key"/>
                <a:sym typeface="Cy Grotesk Key"/>
              </a:rPr>
              <a:t>¿Qué pre</a:t>
            </a:r>
            <a:r>
              <a:rPr lang="en-US" sz="3299">
                <a:solidFill>
                  <a:srgbClr val="000000"/>
                </a:solidFill>
                <a:latin typeface="Cy Grotesk Key"/>
                <a:ea typeface="Cy Grotesk Key"/>
                <a:cs typeface="Cy Grotesk Key"/>
                <a:sym typeface="Cy Grotesk Key"/>
              </a:rPr>
              <a:t>dice el modelo?</a:t>
            </a:r>
          </a:p>
        </p:txBody>
      </p:sp>
      <p:grpSp>
        <p:nvGrpSpPr>
          <p:cNvPr name="Group 13" id="13"/>
          <p:cNvGrpSpPr/>
          <p:nvPr/>
        </p:nvGrpSpPr>
        <p:grpSpPr>
          <a:xfrm rot="-764110">
            <a:off x="12530140" y="-1467189"/>
            <a:ext cx="8899551" cy="13110885"/>
            <a:chOff x="0" y="0"/>
            <a:chExt cx="10230029" cy="15070956"/>
          </a:xfrm>
        </p:grpSpPr>
        <p:sp>
          <p:nvSpPr>
            <p:cNvPr name="Freeform 14" id="14"/>
            <p:cNvSpPr/>
            <p:nvPr/>
          </p:nvSpPr>
          <p:spPr>
            <a:xfrm flipH="false" flipV="false" rot="0">
              <a:off x="0" y="0"/>
              <a:ext cx="10230030" cy="15070956"/>
            </a:xfrm>
            <a:custGeom>
              <a:avLst/>
              <a:gdLst/>
              <a:ahLst/>
              <a:cxnLst/>
              <a:rect r="r" b="b" t="t" l="l"/>
              <a:pathLst>
                <a:path h="15070956" w="10230030">
                  <a:moveTo>
                    <a:pt x="0" y="0"/>
                  </a:moveTo>
                  <a:lnTo>
                    <a:pt x="10230030" y="0"/>
                  </a:lnTo>
                  <a:lnTo>
                    <a:pt x="10230030" y="15070956"/>
                  </a:lnTo>
                  <a:lnTo>
                    <a:pt x="0" y="15070956"/>
                  </a:lnTo>
                  <a:close/>
                </a:path>
              </a:pathLst>
            </a:custGeom>
            <a:solidFill>
              <a:srgbClr val="000000"/>
            </a:solidFill>
          </p:spPr>
        </p:sp>
        <p:sp>
          <p:nvSpPr>
            <p:cNvPr name="TextBox 15" id="15"/>
            <p:cNvSpPr txBox="true"/>
            <p:nvPr/>
          </p:nvSpPr>
          <p:spPr>
            <a:xfrm>
              <a:off x="0" y="-47625"/>
              <a:ext cx="10230029" cy="15118581"/>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678904" y="3888133"/>
            <a:ext cx="9924444" cy="992325"/>
          </a:xfrm>
          <a:prstGeom prst="rect">
            <a:avLst/>
          </a:prstGeom>
        </p:spPr>
        <p:txBody>
          <a:bodyPr anchor="t" rtlCol="false" tIns="0" lIns="0" bIns="0" rIns="0">
            <a:spAutoFit/>
          </a:bodyPr>
          <a:lstStyle/>
          <a:p>
            <a:pPr algn="l">
              <a:lnSpc>
                <a:spcPts val="4082"/>
              </a:lnSpc>
            </a:pPr>
            <a:r>
              <a:rPr lang="en-US" sz="2600">
                <a:solidFill>
                  <a:srgbClr val="000000"/>
                </a:solidFill>
                <a:latin typeface="Cy Grotesk Key"/>
                <a:ea typeface="Cy Grotesk Key"/>
                <a:cs typeface="Cy Grotesk Key"/>
                <a:sym typeface="Cy Grotesk Key"/>
              </a:rPr>
              <a:t>Si un estudiante va a abandonar la carrera: </a:t>
            </a:r>
            <a:r>
              <a:rPr lang="en-US" sz="2600" b="true">
                <a:solidFill>
                  <a:srgbClr val="000000"/>
                </a:solidFill>
                <a:latin typeface="Cy Grotesk Key Bold"/>
                <a:ea typeface="Cy Grotesk Key Bold"/>
                <a:cs typeface="Cy Grotesk Key Bold"/>
                <a:sym typeface="Cy Grotesk Key Bold"/>
              </a:rPr>
              <a:t>Target = 1</a:t>
            </a:r>
          </a:p>
          <a:p>
            <a:pPr algn="l">
              <a:lnSpc>
                <a:spcPts val="4082"/>
              </a:lnSpc>
            </a:pPr>
            <a:r>
              <a:rPr lang="en-US" sz="2600">
                <a:solidFill>
                  <a:srgbClr val="000000"/>
                </a:solidFill>
                <a:latin typeface="Cy Grotesk Key"/>
                <a:ea typeface="Cy Grotesk Key"/>
                <a:cs typeface="Cy Grotesk Key"/>
                <a:sym typeface="Cy Grotesk Key"/>
              </a:rPr>
              <a:t>Si el estudiante </a:t>
            </a:r>
            <a:r>
              <a:rPr lang="en-US" sz="2600">
                <a:solidFill>
                  <a:srgbClr val="000000"/>
                </a:solidFill>
                <a:latin typeface="Cy Grotesk Key"/>
                <a:ea typeface="Cy Grotesk Key"/>
                <a:cs typeface="Cy Grotesk Key"/>
                <a:sym typeface="Cy Grotesk Key"/>
              </a:rPr>
              <a:t>s</a:t>
            </a:r>
            <a:r>
              <a:rPr lang="en-US" sz="2600">
                <a:solidFill>
                  <a:srgbClr val="000000"/>
                </a:solidFill>
                <a:latin typeface="Cy Grotesk Key"/>
                <a:ea typeface="Cy Grotesk Key"/>
                <a:cs typeface="Cy Grotesk Key"/>
                <a:sym typeface="Cy Grotesk Key"/>
              </a:rPr>
              <a:t>e</a:t>
            </a:r>
            <a:r>
              <a:rPr lang="en-US" sz="2600">
                <a:solidFill>
                  <a:srgbClr val="000000"/>
                </a:solidFill>
                <a:latin typeface="Cy Grotesk Key"/>
                <a:ea typeface="Cy Grotesk Key"/>
                <a:cs typeface="Cy Grotesk Key"/>
                <a:sym typeface="Cy Grotesk Key"/>
              </a:rPr>
              <a:t> </a:t>
            </a:r>
            <a:r>
              <a:rPr lang="en-US" sz="2600">
                <a:solidFill>
                  <a:srgbClr val="000000"/>
                </a:solidFill>
                <a:latin typeface="Cy Grotesk Key"/>
                <a:ea typeface="Cy Grotesk Key"/>
                <a:cs typeface="Cy Grotesk Key"/>
                <a:sym typeface="Cy Grotesk Key"/>
              </a:rPr>
              <a:t>m</a:t>
            </a:r>
            <a:r>
              <a:rPr lang="en-US" sz="2600">
                <a:solidFill>
                  <a:srgbClr val="000000"/>
                </a:solidFill>
                <a:latin typeface="Cy Grotesk Key"/>
                <a:ea typeface="Cy Grotesk Key"/>
                <a:cs typeface="Cy Grotesk Key"/>
                <a:sym typeface="Cy Grotesk Key"/>
              </a:rPr>
              <a:t>a</a:t>
            </a:r>
            <a:r>
              <a:rPr lang="en-US" sz="2600">
                <a:solidFill>
                  <a:srgbClr val="000000"/>
                </a:solidFill>
                <a:latin typeface="Cy Grotesk Key"/>
                <a:ea typeface="Cy Grotesk Key"/>
                <a:cs typeface="Cy Grotesk Key"/>
                <a:sym typeface="Cy Grotesk Key"/>
              </a:rPr>
              <a:t>nte</a:t>
            </a:r>
            <a:r>
              <a:rPr lang="en-US" sz="2600">
                <a:solidFill>
                  <a:srgbClr val="000000"/>
                </a:solidFill>
                <a:latin typeface="Cy Grotesk Key"/>
                <a:ea typeface="Cy Grotesk Key"/>
                <a:cs typeface="Cy Grotesk Key"/>
                <a:sym typeface="Cy Grotesk Key"/>
              </a:rPr>
              <a:t>n</a:t>
            </a:r>
            <a:r>
              <a:rPr lang="en-US" sz="2600">
                <a:solidFill>
                  <a:srgbClr val="000000"/>
                </a:solidFill>
                <a:latin typeface="Cy Grotesk Key"/>
                <a:ea typeface="Cy Grotesk Key"/>
                <a:cs typeface="Cy Grotesk Key"/>
                <a:sym typeface="Cy Grotesk Key"/>
              </a:rPr>
              <a:t>drá</a:t>
            </a:r>
            <a:r>
              <a:rPr lang="en-US" sz="2600">
                <a:solidFill>
                  <a:srgbClr val="000000"/>
                </a:solidFill>
                <a:latin typeface="Cy Grotesk Key"/>
                <a:ea typeface="Cy Grotesk Key"/>
                <a:cs typeface="Cy Grotesk Key"/>
                <a:sym typeface="Cy Grotesk Key"/>
              </a:rPr>
              <a:t> </a:t>
            </a:r>
            <a:r>
              <a:rPr lang="en-US" sz="2600">
                <a:solidFill>
                  <a:srgbClr val="000000"/>
                </a:solidFill>
                <a:latin typeface="Cy Grotesk Key"/>
                <a:ea typeface="Cy Grotesk Key"/>
                <a:cs typeface="Cy Grotesk Key"/>
                <a:sym typeface="Cy Grotesk Key"/>
              </a:rPr>
              <a:t>reg</a:t>
            </a:r>
            <a:r>
              <a:rPr lang="en-US" sz="2600">
                <a:solidFill>
                  <a:srgbClr val="000000"/>
                </a:solidFill>
                <a:latin typeface="Cy Grotesk Key"/>
                <a:ea typeface="Cy Grotesk Key"/>
                <a:cs typeface="Cy Grotesk Key"/>
                <a:sym typeface="Cy Grotesk Key"/>
              </a:rPr>
              <a:t>u</a:t>
            </a:r>
            <a:r>
              <a:rPr lang="en-US" sz="2600">
                <a:solidFill>
                  <a:srgbClr val="000000"/>
                </a:solidFill>
                <a:latin typeface="Cy Grotesk Key"/>
                <a:ea typeface="Cy Grotesk Key"/>
                <a:cs typeface="Cy Grotesk Key"/>
                <a:sym typeface="Cy Grotesk Key"/>
              </a:rPr>
              <a:t>la</a:t>
            </a:r>
            <a:r>
              <a:rPr lang="en-US" sz="2600">
                <a:solidFill>
                  <a:srgbClr val="000000"/>
                </a:solidFill>
                <a:latin typeface="Cy Grotesk Key"/>
                <a:ea typeface="Cy Grotesk Key"/>
                <a:cs typeface="Cy Grotesk Key"/>
                <a:sym typeface="Cy Grotesk Key"/>
              </a:rPr>
              <a:t>r: </a:t>
            </a:r>
            <a:r>
              <a:rPr lang="en-US" b="true" sz="2600">
                <a:solidFill>
                  <a:srgbClr val="000000"/>
                </a:solidFill>
                <a:latin typeface="Cy Grotesk Key Bold"/>
                <a:ea typeface="Cy Grotesk Key Bold"/>
                <a:cs typeface="Cy Grotesk Key Bold"/>
                <a:sym typeface="Cy Grotesk Key Bold"/>
              </a:rPr>
              <a:t>Target = 0</a:t>
            </a:r>
          </a:p>
        </p:txBody>
      </p:sp>
      <p:grpSp>
        <p:nvGrpSpPr>
          <p:cNvPr name="Group 17" id="17"/>
          <p:cNvGrpSpPr/>
          <p:nvPr/>
        </p:nvGrpSpPr>
        <p:grpSpPr>
          <a:xfrm rot="0">
            <a:off x="-11953112" y="8788741"/>
            <a:ext cx="21299587" cy="806922"/>
            <a:chOff x="0" y="0"/>
            <a:chExt cx="24483866" cy="927557"/>
          </a:xfrm>
        </p:grpSpPr>
        <p:sp>
          <p:nvSpPr>
            <p:cNvPr name="Freeform 18" id="18"/>
            <p:cNvSpPr/>
            <p:nvPr/>
          </p:nvSpPr>
          <p:spPr>
            <a:xfrm flipH="false" flipV="false" rot="0">
              <a:off x="0" y="0"/>
              <a:ext cx="24483865" cy="927557"/>
            </a:xfrm>
            <a:custGeom>
              <a:avLst/>
              <a:gdLst/>
              <a:ahLst/>
              <a:cxnLst/>
              <a:rect r="r" b="b" t="t" l="l"/>
              <a:pathLst>
                <a:path h="927557" w="24483865">
                  <a:moveTo>
                    <a:pt x="0" y="0"/>
                  </a:moveTo>
                  <a:lnTo>
                    <a:pt x="24483865" y="0"/>
                  </a:lnTo>
                  <a:lnTo>
                    <a:pt x="24483865" y="927557"/>
                  </a:lnTo>
                  <a:lnTo>
                    <a:pt x="0" y="927557"/>
                  </a:lnTo>
                  <a:close/>
                </a:path>
              </a:pathLst>
            </a:custGeom>
            <a:solidFill>
              <a:srgbClr val="000000"/>
            </a:solidFill>
          </p:spPr>
        </p:sp>
        <p:sp>
          <p:nvSpPr>
            <p:cNvPr name="TextBox 19" id="19"/>
            <p:cNvSpPr txBox="true"/>
            <p:nvPr/>
          </p:nvSpPr>
          <p:spPr>
            <a:xfrm>
              <a:off x="0" y="-47625"/>
              <a:ext cx="24483866" cy="97518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746640" y="8807374"/>
            <a:ext cx="10283739" cy="598170"/>
          </a:xfrm>
          <a:prstGeom prst="rect">
            <a:avLst/>
          </a:prstGeom>
        </p:spPr>
        <p:txBody>
          <a:bodyPr anchor="t" rtlCol="false" tIns="0" lIns="0" bIns="0" rIns="0">
            <a:spAutoFit/>
          </a:bodyPr>
          <a:lstStyle/>
          <a:p>
            <a:pPr algn="l">
              <a:lnSpc>
                <a:spcPts val="4949"/>
              </a:lnSpc>
            </a:pPr>
            <a:r>
              <a:rPr lang="en-US" b="true" sz="3299">
                <a:solidFill>
                  <a:srgbClr val="FFFFFF"/>
                </a:solidFill>
                <a:latin typeface="Cy Grotesk Key Bold"/>
                <a:ea typeface="Cy Grotesk Key Bold"/>
                <a:cs typeface="Cy Grotesk Key Bold"/>
                <a:sym typeface="Cy Grotesk Key Bold"/>
              </a:rPr>
              <a:t>Baseline: </a:t>
            </a:r>
            <a:r>
              <a:rPr lang="en-US" sz="3299">
                <a:solidFill>
                  <a:srgbClr val="FFFFFF"/>
                </a:solidFill>
                <a:latin typeface="Cy Grotesk Key"/>
                <a:ea typeface="Cy Grotesk Key"/>
                <a:cs typeface="Cy Grotesk Key"/>
                <a:sym typeface="Cy Grotesk Key"/>
              </a:rPr>
              <a:t>91.52% de retención general</a:t>
            </a:r>
          </a:p>
        </p:txBody>
      </p:sp>
      <p:grpSp>
        <p:nvGrpSpPr>
          <p:cNvPr name="Group 21" id="21"/>
          <p:cNvGrpSpPr/>
          <p:nvPr/>
        </p:nvGrpSpPr>
        <p:grpSpPr>
          <a:xfrm rot="0">
            <a:off x="-12994183" y="5385283"/>
            <a:ext cx="19855534" cy="806922"/>
            <a:chOff x="0" y="0"/>
            <a:chExt cx="22823927" cy="927557"/>
          </a:xfrm>
        </p:grpSpPr>
        <p:sp>
          <p:nvSpPr>
            <p:cNvPr name="Freeform 22" id="22"/>
            <p:cNvSpPr/>
            <p:nvPr/>
          </p:nvSpPr>
          <p:spPr>
            <a:xfrm flipH="false" flipV="false" rot="0">
              <a:off x="0" y="0"/>
              <a:ext cx="22823928" cy="927557"/>
            </a:xfrm>
            <a:custGeom>
              <a:avLst/>
              <a:gdLst/>
              <a:ahLst/>
              <a:cxnLst/>
              <a:rect r="r" b="b" t="t" l="l"/>
              <a:pathLst>
                <a:path h="927557" w="22823928">
                  <a:moveTo>
                    <a:pt x="0" y="0"/>
                  </a:moveTo>
                  <a:lnTo>
                    <a:pt x="22823928" y="0"/>
                  </a:lnTo>
                  <a:lnTo>
                    <a:pt x="22823928" y="927557"/>
                  </a:lnTo>
                  <a:lnTo>
                    <a:pt x="0" y="927557"/>
                  </a:lnTo>
                  <a:close/>
                </a:path>
              </a:pathLst>
            </a:custGeom>
            <a:solidFill>
              <a:srgbClr val="54DF64"/>
            </a:solidFill>
          </p:spPr>
        </p:sp>
        <p:sp>
          <p:nvSpPr>
            <p:cNvPr name="TextBox 23" id="23"/>
            <p:cNvSpPr txBox="true"/>
            <p:nvPr/>
          </p:nvSpPr>
          <p:spPr>
            <a:xfrm>
              <a:off x="0" y="-47625"/>
              <a:ext cx="22823927" cy="97518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545554" y="5437272"/>
            <a:ext cx="6315797" cy="598170"/>
          </a:xfrm>
          <a:prstGeom prst="rect">
            <a:avLst/>
          </a:prstGeom>
        </p:spPr>
        <p:txBody>
          <a:bodyPr anchor="t" rtlCol="false" tIns="0" lIns="0" bIns="0" rIns="0">
            <a:spAutoFit/>
          </a:bodyPr>
          <a:lstStyle/>
          <a:p>
            <a:pPr algn="l">
              <a:lnSpc>
                <a:spcPts val="4949"/>
              </a:lnSpc>
            </a:pPr>
            <a:r>
              <a:rPr lang="en-US" sz="3299">
                <a:solidFill>
                  <a:srgbClr val="000000"/>
                </a:solidFill>
                <a:latin typeface="Cy Grotesk Key"/>
                <a:ea typeface="Cy Grotesk Key"/>
                <a:cs typeface="Cy Grotesk Key"/>
                <a:sym typeface="Cy Grotesk Key"/>
              </a:rPr>
              <a:t> Lín</a:t>
            </a:r>
            <a:r>
              <a:rPr lang="en-US" sz="3299">
                <a:solidFill>
                  <a:srgbClr val="000000"/>
                </a:solidFill>
                <a:latin typeface="Cy Grotesk Key"/>
                <a:ea typeface="Cy Grotesk Key"/>
                <a:cs typeface="Cy Grotesk Key"/>
                <a:sym typeface="Cy Grotesk Key"/>
              </a:rPr>
              <a:t>eas de acción derivadas</a:t>
            </a:r>
          </a:p>
        </p:txBody>
      </p:sp>
      <p:sp>
        <p:nvSpPr>
          <p:cNvPr name="TextBox 25" id="25"/>
          <p:cNvSpPr txBox="true"/>
          <p:nvPr/>
        </p:nvSpPr>
        <p:spPr>
          <a:xfrm rot="0">
            <a:off x="678904" y="7375411"/>
            <a:ext cx="10604748" cy="908505"/>
          </a:xfrm>
          <a:prstGeom prst="rect">
            <a:avLst/>
          </a:prstGeom>
        </p:spPr>
        <p:txBody>
          <a:bodyPr anchor="t" rtlCol="false" tIns="0" lIns="0" bIns="0" rIns="0">
            <a:spAutoFit/>
          </a:bodyPr>
          <a:lstStyle/>
          <a:p>
            <a:pPr algn="l">
              <a:lnSpc>
                <a:spcPts val="3692"/>
              </a:lnSpc>
            </a:pPr>
            <a:r>
              <a:rPr lang="en-US" b="true" sz="2600">
                <a:solidFill>
                  <a:srgbClr val="000000"/>
                </a:solidFill>
                <a:latin typeface="Cy Grotesk Key Bold"/>
                <a:ea typeface="Cy Grotesk Key Bold"/>
                <a:cs typeface="Cy Grotesk Key Bold"/>
                <a:sym typeface="Cy Grotesk Key Bold"/>
              </a:rPr>
              <a:t>Apoyo pedagógico focalizado:</a:t>
            </a:r>
            <a:r>
              <a:rPr lang="en-US" sz="2600">
                <a:solidFill>
                  <a:srgbClr val="000000"/>
                </a:solidFill>
                <a:latin typeface="Cy Grotesk Key"/>
                <a:ea typeface="Cy Grotesk Key"/>
                <a:cs typeface="Cy Grotesk Key"/>
                <a:sym typeface="Cy Grotesk Key"/>
              </a:rPr>
              <a:t> Gabin</a:t>
            </a:r>
            <a:r>
              <a:rPr lang="en-US" sz="2600">
                <a:solidFill>
                  <a:srgbClr val="000000"/>
                </a:solidFill>
                <a:latin typeface="Cy Grotesk Key"/>
                <a:ea typeface="Cy Grotesk Key"/>
                <a:cs typeface="Cy Grotesk Key"/>
                <a:sym typeface="Cy Grotesk Key"/>
              </a:rPr>
              <a:t>et</a:t>
            </a:r>
            <a:r>
              <a:rPr lang="en-US" sz="2600">
                <a:solidFill>
                  <a:srgbClr val="000000"/>
                </a:solidFill>
                <a:latin typeface="Cy Grotesk Key"/>
                <a:ea typeface="Cy Grotesk Key"/>
                <a:cs typeface="Cy Grotesk Key"/>
                <a:sym typeface="Cy Grotesk Key"/>
              </a:rPr>
              <a:t>es</a:t>
            </a:r>
            <a:r>
              <a:rPr lang="en-US" sz="2600">
                <a:solidFill>
                  <a:srgbClr val="000000"/>
                </a:solidFill>
                <a:latin typeface="Cy Grotesk Key"/>
                <a:ea typeface="Cy Grotesk Key"/>
                <a:cs typeface="Cy Grotesk Key"/>
                <a:sym typeface="Cy Grotesk Key"/>
              </a:rPr>
              <a:t> </a:t>
            </a:r>
            <a:r>
              <a:rPr lang="en-US" sz="2600">
                <a:solidFill>
                  <a:srgbClr val="000000"/>
                </a:solidFill>
                <a:latin typeface="Cy Grotesk Key"/>
                <a:ea typeface="Cy Grotesk Key"/>
                <a:cs typeface="Cy Grotesk Key"/>
                <a:sym typeface="Cy Grotesk Key"/>
              </a:rPr>
              <a:t>psicopedagógicos para estudiante</a:t>
            </a:r>
            <a:r>
              <a:rPr lang="en-US" sz="2600">
                <a:solidFill>
                  <a:srgbClr val="000000"/>
                </a:solidFill>
                <a:latin typeface="Cy Grotesk Key"/>
                <a:ea typeface="Cy Grotesk Key"/>
                <a:cs typeface="Cy Grotesk Key"/>
                <a:sym typeface="Cy Grotesk Key"/>
              </a:rPr>
              <a:t>s </a:t>
            </a:r>
            <a:r>
              <a:rPr lang="en-US" sz="2600">
                <a:solidFill>
                  <a:srgbClr val="000000"/>
                </a:solidFill>
                <a:latin typeface="Cy Grotesk Key"/>
                <a:ea typeface="Cy Grotesk Key"/>
                <a:cs typeface="Cy Grotesk Key"/>
                <a:sym typeface="Cy Grotesk Key"/>
              </a:rPr>
              <a:t>cl</a:t>
            </a:r>
            <a:r>
              <a:rPr lang="en-US" sz="2600">
                <a:solidFill>
                  <a:srgbClr val="000000"/>
                </a:solidFill>
                <a:latin typeface="Cy Grotesk Key"/>
                <a:ea typeface="Cy Grotesk Key"/>
                <a:cs typeface="Cy Grotesk Key"/>
                <a:sym typeface="Cy Grotesk Key"/>
              </a:rPr>
              <a:t>asificados como</a:t>
            </a:r>
            <a:r>
              <a:rPr lang="en-US" sz="2600">
                <a:solidFill>
                  <a:srgbClr val="000000"/>
                </a:solidFill>
                <a:latin typeface="Cy Grotesk Key"/>
                <a:ea typeface="Cy Grotesk Key"/>
                <a:cs typeface="Cy Grotesk Key"/>
                <a:sym typeface="Cy Grotesk Key"/>
              </a:rPr>
              <a:t> riesgo alto</a:t>
            </a:r>
          </a:p>
        </p:txBody>
      </p:sp>
      <p:sp>
        <p:nvSpPr>
          <p:cNvPr name="TextBox 26" id="26"/>
          <p:cNvSpPr txBox="true"/>
          <p:nvPr/>
        </p:nvSpPr>
        <p:spPr>
          <a:xfrm rot="0">
            <a:off x="678904" y="6363656"/>
            <a:ext cx="11449974" cy="908505"/>
          </a:xfrm>
          <a:prstGeom prst="rect">
            <a:avLst/>
          </a:prstGeom>
        </p:spPr>
        <p:txBody>
          <a:bodyPr anchor="t" rtlCol="false" tIns="0" lIns="0" bIns="0" rIns="0">
            <a:spAutoFit/>
          </a:bodyPr>
          <a:lstStyle/>
          <a:p>
            <a:pPr algn="l">
              <a:lnSpc>
                <a:spcPts val="3692"/>
              </a:lnSpc>
            </a:pPr>
            <a:r>
              <a:rPr lang="en-US" b="true" sz="2600">
                <a:solidFill>
                  <a:srgbClr val="000000"/>
                </a:solidFill>
                <a:latin typeface="Cy Grotesk Key Bold"/>
                <a:ea typeface="Cy Grotesk Key Bold"/>
                <a:cs typeface="Cy Grotesk Key Bold"/>
                <a:sym typeface="Cy Grotesk Key Bold"/>
              </a:rPr>
              <a:t>Mitigación vocacional temprana:</a:t>
            </a:r>
            <a:r>
              <a:rPr lang="en-US" sz="2600">
                <a:solidFill>
                  <a:srgbClr val="000000"/>
                </a:solidFill>
                <a:latin typeface="Cy Grotesk Key"/>
                <a:ea typeface="Cy Grotesk Key"/>
                <a:cs typeface="Cy Grotesk Key"/>
                <a:sym typeface="Cy Grotesk Key"/>
              </a:rPr>
              <a:t> Detección de alumnos sin cursada inicial para resolver problemas y desorientación</a:t>
            </a:r>
          </a:p>
        </p:txBody>
      </p:sp>
      <p:grpSp>
        <p:nvGrpSpPr>
          <p:cNvPr name="Group 27" id="27"/>
          <p:cNvGrpSpPr/>
          <p:nvPr/>
        </p:nvGrpSpPr>
        <p:grpSpPr>
          <a:xfrm rot="-963436">
            <a:off x="12854417" y="-1944052"/>
            <a:ext cx="8820000" cy="13172494"/>
            <a:chOff x="0" y="0"/>
            <a:chExt cx="10138586" cy="15141776"/>
          </a:xfrm>
        </p:grpSpPr>
        <p:sp>
          <p:nvSpPr>
            <p:cNvPr name="Freeform 28" id="28"/>
            <p:cNvSpPr/>
            <p:nvPr/>
          </p:nvSpPr>
          <p:spPr>
            <a:xfrm flipH="false" flipV="false" rot="0">
              <a:off x="0" y="0"/>
              <a:ext cx="10138586" cy="15141777"/>
            </a:xfrm>
            <a:custGeom>
              <a:avLst/>
              <a:gdLst/>
              <a:ahLst/>
              <a:cxnLst/>
              <a:rect r="r" b="b" t="t" l="l"/>
              <a:pathLst>
                <a:path h="15141777" w="10138586">
                  <a:moveTo>
                    <a:pt x="0" y="0"/>
                  </a:moveTo>
                  <a:lnTo>
                    <a:pt x="10138586" y="0"/>
                  </a:lnTo>
                  <a:lnTo>
                    <a:pt x="10138586" y="15141777"/>
                  </a:lnTo>
                  <a:lnTo>
                    <a:pt x="0" y="15141777"/>
                  </a:lnTo>
                  <a:close/>
                </a:path>
              </a:pathLst>
            </a:custGeom>
            <a:solidFill>
              <a:srgbClr val="54DF64"/>
            </a:solidFill>
          </p:spPr>
        </p:sp>
        <p:sp>
          <p:nvSpPr>
            <p:cNvPr name="TextBox 29" id="29"/>
            <p:cNvSpPr txBox="true"/>
            <p:nvPr/>
          </p:nvSpPr>
          <p:spPr>
            <a:xfrm>
              <a:off x="0" y="-47625"/>
              <a:ext cx="10138586" cy="15189401"/>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0">
            <a:off x="13882751" y="591682"/>
            <a:ext cx="3376549" cy="3672363"/>
          </a:xfrm>
          <a:custGeom>
            <a:avLst/>
            <a:gdLst/>
            <a:ahLst/>
            <a:cxnLst/>
            <a:rect r="r" b="b" t="t" l="l"/>
            <a:pathLst>
              <a:path h="3672363" w="3376549">
                <a:moveTo>
                  <a:pt x="0" y="0"/>
                </a:moveTo>
                <a:lnTo>
                  <a:pt x="3376549" y="0"/>
                </a:lnTo>
                <a:lnTo>
                  <a:pt x="3376549" y="3672363"/>
                </a:lnTo>
                <a:lnTo>
                  <a:pt x="0" y="3672363"/>
                </a:lnTo>
                <a:lnTo>
                  <a:pt x="0" y="0"/>
                </a:lnTo>
                <a:close/>
              </a:path>
            </a:pathLst>
          </a:custGeom>
          <a:blipFill>
            <a:blip r:embed="rId3"/>
            <a:stretch>
              <a:fillRect l="-34079" t="-24835" r="-28490" b="-24639"/>
            </a:stretch>
          </a:blipFill>
        </p:spPr>
      </p:sp>
    </p:spTree>
  </p:cSld>
  <p:clrMapOvr>
    <a:masterClrMapping/>
  </p:clrMapOvr>
  <p:transition spd="slow">
    <p:push dir="l"/>
  </p:transition>
</p:sld>
</file>

<file path=ppt/slides/slide23.xml><?xml version="1.0" encoding="utf-8"?>
<p:sld xmlns:p="http://schemas.openxmlformats.org/presentationml/2006/main" xmlns:a="http://schemas.openxmlformats.org/drawingml/2006/main">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0">
            <a:off x="0" y="-67693"/>
            <a:ext cx="18447379" cy="10354693"/>
            <a:chOff x="0" y="0"/>
            <a:chExt cx="21205253" cy="11902715"/>
          </a:xfrm>
        </p:grpSpPr>
        <p:sp>
          <p:nvSpPr>
            <p:cNvPr name="Freeform 3" id="3"/>
            <p:cNvSpPr/>
            <p:nvPr/>
          </p:nvSpPr>
          <p:spPr>
            <a:xfrm flipH="false" flipV="false" rot="0">
              <a:off x="0" y="0"/>
              <a:ext cx="21205253" cy="11902715"/>
            </a:xfrm>
            <a:custGeom>
              <a:avLst/>
              <a:gdLst/>
              <a:ahLst/>
              <a:cxnLst/>
              <a:rect r="r" b="b" t="t" l="l"/>
              <a:pathLst>
                <a:path h="11902715" w="21205253">
                  <a:moveTo>
                    <a:pt x="0" y="0"/>
                  </a:moveTo>
                  <a:lnTo>
                    <a:pt x="21205253" y="0"/>
                  </a:lnTo>
                  <a:lnTo>
                    <a:pt x="21205253" y="11902715"/>
                  </a:lnTo>
                  <a:lnTo>
                    <a:pt x="0" y="11902715"/>
                  </a:lnTo>
                  <a:close/>
                </a:path>
              </a:pathLst>
            </a:custGeom>
            <a:solidFill>
              <a:srgbClr val="000000"/>
            </a:solidFill>
          </p:spPr>
        </p:sp>
        <p:sp>
          <p:nvSpPr>
            <p:cNvPr name="TextBox 4" id="4"/>
            <p:cNvSpPr txBox="true"/>
            <p:nvPr/>
          </p:nvSpPr>
          <p:spPr>
            <a:xfrm>
              <a:off x="0" y="-47625"/>
              <a:ext cx="21205253" cy="119503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84203">
            <a:off x="-16340433" y="653030"/>
            <a:ext cx="27770965" cy="1491048"/>
            <a:chOff x="0" y="0"/>
            <a:chExt cx="31922711" cy="1713959"/>
          </a:xfrm>
        </p:grpSpPr>
        <p:sp>
          <p:nvSpPr>
            <p:cNvPr name="Freeform 6" id="6"/>
            <p:cNvSpPr/>
            <p:nvPr/>
          </p:nvSpPr>
          <p:spPr>
            <a:xfrm flipH="false" flipV="false" rot="0">
              <a:off x="0" y="0"/>
              <a:ext cx="31922712" cy="1713959"/>
            </a:xfrm>
            <a:custGeom>
              <a:avLst/>
              <a:gdLst/>
              <a:ahLst/>
              <a:cxnLst/>
              <a:rect r="r" b="b" t="t" l="l"/>
              <a:pathLst>
                <a:path h="1713959" w="31922712">
                  <a:moveTo>
                    <a:pt x="0" y="0"/>
                  </a:moveTo>
                  <a:lnTo>
                    <a:pt x="31922712" y="0"/>
                  </a:lnTo>
                  <a:lnTo>
                    <a:pt x="31922712" y="1713959"/>
                  </a:lnTo>
                  <a:lnTo>
                    <a:pt x="0" y="1713959"/>
                  </a:lnTo>
                  <a:close/>
                </a:path>
              </a:pathLst>
            </a:custGeom>
            <a:solidFill>
              <a:srgbClr val="F8F6F0"/>
            </a:solidFill>
          </p:spPr>
        </p:sp>
        <p:sp>
          <p:nvSpPr>
            <p:cNvPr name="TextBox 7" id="7"/>
            <p:cNvSpPr txBox="true"/>
            <p:nvPr/>
          </p:nvSpPr>
          <p:spPr>
            <a:xfrm>
              <a:off x="0" y="-47625"/>
              <a:ext cx="31922711" cy="176158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906864" y="616514"/>
            <a:ext cx="28121276" cy="1491048"/>
            <a:chOff x="0" y="0"/>
            <a:chExt cx="32325393" cy="1713959"/>
          </a:xfrm>
        </p:grpSpPr>
        <p:sp>
          <p:nvSpPr>
            <p:cNvPr name="Freeform 9" id="9"/>
            <p:cNvSpPr/>
            <p:nvPr/>
          </p:nvSpPr>
          <p:spPr>
            <a:xfrm flipH="false" flipV="false" rot="0">
              <a:off x="0" y="0"/>
              <a:ext cx="32325394" cy="1713959"/>
            </a:xfrm>
            <a:custGeom>
              <a:avLst/>
              <a:gdLst/>
              <a:ahLst/>
              <a:cxnLst/>
              <a:rect r="r" b="b" t="t" l="l"/>
              <a:pathLst>
                <a:path h="1713959" w="32325394">
                  <a:moveTo>
                    <a:pt x="0" y="0"/>
                  </a:moveTo>
                  <a:lnTo>
                    <a:pt x="32325394" y="0"/>
                  </a:lnTo>
                  <a:lnTo>
                    <a:pt x="32325394" y="1713959"/>
                  </a:lnTo>
                  <a:lnTo>
                    <a:pt x="0" y="1713959"/>
                  </a:lnTo>
                  <a:close/>
                </a:path>
              </a:pathLst>
            </a:custGeom>
            <a:solidFill>
              <a:srgbClr val="54DF64"/>
            </a:solidFill>
          </p:spPr>
        </p:sp>
        <p:sp>
          <p:nvSpPr>
            <p:cNvPr name="TextBox 10" id="10"/>
            <p:cNvSpPr txBox="true"/>
            <p:nvPr/>
          </p:nvSpPr>
          <p:spPr>
            <a:xfrm>
              <a:off x="0" y="-47625"/>
              <a:ext cx="32325393" cy="176158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61743" y="1069557"/>
            <a:ext cx="11251356" cy="718312"/>
          </a:xfrm>
          <a:prstGeom prst="rect">
            <a:avLst/>
          </a:prstGeom>
        </p:spPr>
        <p:txBody>
          <a:bodyPr anchor="t" rtlCol="false" tIns="0" lIns="0" bIns="0" rIns="0">
            <a:spAutoFit/>
          </a:bodyPr>
          <a:lstStyle/>
          <a:p>
            <a:pPr algn="l">
              <a:lnSpc>
                <a:spcPts val="5264"/>
              </a:lnSpc>
            </a:pPr>
            <a:r>
              <a:rPr lang="en-US" sz="5600" b="true">
                <a:solidFill>
                  <a:srgbClr val="000000"/>
                </a:solidFill>
                <a:latin typeface="Cy Grotesk Wide Bold"/>
                <a:ea typeface="Cy Grotesk Wide Bold"/>
                <a:cs typeface="Cy Grotesk Wide Bold"/>
                <a:sym typeface="Cy Grotesk Wide Bold"/>
              </a:rPr>
              <a:t>8. </a:t>
            </a:r>
            <a:r>
              <a:rPr lang="en-US" sz="5600">
                <a:solidFill>
                  <a:srgbClr val="FFFFFF"/>
                </a:solidFill>
                <a:latin typeface="Cy Grotesk Wide"/>
                <a:ea typeface="Cy Grotesk Wide"/>
                <a:cs typeface="Cy Grotesk Wide"/>
                <a:sym typeface="Cy Grotesk Wide"/>
              </a:rPr>
              <a:t>Evaluación de modelos</a:t>
            </a:r>
          </a:p>
        </p:txBody>
      </p:sp>
      <p:grpSp>
        <p:nvGrpSpPr>
          <p:cNvPr name="Group 12" id="12"/>
          <p:cNvGrpSpPr/>
          <p:nvPr/>
        </p:nvGrpSpPr>
        <p:grpSpPr>
          <a:xfrm rot="0">
            <a:off x="1028700" y="3060545"/>
            <a:ext cx="16230600" cy="3467431"/>
            <a:chOff x="0" y="0"/>
            <a:chExt cx="21640800" cy="4623242"/>
          </a:xfrm>
        </p:grpSpPr>
        <p:grpSp>
          <p:nvGrpSpPr>
            <p:cNvPr name="Group 13" id="13"/>
            <p:cNvGrpSpPr/>
            <p:nvPr/>
          </p:nvGrpSpPr>
          <p:grpSpPr>
            <a:xfrm rot="0">
              <a:off x="0" y="3405306"/>
              <a:ext cx="21640800" cy="1187104"/>
              <a:chOff x="0" y="0"/>
              <a:chExt cx="5297394" cy="290588"/>
            </a:xfrm>
          </p:grpSpPr>
          <p:sp>
            <p:nvSpPr>
              <p:cNvPr name="Freeform 14" id="14"/>
              <p:cNvSpPr/>
              <p:nvPr/>
            </p:nvSpPr>
            <p:spPr>
              <a:xfrm flipH="false" flipV="false" rot="0">
                <a:off x="0" y="0"/>
                <a:ext cx="5297394" cy="290588"/>
              </a:xfrm>
              <a:custGeom>
                <a:avLst/>
                <a:gdLst/>
                <a:ahLst/>
                <a:cxnLst/>
                <a:rect r="r" b="b" t="t" l="l"/>
                <a:pathLst>
                  <a:path h="290588" w="5297394">
                    <a:moveTo>
                      <a:pt x="6543" y="0"/>
                    </a:moveTo>
                    <a:lnTo>
                      <a:pt x="5290850" y="0"/>
                    </a:lnTo>
                    <a:cubicBezTo>
                      <a:pt x="5292586" y="0"/>
                      <a:pt x="5294250" y="689"/>
                      <a:pt x="5295477" y="1917"/>
                    </a:cubicBezTo>
                    <a:cubicBezTo>
                      <a:pt x="5296704" y="3144"/>
                      <a:pt x="5297394" y="4808"/>
                      <a:pt x="5297394" y="6543"/>
                    </a:cubicBezTo>
                    <a:lnTo>
                      <a:pt x="5297394" y="284045"/>
                    </a:lnTo>
                    <a:cubicBezTo>
                      <a:pt x="5297394" y="285780"/>
                      <a:pt x="5296704" y="287444"/>
                      <a:pt x="5295477" y="288672"/>
                    </a:cubicBezTo>
                    <a:cubicBezTo>
                      <a:pt x="5294250" y="289899"/>
                      <a:pt x="5292586" y="290588"/>
                      <a:pt x="5290850" y="290588"/>
                    </a:cubicBezTo>
                    <a:lnTo>
                      <a:pt x="6543" y="290588"/>
                    </a:lnTo>
                    <a:cubicBezTo>
                      <a:pt x="4808" y="290588"/>
                      <a:pt x="3144" y="289899"/>
                      <a:pt x="1917" y="288672"/>
                    </a:cubicBezTo>
                    <a:cubicBezTo>
                      <a:pt x="689" y="287444"/>
                      <a:pt x="0" y="285780"/>
                      <a:pt x="0" y="284045"/>
                    </a:cubicBezTo>
                    <a:lnTo>
                      <a:pt x="0" y="6543"/>
                    </a:lnTo>
                    <a:cubicBezTo>
                      <a:pt x="0" y="4808"/>
                      <a:pt x="689" y="3144"/>
                      <a:pt x="1917" y="1917"/>
                    </a:cubicBezTo>
                    <a:cubicBezTo>
                      <a:pt x="3144" y="689"/>
                      <a:pt x="4808" y="0"/>
                      <a:pt x="6543" y="0"/>
                    </a:cubicBezTo>
                    <a:close/>
                  </a:path>
                </a:pathLst>
              </a:custGeom>
              <a:solidFill>
                <a:srgbClr val="54DF64"/>
              </a:solidFill>
            </p:spPr>
          </p:sp>
          <p:sp>
            <p:nvSpPr>
              <p:cNvPr name="TextBox 15" id="15"/>
              <p:cNvSpPr txBox="true"/>
              <p:nvPr/>
            </p:nvSpPr>
            <p:spPr>
              <a:xfrm>
                <a:off x="0" y="-47625"/>
                <a:ext cx="5297394" cy="33821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0"/>
              <a:ext cx="21640800" cy="4616894"/>
              <a:chOff x="0" y="0"/>
              <a:chExt cx="5652973" cy="1206017"/>
            </a:xfrm>
          </p:grpSpPr>
          <p:sp>
            <p:nvSpPr>
              <p:cNvPr name="Freeform 17" id="17"/>
              <p:cNvSpPr/>
              <p:nvPr/>
            </p:nvSpPr>
            <p:spPr>
              <a:xfrm flipH="false" flipV="false" rot="0">
                <a:off x="0" y="0"/>
                <a:ext cx="5652974" cy="1206017"/>
              </a:xfrm>
              <a:custGeom>
                <a:avLst/>
                <a:gdLst/>
                <a:ahLst/>
                <a:cxnLst/>
                <a:rect r="r" b="b" t="t" l="l"/>
                <a:pathLst>
                  <a:path h="1206017" w="5652974">
                    <a:moveTo>
                      <a:pt x="6543" y="0"/>
                    </a:moveTo>
                    <a:lnTo>
                      <a:pt x="5646430" y="0"/>
                    </a:lnTo>
                    <a:cubicBezTo>
                      <a:pt x="5650044" y="0"/>
                      <a:pt x="5652974" y="2930"/>
                      <a:pt x="5652974" y="6543"/>
                    </a:cubicBezTo>
                    <a:lnTo>
                      <a:pt x="5652974" y="1199474"/>
                    </a:lnTo>
                    <a:cubicBezTo>
                      <a:pt x="5652974" y="1201209"/>
                      <a:pt x="5652284" y="1202874"/>
                      <a:pt x="5651057" y="1204101"/>
                    </a:cubicBezTo>
                    <a:cubicBezTo>
                      <a:pt x="5649830" y="1205328"/>
                      <a:pt x="5648165" y="1206017"/>
                      <a:pt x="5646430" y="1206017"/>
                    </a:cubicBezTo>
                    <a:lnTo>
                      <a:pt x="6543" y="1206017"/>
                    </a:lnTo>
                    <a:cubicBezTo>
                      <a:pt x="2930" y="1206017"/>
                      <a:pt x="0" y="1203088"/>
                      <a:pt x="0" y="1199474"/>
                    </a:cubicBezTo>
                    <a:lnTo>
                      <a:pt x="0" y="6543"/>
                    </a:lnTo>
                    <a:cubicBezTo>
                      <a:pt x="0" y="4808"/>
                      <a:pt x="689" y="3144"/>
                      <a:pt x="1917" y="1917"/>
                    </a:cubicBezTo>
                    <a:cubicBezTo>
                      <a:pt x="3144" y="689"/>
                      <a:pt x="4808" y="0"/>
                      <a:pt x="6543" y="0"/>
                    </a:cubicBezTo>
                    <a:close/>
                  </a:path>
                </a:pathLst>
              </a:custGeom>
              <a:ln w="47625" cap="sq">
                <a:solidFill>
                  <a:srgbClr val="54DF64"/>
                </a:solidFill>
                <a:prstDash val="solid"/>
                <a:miter/>
              </a:ln>
            </p:spPr>
          </p:sp>
          <p:sp>
            <p:nvSpPr>
              <p:cNvPr name="TextBox 18" id="18"/>
              <p:cNvSpPr txBox="true"/>
              <p:nvPr/>
            </p:nvSpPr>
            <p:spPr>
              <a:xfrm>
                <a:off x="0" y="-47625"/>
                <a:ext cx="5652973" cy="1253642"/>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46735" y="1698244"/>
              <a:ext cx="5340918"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Regresión logistica</a:t>
              </a:r>
            </a:p>
          </p:txBody>
        </p:sp>
        <p:sp>
          <p:nvSpPr>
            <p:cNvPr name="TextBox 20" id="20"/>
            <p:cNvSpPr txBox="true"/>
            <p:nvPr/>
          </p:nvSpPr>
          <p:spPr>
            <a:xfrm rot="0">
              <a:off x="346735" y="2808942"/>
              <a:ext cx="5099569"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Arbol de decisión</a:t>
              </a:r>
            </a:p>
          </p:txBody>
        </p:sp>
        <p:sp>
          <p:nvSpPr>
            <p:cNvPr name="TextBox 21" id="21"/>
            <p:cNvSpPr txBox="true"/>
            <p:nvPr/>
          </p:nvSpPr>
          <p:spPr>
            <a:xfrm rot="0">
              <a:off x="346735" y="3919639"/>
              <a:ext cx="5099569" cy="316683"/>
            </a:xfrm>
            <a:prstGeom prst="rect">
              <a:avLst/>
            </a:prstGeom>
          </p:spPr>
          <p:txBody>
            <a:bodyPr anchor="t" rtlCol="false" tIns="0" lIns="0" bIns="0" rIns="0">
              <a:spAutoFit/>
            </a:bodyPr>
            <a:lstStyle/>
            <a:p>
              <a:pPr algn="l">
                <a:lnSpc>
                  <a:spcPts val="1668"/>
                </a:lnSpc>
              </a:pPr>
              <a:r>
                <a:rPr lang="en-US" sz="1775" b="true">
                  <a:solidFill>
                    <a:srgbClr val="000000"/>
                  </a:solidFill>
                  <a:latin typeface="Cy Grotesk Wide Bold"/>
                  <a:ea typeface="Cy Grotesk Wide Bold"/>
                  <a:cs typeface="Cy Grotesk Wide Bold"/>
                  <a:sym typeface="Cy Grotesk Wide Bold"/>
                </a:rPr>
                <a:t>Random Forest</a:t>
              </a:r>
            </a:p>
          </p:txBody>
        </p:sp>
        <p:sp>
          <p:nvSpPr>
            <p:cNvPr name="TextBox 22" id="22"/>
            <p:cNvSpPr txBox="true"/>
            <p:nvPr/>
          </p:nvSpPr>
          <p:spPr>
            <a:xfrm rot="0">
              <a:off x="5472992" y="1698244"/>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0.8120</a:t>
              </a:r>
            </a:p>
          </p:txBody>
        </p:sp>
        <p:sp>
          <p:nvSpPr>
            <p:cNvPr name="TextBox 23" id="23"/>
            <p:cNvSpPr txBox="true"/>
            <p:nvPr/>
          </p:nvSpPr>
          <p:spPr>
            <a:xfrm rot="0">
              <a:off x="5472992" y="2806536"/>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0.8350</a:t>
              </a:r>
            </a:p>
          </p:txBody>
        </p:sp>
        <p:sp>
          <p:nvSpPr>
            <p:cNvPr name="TextBox 24" id="24"/>
            <p:cNvSpPr txBox="true"/>
            <p:nvPr/>
          </p:nvSpPr>
          <p:spPr>
            <a:xfrm rot="0">
              <a:off x="5521595" y="3886488"/>
              <a:ext cx="1709008" cy="316683"/>
            </a:xfrm>
            <a:prstGeom prst="rect">
              <a:avLst/>
            </a:prstGeom>
          </p:spPr>
          <p:txBody>
            <a:bodyPr anchor="t" rtlCol="false" tIns="0" lIns="0" bIns="0" rIns="0">
              <a:spAutoFit/>
            </a:bodyPr>
            <a:lstStyle/>
            <a:p>
              <a:pPr algn="l">
                <a:lnSpc>
                  <a:spcPts val="1668"/>
                </a:lnSpc>
              </a:pPr>
              <a:r>
                <a:rPr lang="en-US" sz="1775">
                  <a:solidFill>
                    <a:srgbClr val="000000"/>
                  </a:solidFill>
                  <a:latin typeface="Cy Grotesk Wide"/>
                  <a:ea typeface="Cy Grotesk Wide"/>
                  <a:cs typeface="Cy Grotesk Wide"/>
                  <a:sym typeface="Cy Grotesk Wide"/>
                </a:rPr>
                <a:t>0.8410</a:t>
              </a:r>
            </a:p>
          </p:txBody>
        </p:sp>
        <p:sp>
          <p:nvSpPr>
            <p:cNvPr name="AutoShape 25" id="25"/>
            <p:cNvSpPr/>
            <p:nvPr/>
          </p:nvSpPr>
          <p:spPr>
            <a:xfrm flipH="true">
              <a:off x="0" y="2330167"/>
              <a:ext cx="21640800" cy="0"/>
            </a:xfrm>
            <a:prstGeom prst="line">
              <a:avLst/>
            </a:prstGeom>
            <a:ln cap="flat" w="40993">
              <a:solidFill>
                <a:srgbClr val="54DF64"/>
              </a:solidFill>
              <a:prstDash val="solid"/>
              <a:headEnd type="none" len="sm" w="sm"/>
              <a:tailEnd type="none" len="sm" w="sm"/>
            </a:ln>
          </p:spPr>
        </p:sp>
        <p:sp>
          <p:nvSpPr>
            <p:cNvPr name="AutoShape 26" id="26"/>
            <p:cNvSpPr/>
            <p:nvPr/>
          </p:nvSpPr>
          <p:spPr>
            <a:xfrm flipH="true" flipV="true">
              <a:off x="0" y="3440865"/>
              <a:ext cx="21640800" cy="0"/>
            </a:xfrm>
            <a:prstGeom prst="line">
              <a:avLst/>
            </a:prstGeom>
            <a:ln cap="flat" w="40993">
              <a:solidFill>
                <a:srgbClr val="54DF64"/>
              </a:solidFill>
              <a:prstDash val="solid"/>
              <a:headEnd type="none" len="sm" w="sm"/>
              <a:tailEnd type="none" len="sm" w="sm"/>
            </a:ln>
          </p:spPr>
        </p:sp>
        <p:sp>
          <p:nvSpPr>
            <p:cNvPr name="TextBox 27" id="27"/>
            <p:cNvSpPr txBox="true"/>
            <p:nvPr/>
          </p:nvSpPr>
          <p:spPr>
            <a:xfrm rot="0">
              <a:off x="346735" y="482322"/>
              <a:ext cx="5326729" cy="372610"/>
            </a:xfrm>
            <a:prstGeom prst="rect">
              <a:avLst/>
            </a:prstGeom>
          </p:spPr>
          <p:txBody>
            <a:bodyPr anchor="t" rtlCol="false" tIns="0" lIns="0" bIns="0" rIns="0">
              <a:spAutoFit/>
            </a:bodyPr>
            <a:lstStyle/>
            <a:p>
              <a:pPr algn="l">
                <a:lnSpc>
                  <a:spcPts val="1972"/>
                </a:lnSpc>
              </a:pPr>
              <a:r>
                <a:rPr lang="en-US" sz="2098">
                  <a:solidFill>
                    <a:srgbClr val="54DF64"/>
                  </a:solidFill>
                  <a:latin typeface="Cy Grotesk Wide"/>
                  <a:ea typeface="Cy Grotesk Wide"/>
                  <a:cs typeface="Cy Grotesk Wide"/>
                  <a:sym typeface="Cy Grotesk Wide"/>
                </a:rPr>
                <a:t>Modelo</a:t>
              </a:r>
            </a:p>
          </p:txBody>
        </p:sp>
        <p:sp>
          <p:nvSpPr>
            <p:cNvPr name="AutoShape 28" id="28"/>
            <p:cNvSpPr/>
            <p:nvPr/>
          </p:nvSpPr>
          <p:spPr>
            <a:xfrm flipH="true" flipV="true">
              <a:off x="0" y="1250214"/>
              <a:ext cx="21640800" cy="0"/>
            </a:xfrm>
            <a:prstGeom prst="line">
              <a:avLst/>
            </a:prstGeom>
            <a:ln cap="flat" w="40993">
              <a:solidFill>
                <a:srgbClr val="54DF64"/>
              </a:solidFill>
              <a:prstDash val="solid"/>
              <a:headEnd type="none" len="sm" w="sm"/>
              <a:tailEnd type="none" len="sm" w="sm"/>
            </a:ln>
          </p:spPr>
        </p:sp>
        <p:sp>
          <p:nvSpPr>
            <p:cNvPr name="TextBox 29" id="29"/>
            <p:cNvSpPr txBox="true"/>
            <p:nvPr/>
          </p:nvSpPr>
          <p:spPr>
            <a:xfrm rot="0">
              <a:off x="5418332" y="482322"/>
              <a:ext cx="3051036" cy="372610"/>
            </a:xfrm>
            <a:prstGeom prst="rect">
              <a:avLst/>
            </a:prstGeom>
          </p:spPr>
          <p:txBody>
            <a:bodyPr anchor="t" rtlCol="false" tIns="0" lIns="0" bIns="0" rIns="0">
              <a:spAutoFit/>
            </a:bodyPr>
            <a:lstStyle/>
            <a:p>
              <a:pPr algn="l">
                <a:lnSpc>
                  <a:spcPts val="1972"/>
                </a:lnSpc>
              </a:pPr>
              <a:r>
                <a:rPr lang="en-US" sz="2098">
                  <a:solidFill>
                    <a:srgbClr val="54DF64"/>
                  </a:solidFill>
                  <a:latin typeface="Cy Grotesk Wide"/>
                  <a:ea typeface="Cy Grotesk Wide"/>
                  <a:cs typeface="Cy Grotesk Wide"/>
                  <a:sym typeface="Cy Grotesk Wide"/>
                </a:rPr>
                <a:t>Accuracy</a:t>
              </a:r>
            </a:p>
          </p:txBody>
        </p:sp>
        <p:sp>
          <p:nvSpPr>
            <p:cNvPr name="AutoShape 30" id="30"/>
            <p:cNvSpPr/>
            <p:nvPr/>
          </p:nvSpPr>
          <p:spPr>
            <a:xfrm flipV="true">
              <a:off x="5047564" y="0"/>
              <a:ext cx="0" cy="4586149"/>
            </a:xfrm>
            <a:prstGeom prst="line">
              <a:avLst/>
            </a:prstGeom>
            <a:ln cap="flat" w="40993">
              <a:solidFill>
                <a:srgbClr val="54DF64"/>
              </a:solidFill>
              <a:prstDash val="solid"/>
              <a:headEnd type="none" len="sm" w="sm"/>
              <a:tailEnd type="none" len="sm" w="sm"/>
            </a:ln>
          </p:spPr>
        </p:sp>
        <p:sp>
          <p:nvSpPr>
            <p:cNvPr name="AutoShape 31" id="31"/>
            <p:cNvSpPr/>
            <p:nvPr/>
          </p:nvSpPr>
          <p:spPr>
            <a:xfrm flipV="true">
              <a:off x="8361800" y="0"/>
              <a:ext cx="0" cy="4586149"/>
            </a:xfrm>
            <a:prstGeom prst="line">
              <a:avLst/>
            </a:prstGeom>
            <a:ln cap="flat" w="40993">
              <a:solidFill>
                <a:srgbClr val="54DF64"/>
              </a:solidFill>
              <a:prstDash val="solid"/>
              <a:headEnd type="none" len="sm" w="sm"/>
              <a:tailEnd type="none" len="sm" w="sm"/>
            </a:ln>
          </p:spPr>
        </p:sp>
        <p:sp>
          <p:nvSpPr>
            <p:cNvPr name="TextBox 32" id="32"/>
            <p:cNvSpPr txBox="true"/>
            <p:nvPr/>
          </p:nvSpPr>
          <p:spPr>
            <a:xfrm rot="0">
              <a:off x="8739500" y="488171"/>
              <a:ext cx="3051036" cy="372610"/>
            </a:xfrm>
            <a:prstGeom prst="rect">
              <a:avLst/>
            </a:prstGeom>
          </p:spPr>
          <p:txBody>
            <a:bodyPr anchor="t" rtlCol="false" tIns="0" lIns="0" bIns="0" rIns="0">
              <a:spAutoFit/>
            </a:bodyPr>
            <a:lstStyle/>
            <a:p>
              <a:pPr algn="l">
                <a:lnSpc>
                  <a:spcPts val="1972"/>
                </a:lnSpc>
              </a:pPr>
              <a:r>
                <a:rPr lang="en-US" sz="2098">
                  <a:solidFill>
                    <a:srgbClr val="54DF64"/>
                  </a:solidFill>
                  <a:latin typeface="Cy Grotesk Wide"/>
                  <a:ea typeface="Cy Grotesk Wide"/>
                  <a:cs typeface="Cy Grotesk Wide"/>
                  <a:sym typeface="Cy Grotesk Wide"/>
                </a:rPr>
                <a:t>Precision</a:t>
              </a:r>
            </a:p>
          </p:txBody>
        </p:sp>
        <p:sp>
          <p:nvSpPr>
            <p:cNvPr name="TextBox 33" id="33"/>
            <p:cNvSpPr txBox="true"/>
            <p:nvPr/>
          </p:nvSpPr>
          <p:spPr>
            <a:xfrm rot="0">
              <a:off x="8789497" y="1687996"/>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0.7910</a:t>
              </a:r>
            </a:p>
          </p:txBody>
        </p:sp>
        <p:sp>
          <p:nvSpPr>
            <p:cNvPr name="TextBox 34" id="34"/>
            <p:cNvSpPr txBox="true"/>
            <p:nvPr/>
          </p:nvSpPr>
          <p:spPr>
            <a:xfrm rot="0">
              <a:off x="8761930" y="2769177"/>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0.8140</a:t>
              </a:r>
            </a:p>
          </p:txBody>
        </p:sp>
        <p:sp>
          <p:nvSpPr>
            <p:cNvPr name="TextBox 35" id="35"/>
            <p:cNvSpPr txBox="true"/>
            <p:nvPr/>
          </p:nvSpPr>
          <p:spPr>
            <a:xfrm rot="0">
              <a:off x="8838101" y="3876240"/>
              <a:ext cx="1791710" cy="316683"/>
            </a:xfrm>
            <a:prstGeom prst="rect">
              <a:avLst/>
            </a:prstGeom>
          </p:spPr>
          <p:txBody>
            <a:bodyPr anchor="t" rtlCol="false" tIns="0" lIns="0" bIns="0" rIns="0">
              <a:spAutoFit/>
            </a:bodyPr>
            <a:lstStyle/>
            <a:p>
              <a:pPr algn="l">
                <a:lnSpc>
                  <a:spcPts val="1668"/>
                </a:lnSpc>
              </a:pPr>
              <a:r>
                <a:rPr lang="en-US" sz="1775">
                  <a:solidFill>
                    <a:srgbClr val="000000"/>
                  </a:solidFill>
                  <a:latin typeface="Cy Grotesk Wide"/>
                  <a:ea typeface="Cy Grotesk Wide"/>
                  <a:cs typeface="Cy Grotesk Wide"/>
                  <a:sym typeface="Cy Grotesk Wide"/>
                </a:rPr>
                <a:t>0.8660</a:t>
              </a:r>
            </a:p>
          </p:txBody>
        </p:sp>
        <p:sp>
          <p:nvSpPr>
            <p:cNvPr name="AutoShape 36" id="36"/>
            <p:cNvSpPr/>
            <p:nvPr/>
          </p:nvSpPr>
          <p:spPr>
            <a:xfrm flipV="true">
              <a:off x="11676961" y="0"/>
              <a:ext cx="0" cy="4586149"/>
            </a:xfrm>
            <a:prstGeom prst="line">
              <a:avLst/>
            </a:prstGeom>
            <a:ln cap="flat" w="40993">
              <a:solidFill>
                <a:srgbClr val="54DF64"/>
              </a:solidFill>
              <a:prstDash val="solid"/>
              <a:headEnd type="none" len="sm" w="sm"/>
              <a:tailEnd type="none" len="sm" w="sm"/>
            </a:ln>
          </p:spPr>
        </p:sp>
        <p:sp>
          <p:nvSpPr>
            <p:cNvPr name="TextBox 37" id="37"/>
            <p:cNvSpPr txBox="true"/>
            <p:nvPr/>
          </p:nvSpPr>
          <p:spPr>
            <a:xfrm rot="0">
              <a:off x="12046883" y="482322"/>
              <a:ext cx="3051036" cy="372610"/>
            </a:xfrm>
            <a:prstGeom prst="rect">
              <a:avLst/>
            </a:prstGeom>
          </p:spPr>
          <p:txBody>
            <a:bodyPr anchor="t" rtlCol="false" tIns="0" lIns="0" bIns="0" rIns="0">
              <a:spAutoFit/>
            </a:bodyPr>
            <a:lstStyle/>
            <a:p>
              <a:pPr algn="l">
                <a:lnSpc>
                  <a:spcPts val="1972"/>
                </a:lnSpc>
              </a:pPr>
              <a:r>
                <a:rPr lang="en-US" sz="2098" b="true">
                  <a:solidFill>
                    <a:srgbClr val="54DF64"/>
                  </a:solidFill>
                  <a:latin typeface="Cy Grotesk Wide Bold"/>
                  <a:ea typeface="Cy Grotesk Wide Bold"/>
                  <a:cs typeface="Cy Grotesk Wide Bold"/>
                  <a:sym typeface="Cy Grotesk Wide Bold"/>
                </a:rPr>
                <a:t>Recall</a:t>
              </a:r>
            </a:p>
          </p:txBody>
        </p:sp>
        <p:sp>
          <p:nvSpPr>
            <p:cNvPr name="AutoShape 38" id="38"/>
            <p:cNvSpPr/>
            <p:nvPr/>
          </p:nvSpPr>
          <p:spPr>
            <a:xfrm flipV="true">
              <a:off x="14900092" y="37093"/>
              <a:ext cx="0" cy="4549057"/>
            </a:xfrm>
            <a:prstGeom prst="line">
              <a:avLst/>
            </a:prstGeom>
            <a:ln cap="flat" w="40993">
              <a:solidFill>
                <a:srgbClr val="54DF64"/>
              </a:solidFill>
              <a:prstDash val="solid"/>
              <a:headEnd type="none" len="sm" w="sm"/>
              <a:tailEnd type="none" len="sm" w="sm"/>
            </a:ln>
          </p:spPr>
        </p:sp>
        <p:sp>
          <p:nvSpPr>
            <p:cNvPr name="TextBox 39" id="39"/>
            <p:cNvSpPr txBox="true"/>
            <p:nvPr/>
          </p:nvSpPr>
          <p:spPr>
            <a:xfrm rot="0">
              <a:off x="15194405" y="482322"/>
              <a:ext cx="3051036" cy="372610"/>
            </a:xfrm>
            <a:prstGeom prst="rect">
              <a:avLst/>
            </a:prstGeom>
          </p:spPr>
          <p:txBody>
            <a:bodyPr anchor="t" rtlCol="false" tIns="0" lIns="0" bIns="0" rIns="0">
              <a:spAutoFit/>
            </a:bodyPr>
            <a:lstStyle/>
            <a:p>
              <a:pPr algn="l">
                <a:lnSpc>
                  <a:spcPts val="1972"/>
                </a:lnSpc>
              </a:pPr>
              <a:r>
                <a:rPr lang="en-US" sz="2098">
                  <a:solidFill>
                    <a:srgbClr val="54DF64"/>
                  </a:solidFill>
                  <a:latin typeface="Cy Grotesk Wide"/>
                  <a:ea typeface="Cy Grotesk Wide"/>
                  <a:cs typeface="Cy Grotesk Wide"/>
                  <a:sym typeface="Cy Grotesk Wide"/>
                </a:rPr>
                <a:t>F1-Score</a:t>
              </a:r>
            </a:p>
          </p:txBody>
        </p:sp>
        <p:sp>
          <p:nvSpPr>
            <p:cNvPr name="AutoShape 40" id="40"/>
            <p:cNvSpPr/>
            <p:nvPr/>
          </p:nvSpPr>
          <p:spPr>
            <a:xfrm flipH="true" flipV="true">
              <a:off x="18033830" y="37093"/>
              <a:ext cx="0" cy="4586149"/>
            </a:xfrm>
            <a:prstGeom prst="line">
              <a:avLst/>
            </a:prstGeom>
            <a:ln cap="flat" w="40993">
              <a:solidFill>
                <a:srgbClr val="54DF64"/>
              </a:solidFill>
              <a:prstDash val="solid"/>
              <a:headEnd type="none" len="sm" w="sm"/>
              <a:tailEnd type="none" len="sm" w="sm"/>
            </a:ln>
          </p:spPr>
        </p:sp>
        <p:sp>
          <p:nvSpPr>
            <p:cNvPr name="TextBox 41" id="41"/>
            <p:cNvSpPr txBox="true"/>
            <p:nvPr/>
          </p:nvSpPr>
          <p:spPr>
            <a:xfrm rot="0">
              <a:off x="18452195" y="482322"/>
              <a:ext cx="3051036" cy="372610"/>
            </a:xfrm>
            <a:prstGeom prst="rect">
              <a:avLst/>
            </a:prstGeom>
          </p:spPr>
          <p:txBody>
            <a:bodyPr anchor="t" rtlCol="false" tIns="0" lIns="0" bIns="0" rIns="0">
              <a:spAutoFit/>
            </a:bodyPr>
            <a:lstStyle/>
            <a:p>
              <a:pPr algn="l">
                <a:lnSpc>
                  <a:spcPts val="1972"/>
                </a:lnSpc>
              </a:pPr>
              <a:r>
                <a:rPr lang="en-US" sz="2098">
                  <a:solidFill>
                    <a:srgbClr val="54DF64"/>
                  </a:solidFill>
                  <a:latin typeface="Cy Grotesk Wide"/>
                  <a:ea typeface="Cy Grotesk Wide"/>
                  <a:cs typeface="Cy Grotesk Wide"/>
                  <a:sym typeface="Cy Grotesk Wide"/>
                </a:rPr>
                <a:t>AUC-ROC</a:t>
              </a:r>
            </a:p>
          </p:txBody>
        </p:sp>
        <p:sp>
          <p:nvSpPr>
            <p:cNvPr name="TextBox 42" id="42"/>
            <p:cNvSpPr txBox="true"/>
            <p:nvPr/>
          </p:nvSpPr>
          <p:spPr>
            <a:xfrm rot="0">
              <a:off x="12088639" y="1698244"/>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0.8240</a:t>
              </a:r>
            </a:p>
          </p:txBody>
        </p:sp>
        <p:sp>
          <p:nvSpPr>
            <p:cNvPr name="TextBox 43" id="43"/>
            <p:cNvSpPr txBox="true"/>
            <p:nvPr/>
          </p:nvSpPr>
          <p:spPr>
            <a:xfrm rot="0">
              <a:off x="12061072" y="2779425"/>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0.8310</a:t>
              </a:r>
            </a:p>
          </p:txBody>
        </p:sp>
        <p:sp>
          <p:nvSpPr>
            <p:cNvPr name="TextBox 44" id="44"/>
            <p:cNvSpPr txBox="true"/>
            <p:nvPr/>
          </p:nvSpPr>
          <p:spPr>
            <a:xfrm rot="0">
              <a:off x="12145604" y="3919639"/>
              <a:ext cx="1983241" cy="316683"/>
            </a:xfrm>
            <a:prstGeom prst="rect">
              <a:avLst/>
            </a:prstGeom>
          </p:spPr>
          <p:txBody>
            <a:bodyPr anchor="t" rtlCol="false" tIns="0" lIns="0" bIns="0" rIns="0">
              <a:spAutoFit/>
            </a:bodyPr>
            <a:lstStyle/>
            <a:p>
              <a:pPr algn="l">
                <a:lnSpc>
                  <a:spcPts val="1668"/>
                </a:lnSpc>
              </a:pPr>
              <a:r>
                <a:rPr lang="en-US" sz="1775" b="true">
                  <a:solidFill>
                    <a:srgbClr val="000000"/>
                  </a:solidFill>
                  <a:latin typeface="Cy Grotesk Wide Bold"/>
                  <a:ea typeface="Cy Grotesk Wide Bold"/>
                  <a:cs typeface="Cy Grotesk Wide Bold"/>
                  <a:sym typeface="Cy Grotesk Wide Bold"/>
                </a:rPr>
                <a:t>0.8490</a:t>
              </a:r>
            </a:p>
          </p:txBody>
        </p:sp>
        <p:sp>
          <p:nvSpPr>
            <p:cNvPr name="TextBox 45" id="45"/>
            <p:cNvSpPr txBox="true"/>
            <p:nvPr/>
          </p:nvSpPr>
          <p:spPr>
            <a:xfrm rot="0">
              <a:off x="15314006" y="1698244"/>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0.8072</a:t>
              </a:r>
            </a:p>
          </p:txBody>
        </p:sp>
        <p:sp>
          <p:nvSpPr>
            <p:cNvPr name="TextBox 46" id="46"/>
            <p:cNvSpPr txBox="true"/>
            <p:nvPr/>
          </p:nvSpPr>
          <p:spPr>
            <a:xfrm rot="0">
              <a:off x="15286438" y="2779425"/>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0.8224</a:t>
              </a:r>
            </a:p>
          </p:txBody>
        </p:sp>
        <p:sp>
          <p:nvSpPr>
            <p:cNvPr name="TextBox 47" id="47"/>
            <p:cNvSpPr txBox="true"/>
            <p:nvPr/>
          </p:nvSpPr>
          <p:spPr>
            <a:xfrm rot="0">
              <a:off x="15362609" y="3886488"/>
              <a:ext cx="1877767" cy="316683"/>
            </a:xfrm>
            <a:prstGeom prst="rect">
              <a:avLst/>
            </a:prstGeom>
          </p:spPr>
          <p:txBody>
            <a:bodyPr anchor="t" rtlCol="false" tIns="0" lIns="0" bIns="0" rIns="0">
              <a:spAutoFit/>
            </a:bodyPr>
            <a:lstStyle/>
            <a:p>
              <a:pPr algn="l">
                <a:lnSpc>
                  <a:spcPts val="1668"/>
                </a:lnSpc>
              </a:pPr>
              <a:r>
                <a:rPr lang="en-US" sz="1775">
                  <a:solidFill>
                    <a:srgbClr val="000000"/>
                  </a:solidFill>
                  <a:latin typeface="Cy Grotesk Wide"/>
                  <a:ea typeface="Cy Grotesk Wide"/>
                  <a:cs typeface="Cy Grotesk Wide"/>
                  <a:sym typeface="Cy Grotesk Wide"/>
                </a:rPr>
                <a:t>0.8570</a:t>
              </a:r>
            </a:p>
          </p:txBody>
        </p:sp>
        <p:sp>
          <p:nvSpPr>
            <p:cNvPr name="TextBox 48" id="48"/>
            <p:cNvSpPr txBox="true"/>
            <p:nvPr/>
          </p:nvSpPr>
          <p:spPr>
            <a:xfrm rot="0">
              <a:off x="18447744" y="1698244"/>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0.8210</a:t>
              </a:r>
            </a:p>
          </p:txBody>
        </p:sp>
        <p:sp>
          <p:nvSpPr>
            <p:cNvPr name="TextBox 49" id="49"/>
            <p:cNvSpPr txBox="true"/>
            <p:nvPr/>
          </p:nvSpPr>
          <p:spPr>
            <a:xfrm rot="0">
              <a:off x="18420176" y="2779425"/>
              <a:ext cx="1757612" cy="316683"/>
            </a:xfrm>
            <a:prstGeom prst="rect">
              <a:avLst/>
            </a:prstGeom>
          </p:spPr>
          <p:txBody>
            <a:bodyPr anchor="t" rtlCol="false" tIns="0" lIns="0" bIns="0" rIns="0">
              <a:spAutoFit/>
            </a:bodyPr>
            <a:lstStyle/>
            <a:p>
              <a:pPr algn="l">
                <a:lnSpc>
                  <a:spcPts val="1668"/>
                </a:lnSpc>
              </a:pPr>
              <a:r>
                <a:rPr lang="en-US" sz="1775">
                  <a:solidFill>
                    <a:srgbClr val="F8F6F0"/>
                  </a:solidFill>
                  <a:latin typeface="Cy Grotesk Wide"/>
                  <a:ea typeface="Cy Grotesk Wide"/>
                  <a:cs typeface="Cy Grotesk Wide"/>
                  <a:sym typeface="Cy Grotesk Wide"/>
                </a:rPr>
                <a:t>0.8340</a:t>
              </a:r>
            </a:p>
          </p:txBody>
        </p:sp>
        <p:sp>
          <p:nvSpPr>
            <p:cNvPr name="TextBox 50" id="50"/>
            <p:cNvSpPr txBox="true"/>
            <p:nvPr/>
          </p:nvSpPr>
          <p:spPr>
            <a:xfrm rot="0">
              <a:off x="18496347" y="3886488"/>
              <a:ext cx="2362948" cy="316683"/>
            </a:xfrm>
            <a:prstGeom prst="rect">
              <a:avLst/>
            </a:prstGeom>
          </p:spPr>
          <p:txBody>
            <a:bodyPr anchor="t" rtlCol="false" tIns="0" lIns="0" bIns="0" rIns="0">
              <a:spAutoFit/>
            </a:bodyPr>
            <a:lstStyle/>
            <a:p>
              <a:pPr algn="l">
                <a:lnSpc>
                  <a:spcPts val="1668"/>
                </a:lnSpc>
              </a:pPr>
              <a:r>
                <a:rPr lang="en-US" sz="1775">
                  <a:solidFill>
                    <a:srgbClr val="000000"/>
                  </a:solidFill>
                  <a:latin typeface="Cy Grotesk Wide"/>
                  <a:ea typeface="Cy Grotesk Wide"/>
                  <a:cs typeface="Cy Grotesk Wide"/>
                  <a:sym typeface="Cy Grotesk Wide"/>
                </a:rPr>
                <a:t>0.8400</a:t>
              </a:r>
            </a:p>
          </p:txBody>
        </p:sp>
        <p:sp>
          <p:nvSpPr>
            <p:cNvPr name="AutoShape 51" id="51"/>
            <p:cNvSpPr/>
            <p:nvPr/>
          </p:nvSpPr>
          <p:spPr>
            <a:xfrm flipH="true">
              <a:off x="5045664" y="3405306"/>
              <a:ext cx="0" cy="1187104"/>
            </a:xfrm>
            <a:prstGeom prst="line">
              <a:avLst/>
            </a:prstGeom>
            <a:ln cap="flat" w="40993">
              <a:solidFill>
                <a:srgbClr val="000000"/>
              </a:solidFill>
              <a:prstDash val="solid"/>
              <a:headEnd type="none" len="sm" w="sm"/>
              <a:tailEnd type="none" len="sm" w="sm"/>
            </a:ln>
          </p:spPr>
        </p:sp>
        <p:sp>
          <p:nvSpPr>
            <p:cNvPr name="AutoShape 52" id="52"/>
            <p:cNvSpPr/>
            <p:nvPr/>
          </p:nvSpPr>
          <p:spPr>
            <a:xfrm>
              <a:off x="8364328" y="3405306"/>
              <a:ext cx="0" cy="1187104"/>
            </a:xfrm>
            <a:prstGeom prst="line">
              <a:avLst/>
            </a:prstGeom>
            <a:ln cap="flat" w="40993">
              <a:solidFill>
                <a:srgbClr val="000000"/>
              </a:solidFill>
              <a:prstDash val="solid"/>
              <a:headEnd type="none" len="sm" w="sm"/>
              <a:tailEnd type="none" len="sm" w="sm"/>
            </a:ln>
          </p:spPr>
        </p:sp>
        <p:sp>
          <p:nvSpPr>
            <p:cNvPr name="AutoShape 53" id="53"/>
            <p:cNvSpPr/>
            <p:nvPr/>
          </p:nvSpPr>
          <p:spPr>
            <a:xfrm>
              <a:off x="11681409" y="3405306"/>
              <a:ext cx="0" cy="1187104"/>
            </a:xfrm>
            <a:prstGeom prst="line">
              <a:avLst/>
            </a:prstGeom>
            <a:ln cap="flat" w="40993">
              <a:solidFill>
                <a:srgbClr val="000000"/>
              </a:solidFill>
              <a:prstDash val="solid"/>
              <a:headEnd type="none" len="sm" w="sm"/>
              <a:tailEnd type="none" len="sm" w="sm"/>
            </a:ln>
          </p:spPr>
        </p:sp>
        <p:sp>
          <p:nvSpPr>
            <p:cNvPr name="AutoShape 54" id="54"/>
            <p:cNvSpPr/>
            <p:nvPr/>
          </p:nvSpPr>
          <p:spPr>
            <a:xfrm>
              <a:off x="14906548" y="3405306"/>
              <a:ext cx="0" cy="1187104"/>
            </a:xfrm>
            <a:prstGeom prst="line">
              <a:avLst/>
            </a:prstGeom>
            <a:ln cap="flat" w="40993">
              <a:solidFill>
                <a:srgbClr val="000000"/>
              </a:solidFill>
              <a:prstDash val="solid"/>
              <a:headEnd type="none" len="sm" w="sm"/>
              <a:tailEnd type="none" len="sm" w="sm"/>
            </a:ln>
          </p:spPr>
        </p:sp>
        <p:sp>
          <p:nvSpPr>
            <p:cNvPr name="AutoShape 55" id="55"/>
            <p:cNvSpPr/>
            <p:nvPr/>
          </p:nvSpPr>
          <p:spPr>
            <a:xfrm>
              <a:off x="18032033" y="3405306"/>
              <a:ext cx="0" cy="1217936"/>
            </a:xfrm>
            <a:prstGeom prst="line">
              <a:avLst/>
            </a:prstGeom>
            <a:ln cap="flat" w="40993">
              <a:solidFill>
                <a:srgbClr val="000000"/>
              </a:solidFill>
              <a:prstDash val="solid"/>
              <a:headEnd type="none" len="sm" w="sm"/>
              <a:tailEnd type="none" len="sm" w="sm"/>
            </a:ln>
          </p:spPr>
        </p:sp>
      </p:grpSp>
      <p:grpSp>
        <p:nvGrpSpPr>
          <p:cNvPr name="Group 56" id="56"/>
          <p:cNvGrpSpPr/>
          <p:nvPr/>
        </p:nvGrpSpPr>
        <p:grpSpPr>
          <a:xfrm rot="0">
            <a:off x="1028700" y="7434079"/>
            <a:ext cx="8612207" cy="2302096"/>
            <a:chOff x="0" y="0"/>
            <a:chExt cx="11482943" cy="3069461"/>
          </a:xfrm>
        </p:grpSpPr>
        <p:grpSp>
          <p:nvGrpSpPr>
            <p:cNvPr name="Group 57" id="57"/>
            <p:cNvGrpSpPr/>
            <p:nvPr/>
          </p:nvGrpSpPr>
          <p:grpSpPr>
            <a:xfrm rot="0">
              <a:off x="0" y="0"/>
              <a:ext cx="10668074" cy="3069461"/>
              <a:chOff x="0" y="0"/>
              <a:chExt cx="3281218" cy="944085"/>
            </a:xfrm>
          </p:grpSpPr>
          <p:sp>
            <p:nvSpPr>
              <p:cNvPr name="Freeform 58" id="58"/>
              <p:cNvSpPr/>
              <p:nvPr/>
            </p:nvSpPr>
            <p:spPr>
              <a:xfrm flipH="false" flipV="false" rot="0">
                <a:off x="0" y="0"/>
                <a:ext cx="3281218" cy="944085"/>
              </a:xfrm>
              <a:custGeom>
                <a:avLst/>
                <a:gdLst/>
                <a:ahLst/>
                <a:cxnLst/>
                <a:rect r="r" b="b" t="t" l="l"/>
                <a:pathLst>
                  <a:path h="944085" w="3281218">
                    <a:moveTo>
                      <a:pt x="16449" y="0"/>
                    </a:moveTo>
                    <a:lnTo>
                      <a:pt x="3264769" y="0"/>
                    </a:lnTo>
                    <a:cubicBezTo>
                      <a:pt x="3273853" y="0"/>
                      <a:pt x="3281218" y="7365"/>
                      <a:pt x="3281218" y="16449"/>
                    </a:cubicBezTo>
                    <a:lnTo>
                      <a:pt x="3281218" y="927636"/>
                    </a:lnTo>
                    <a:cubicBezTo>
                      <a:pt x="3281218" y="936720"/>
                      <a:pt x="3273853" y="944085"/>
                      <a:pt x="3264769" y="944085"/>
                    </a:cubicBezTo>
                    <a:lnTo>
                      <a:pt x="16449" y="944085"/>
                    </a:lnTo>
                    <a:cubicBezTo>
                      <a:pt x="12087" y="944085"/>
                      <a:pt x="7903" y="942352"/>
                      <a:pt x="4818" y="939267"/>
                    </a:cubicBezTo>
                    <a:cubicBezTo>
                      <a:pt x="1733" y="936182"/>
                      <a:pt x="0" y="931998"/>
                      <a:pt x="0" y="927636"/>
                    </a:cubicBezTo>
                    <a:lnTo>
                      <a:pt x="0" y="16449"/>
                    </a:lnTo>
                    <a:cubicBezTo>
                      <a:pt x="0" y="7365"/>
                      <a:pt x="7365" y="0"/>
                      <a:pt x="16449" y="0"/>
                    </a:cubicBezTo>
                    <a:close/>
                  </a:path>
                </a:pathLst>
              </a:custGeom>
              <a:ln w="47625" cap="sq">
                <a:solidFill>
                  <a:srgbClr val="54DF64"/>
                </a:solidFill>
                <a:prstDash val="solid"/>
                <a:miter/>
              </a:ln>
            </p:spPr>
          </p:sp>
          <p:sp>
            <p:nvSpPr>
              <p:cNvPr name="TextBox 59" id="59"/>
              <p:cNvSpPr txBox="true"/>
              <p:nvPr/>
            </p:nvSpPr>
            <p:spPr>
              <a:xfrm>
                <a:off x="0" y="-47625"/>
                <a:ext cx="3281218" cy="991710"/>
              </a:xfrm>
              <a:prstGeom prst="rect">
                <a:avLst/>
              </a:prstGeom>
            </p:spPr>
            <p:txBody>
              <a:bodyPr anchor="ctr" rtlCol="false" tIns="50800" lIns="50800" bIns="50800" rIns="50800"/>
              <a:lstStyle/>
              <a:p>
                <a:pPr algn="ctr">
                  <a:lnSpc>
                    <a:spcPts val="2659"/>
                  </a:lnSpc>
                </a:pPr>
              </a:p>
            </p:txBody>
          </p:sp>
        </p:grpSp>
        <p:sp>
          <p:nvSpPr>
            <p:cNvPr name="TextBox 60" id="60"/>
            <p:cNvSpPr txBox="true"/>
            <p:nvPr/>
          </p:nvSpPr>
          <p:spPr>
            <a:xfrm rot="0">
              <a:off x="394178" y="1383656"/>
              <a:ext cx="4300139" cy="337672"/>
            </a:xfrm>
            <a:prstGeom prst="rect">
              <a:avLst/>
            </a:prstGeom>
          </p:spPr>
          <p:txBody>
            <a:bodyPr anchor="t" rtlCol="false" tIns="0" lIns="0" bIns="0" rIns="0">
              <a:spAutoFit/>
            </a:bodyPr>
            <a:lstStyle/>
            <a:p>
              <a:pPr algn="l">
                <a:lnSpc>
                  <a:spcPts val="1784"/>
                </a:lnSpc>
              </a:pPr>
              <a:r>
                <a:rPr lang="en-US" sz="1898">
                  <a:solidFill>
                    <a:srgbClr val="54DF64"/>
                  </a:solidFill>
                  <a:latin typeface="Cy Grotesk Wide"/>
                  <a:ea typeface="Cy Grotesk Wide"/>
                  <a:cs typeface="Cy Grotesk Wide"/>
                  <a:sym typeface="Cy Grotesk Wide"/>
                </a:rPr>
                <a:t>Real regular</a:t>
              </a:r>
            </a:p>
          </p:txBody>
        </p:sp>
        <p:sp>
          <p:nvSpPr>
            <p:cNvPr name="TextBox 61" id="61"/>
            <p:cNvSpPr txBox="true"/>
            <p:nvPr/>
          </p:nvSpPr>
          <p:spPr>
            <a:xfrm rot="0">
              <a:off x="394178" y="2326957"/>
              <a:ext cx="3220139" cy="337672"/>
            </a:xfrm>
            <a:prstGeom prst="rect">
              <a:avLst/>
            </a:prstGeom>
          </p:spPr>
          <p:txBody>
            <a:bodyPr anchor="t" rtlCol="false" tIns="0" lIns="0" bIns="0" rIns="0">
              <a:spAutoFit/>
            </a:bodyPr>
            <a:lstStyle/>
            <a:p>
              <a:pPr algn="l">
                <a:lnSpc>
                  <a:spcPts val="1784"/>
                </a:lnSpc>
              </a:pPr>
              <a:r>
                <a:rPr lang="en-US" sz="1898">
                  <a:solidFill>
                    <a:srgbClr val="54DF64"/>
                  </a:solidFill>
                  <a:latin typeface="Cy Grotesk Wide"/>
                  <a:ea typeface="Cy Grotesk Wide"/>
                  <a:cs typeface="Cy Grotesk Wide"/>
                  <a:sym typeface="Cy Grotesk Wide"/>
                </a:rPr>
                <a:t>Real abandono</a:t>
              </a:r>
            </a:p>
          </p:txBody>
        </p:sp>
        <p:sp>
          <p:nvSpPr>
            <p:cNvPr name="TextBox 62" id="62"/>
            <p:cNvSpPr txBox="true"/>
            <p:nvPr/>
          </p:nvSpPr>
          <p:spPr>
            <a:xfrm rot="0">
              <a:off x="3841576" y="1459000"/>
              <a:ext cx="1848555" cy="274447"/>
            </a:xfrm>
            <a:prstGeom prst="rect">
              <a:avLst/>
            </a:prstGeom>
          </p:spPr>
          <p:txBody>
            <a:bodyPr anchor="t" rtlCol="false" tIns="0" lIns="0" bIns="0" rIns="0">
              <a:spAutoFit/>
            </a:bodyPr>
            <a:lstStyle/>
            <a:p>
              <a:pPr algn="l">
                <a:lnSpc>
                  <a:spcPts val="1448"/>
                </a:lnSpc>
              </a:pPr>
              <a:r>
                <a:rPr lang="en-US" sz="1541">
                  <a:solidFill>
                    <a:srgbClr val="F8F6F0"/>
                  </a:solidFill>
                  <a:latin typeface="Cy Grotesk Wide"/>
                  <a:ea typeface="Cy Grotesk Wide"/>
                  <a:cs typeface="Cy Grotesk Wide"/>
                  <a:sym typeface="Cy Grotesk Wide"/>
                </a:rPr>
                <a:t>2.480 - TN</a:t>
              </a:r>
            </a:p>
          </p:txBody>
        </p:sp>
        <p:sp>
          <p:nvSpPr>
            <p:cNvPr name="TextBox 63" id="63"/>
            <p:cNvSpPr txBox="true"/>
            <p:nvPr/>
          </p:nvSpPr>
          <p:spPr>
            <a:xfrm rot="0">
              <a:off x="3841576" y="2402301"/>
              <a:ext cx="1848555" cy="274447"/>
            </a:xfrm>
            <a:prstGeom prst="rect">
              <a:avLst/>
            </a:prstGeom>
          </p:spPr>
          <p:txBody>
            <a:bodyPr anchor="t" rtlCol="false" tIns="0" lIns="0" bIns="0" rIns="0">
              <a:spAutoFit/>
            </a:bodyPr>
            <a:lstStyle/>
            <a:p>
              <a:pPr algn="l">
                <a:lnSpc>
                  <a:spcPts val="1448"/>
                </a:lnSpc>
              </a:pPr>
              <a:r>
                <a:rPr lang="en-US" sz="1541">
                  <a:solidFill>
                    <a:srgbClr val="F8F6F0"/>
                  </a:solidFill>
                  <a:latin typeface="Cy Grotesk Wide"/>
                  <a:ea typeface="Cy Grotesk Wide"/>
                  <a:cs typeface="Cy Grotesk Wide"/>
                  <a:sym typeface="Cy Grotesk Wide"/>
                </a:rPr>
                <a:t>580 - FN</a:t>
              </a:r>
            </a:p>
          </p:txBody>
        </p:sp>
        <p:sp>
          <p:nvSpPr>
            <p:cNvPr name="AutoShape 64" id="64"/>
            <p:cNvSpPr/>
            <p:nvPr/>
          </p:nvSpPr>
          <p:spPr>
            <a:xfrm flipH="true" flipV="true">
              <a:off x="0" y="2001511"/>
              <a:ext cx="10668074" cy="0"/>
            </a:xfrm>
            <a:prstGeom prst="line">
              <a:avLst/>
            </a:prstGeom>
            <a:ln cap="flat" w="38100">
              <a:solidFill>
                <a:srgbClr val="54DF64"/>
              </a:solidFill>
              <a:prstDash val="solid"/>
              <a:headEnd type="none" len="sm" w="sm"/>
              <a:tailEnd type="none" len="sm" w="sm"/>
            </a:ln>
          </p:spPr>
        </p:sp>
        <p:sp>
          <p:nvSpPr>
            <p:cNvPr name="TextBox 65" id="65"/>
            <p:cNvSpPr txBox="true"/>
            <p:nvPr/>
          </p:nvSpPr>
          <p:spPr>
            <a:xfrm rot="0">
              <a:off x="403138" y="413127"/>
              <a:ext cx="4300139" cy="359332"/>
            </a:xfrm>
            <a:prstGeom prst="rect">
              <a:avLst/>
            </a:prstGeom>
          </p:spPr>
          <p:txBody>
            <a:bodyPr anchor="t" rtlCol="false" tIns="0" lIns="0" bIns="0" rIns="0">
              <a:spAutoFit/>
            </a:bodyPr>
            <a:lstStyle/>
            <a:p>
              <a:pPr algn="l">
                <a:lnSpc>
                  <a:spcPts val="1866"/>
                </a:lnSpc>
              </a:pPr>
            </a:p>
          </p:txBody>
        </p:sp>
        <p:sp>
          <p:nvSpPr>
            <p:cNvPr name="AutoShape 66" id="66"/>
            <p:cNvSpPr/>
            <p:nvPr/>
          </p:nvSpPr>
          <p:spPr>
            <a:xfrm flipH="true">
              <a:off x="0" y="1061791"/>
              <a:ext cx="10668074" cy="0"/>
            </a:xfrm>
            <a:prstGeom prst="line">
              <a:avLst/>
            </a:prstGeom>
            <a:ln cap="flat" w="38100">
              <a:solidFill>
                <a:srgbClr val="54DF64"/>
              </a:solidFill>
              <a:prstDash val="solid"/>
              <a:headEnd type="none" len="sm" w="sm"/>
              <a:tailEnd type="none" len="sm" w="sm"/>
            </a:ln>
          </p:spPr>
        </p:sp>
        <p:sp>
          <p:nvSpPr>
            <p:cNvPr name="TextBox 67" id="67"/>
            <p:cNvSpPr txBox="true"/>
            <p:nvPr/>
          </p:nvSpPr>
          <p:spPr>
            <a:xfrm rot="0">
              <a:off x="3841576" y="430813"/>
              <a:ext cx="4300139" cy="359332"/>
            </a:xfrm>
            <a:prstGeom prst="rect">
              <a:avLst/>
            </a:prstGeom>
          </p:spPr>
          <p:txBody>
            <a:bodyPr anchor="t" rtlCol="false" tIns="0" lIns="0" bIns="0" rIns="0">
              <a:spAutoFit/>
            </a:bodyPr>
            <a:lstStyle/>
            <a:p>
              <a:pPr algn="l">
                <a:lnSpc>
                  <a:spcPts val="1866"/>
                </a:lnSpc>
              </a:pPr>
              <a:r>
                <a:rPr lang="en-US" sz="1985">
                  <a:solidFill>
                    <a:srgbClr val="54DF64"/>
                  </a:solidFill>
                  <a:latin typeface="Cy Grotesk Wide"/>
                  <a:ea typeface="Cy Grotesk Wide"/>
                  <a:cs typeface="Cy Grotesk Wide"/>
                  <a:sym typeface="Cy Grotesk Wide"/>
                </a:rPr>
                <a:t>Pred. regular</a:t>
              </a:r>
            </a:p>
          </p:txBody>
        </p:sp>
        <p:sp>
          <p:nvSpPr>
            <p:cNvPr name="AutoShape 68" id="68"/>
            <p:cNvSpPr/>
            <p:nvPr/>
          </p:nvSpPr>
          <p:spPr>
            <a:xfrm flipH="true" flipV="true">
              <a:off x="3419494" y="0"/>
              <a:ext cx="0" cy="3004085"/>
            </a:xfrm>
            <a:prstGeom prst="line">
              <a:avLst/>
            </a:prstGeom>
            <a:ln cap="flat" w="38100">
              <a:solidFill>
                <a:srgbClr val="54DF64"/>
              </a:solidFill>
              <a:prstDash val="solid"/>
              <a:headEnd type="none" len="sm" w="sm"/>
              <a:tailEnd type="none" len="sm" w="sm"/>
            </a:ln>
          </p:spPr>
        </p:sp>
        <p:sp>
          <p:nvSpPr>
            <p:cNvPr name="TextBox 69" id="69"/>
            <p:cNvSpPr txBox="true"/>
            <p:nvPr/>
          </p:nvSpPr>
          <p:spPr>
            <a:xfrm rot="0">
              <a:off x="7182804" y="430813"/>
              <a:ext cx="4300139" cy="359332"/>
            </a:xfrm>
            <a:prstGeom prst="rect">
              <a:avLst/>
            </a:prstGeom>
          </p:spPr>
          <p:txBody>
            <a:bodyPr anchor="t" rtlCol="false" tIns="0" lIns="0" bIns="0" rIns="0">
              <a:spAutoFit/>
            </a:bodyPr>
            <a:lstStyle/>
            <a:p>
              <a:pPr algn="l">
                <a:lnSpc>
                  <a:spcPts val="1866"/>
                </a:lnSpc>
              </a:pPr>
              <a:r>
                <a:rPr lang="en-US" sz="1985">
                  <a:solidFill>
                    <a:srgbClr val="54DF64"/>
                  </a:solidFill>
                  <a:latin typeface="Cy Grotesk Wide"/>
                  <a:ea typeface="Cy Grotesk Wide"/>
                  <a:cs typeface="Cy Grotesk Wide"/>
                  <a:sym typeface="Cy Grotesk Wide"/>
                </a:rPr>
                <a:t>Pred. abandono</a:t>
              </a:r>
            </a:p>
          </p:txBody>
        </p:sp>
        <p:sp>
          <p:nvSpPr>
            <p:cNvPr name="AutoShape 70" id="70"/>
            <p:cNvSpPr/>
            <p:nvPr/>
          </p:nvSpPr>
          <p:spPr>
            <a:xfrm flipH="true" flipV="true">
              <a:off x="6759638" y="0"/>
              <a:ext cx="0" cy="3004085"/>
            </a:xfrm>
            <a:prstGeom prst="line">
              <a:avLst/>
            </a:prstGeom>
            <a:ln cap="flat" w="38100">
              <a:solidFill>
                <a:srgbClr val="54DF64"/>
              </a:solidFill>
              <a:prstDash val="solid"/>
              <a:headEnd type="none" len="sm" w="sm"/>
              <a:tailEnd type="none" len="sm" w="sm"/>
            </a:ln>
          </p:spPr>
        </p:sp>
        <p:sp>
          <p:nvSpPr>
            <p:cNvPr name="TextBox 71" id="71"/>
            <p:cNvSpPr txBox="true"/>
            <p:nvPr/>
          </p:nvSpPr>
          <p:spPr>
            <a:xfrm rot="0">
              <a:off x="7182804" y="1459000"/>
              <a:ext cx="1848555" cy="274447"/>
            </a:xfrm>
            <a:prstGeom prst="rect">
              <a:avLst/>
            </a:prstGeom>
          </p:spPr>
          <p:txBody>
            <a:bodyPr anchor="t" rtlCol="false" tIns="0" lIns="0" bIns="0" rIns="0">
              <a:spAutoFit/>
            </a:bodyPr>
            <a:lstStyle/>
            <a:p>
              <a:pPr algn="l">
                <a:lnSpc>
                  <a:spcPts val="1448"/>
                </a:lnSpc>
              </a:pPr>
              <a:r>
                <a:rPr lang="en-US" sz="1541">
                  <a:solidFill>
                    <a:srgbClr val="F8F6F0"/>
                  </a:solidFill>
                  <a:latin typeface="Cy Grotesk Wide"/>
                  <a:ea typeface="Cy Grotesk Wide"/>
                  <a:cs typeface="Cy Grotesk Wide"/>
                  <a:sym typeface="Cy Grotesk Wide"/>
                </a:rPr>
                <a:t>800 - FP</a:t>
              </a:r>
            </a:p>
          </p:txBody>
        </p:sp>
        <p:sp>
          <p:nvSpPr>
            <p:cNvPr name="TextBox 72" id="72"/>
            <p:cNvSpPr txBox="true"/>
            <p:nvPr/>
          </p:nvSpPr>
          <p:spPr>
            <a:xfrm rot="0">
              <a:off x="7182804" y="2402301"/>
              <a:ext cx="1848555" cy="274447"/>
            </a:xfrm>
            <a:prstGeom prst="rect">
              <a:avLst/>
            </a:prstGeom>
          </p:spPr>
          <p:txBody>
            <a:bodyPr anchor="t" rtlCol="false" tIns="0" lIns="0" bIns="0" rIns="0">
              <a:spAutoFit/>
            </a:bodyPr>
            <a:lstStyle/>
            <a:p>
              <a:pPr algn="l">
                <a:lnSpc>
                  <a:spcPts val="1448"/>
                </a:lnSpc>
              </a:pPr>
              <a:r>
                <a:rPr lang="en-US" sz="1541">
                  <a:solidFill>
                    <a:srgbClr val="F8F6F0"/>
                  </a:solidFill>
                  <a:latin typeface="Cy Grotesk Wide"/>
                  <a:ea typeface="Cy Grotesk Wide"/>
                  <a:cs typeface="Cy Grotesk Wide"/>
                  <a:sym typeface="Cy Grotesk Wide"/>
                </a:rPr>
                <a:t>6.140 - TP</a:t>
              </a:r>
            </a:p>
          </p:txBody>
        </p:sp>
      </p:grpSp>
      <p:sp>
        <p:nvSpPr>
          <p:cNvPr name="TextBox 73" id="73"/>
          <p:cNvSpPr txBox="true"/>
          <p:nvPr/>
        </p:nvSpPr>
        <p:spPr>
          <a:xfrm rot="0">
            <a:off x="1028700" y="2436303"/>
            <a:ext cx="5029228" cy="438859"/>
          </a:xfrm>
          <a:prstGeom prst="rect">
            <a:avLst/>
          </a:prstGeom>
        </p:spPr>
        <p:txBody>
          <a:bodyPr anchor="t" rtlCol="false" tIns="0" lIns="0" bIns="0" rIns="0">
            <a:spAutoFit/>
          </a:bodyPr>
          <a:lstStyle/>
          <a:p>
            <a:pPr algn="l">
              <a:lnSpc>
                <a:spcPts val="3640"/>
              </a:lnSpc>
              <a:spcBef>
                <a:spcPct val="0"/>
              </a:spcBef>
            </a:pPr>
            <a:r>
              <a:rPr lang="en-US" sz="2600">
                <a:solidFill>
                  <a:srgbClr val="FFFFFF"/>
                </a:solidFill>
                <a:latin typeface="Cy Grotesk Wide"/>
                <a:ea typeface="Cy Grotesk Wide"/>
                <a:cs typeface="Cy Grotesk Wide"/>
                <a:sym typeface="Cy Grotesk Wide"/>
              </a:rPr>
              <a:t>Comparación de modelos</a:t>
            </a:r>
          </a:p>
        </p:txBody>
      </p:sp>
      <p:sp>
        <p:nvSpPr>
          <p:cNvPr name="TextBox 74" id="74"/>
          <p:cNvSpPr txBox="true"/>
          <p:nvPr/>
        </p:nvSpPr>
        <p:spPr>
          <a:xfrm rot="0">
            <a:off x="1028700" y="6861351"/>
            <a:ext cx="5029228" cy="438859"/>
          </a:xfrm>
          <a:prstGeom prst="rect">
            <a:avLst/>
          </a:prstGeom>
        </p:spPr>
        <p:txBody>
          <a:bodyPr anchor="t" rtlCol="false" tIns="0" lIns="0" bIns="0" rIns="0">
            <a:spAutoFit/>
          </a:bodyPr>
          <a:lstStyle/>
          <a:p>
            <a:pPr algn="l">
              <a:lnSpc>
                <a:spcPts val="3640"/>
              </a:lnSpc>
              <a:spcBef>
                <a:spcPct val="0"/>
              </a:spcBef>
            </a:pPr>
            <a:r>
              <a:rPr lang="en-US" sz="2600">
                <a:solidFill>
                  <a:srgbClr val="FFFFFF"/>
                </a:solidFill>
                <a:latin typeface="Cy Grotesk Wide"/>
                <a:ea typeface="Cy Grotesk Wide"/>
                <a:cs typeface="Cy Grotesk Wide"/>
                <a:sym typeface="Cy Grotesk Wide"/>
              </a:rPr>
              <a:t>Matriz de confusión</a:t>
            </a:r>
          </a:p>
        </p:txBody>
      </p:sp>
      <p:sp>
        <p:nvSpPr>
          <p:cNvPr name="TextBox 75" id="75"/>
          <p:cNvSpPr txBox="true"/>
          <p:nvPr/>
        </p:nvSpPr>
        <p:spPr>
          <a:xfrm rot="0">
            <a:off x="10022647" y="6861351"/>
            <a:ext cx="5029228" cy="438859"/>
          </a:xfrm>
          <a:prstGeom prst="rect">
            <a:avLst/>
          </a:prstGeom>
        </p:spPr>
        <p:txBody>
          <a:bodyPr anchor="t" rtlCol="false" tIns="0" lIns="0" bIns="0" rIns="0">
            <a:spAutoFit/>
          </a:bodyPr>
          <a:lstStyle/>
          <a:p>
            <a:pPr algn="l">
              <a:lnSpc>
                <a:spcPts val="3640"/>
              </a:lnSpc>
              <a:spcBef>
                <a:spcPct val="0"/>
              </a:spcBef>
            </a:pPr>
            <a:r>
              <a:rPr lang="en-US" sz="2600">
                <a:solidFill>
                  <a:srgbClr val="FFFFFF"/>
                </a:solidFill>
                <a:latin typeface="Cy Grotesk Wide"/>
                <a:ea typeface="Cy Grotesk Wide"/>
                <a:cs typeface="Cy Grotesk Wide"/>
                <a:sym typeface="Cy Grotesk Wide"/>
              </a:rPr>
              <a:t>¿Por qué Recall?</a:t>
            </a:r>
          </a:p>
        </p:txBody>
      </p:sp>
      <p:grpSp>
        <p:nvGrpSpPr>
          <p:cNvPr name="Group 76" id="76"/>
          <p:cNvGrpSpPr/>
          <p:nvPr/>
        </p:nvGrpSpPr>
        <p:grpSpPr>
          <a:xfrm rot="0">
            <a:off x="10022647" y="7434079"/>
            <a:ext cx="7236653" cy="2302096"/>
            <a:chOff x="0" y="0"/>
            <a:chExt cx="1905950" cy="606313"/>
          </a:xfrm>
        </p:grpSpPr>
        <p:sp>
          <p:nvSpPr>
            <p:cNvPr name="Freeform 77" id="77"/>
            <p:cNvSpPr/>
            <p:nvPr/>
          </p:nvSpPr>
          <p:spPr>
            <a:xfrm flipH="false" flipV="false" rot="0">
              <a:off x="0" y="0"/>
              <a:ext cx="1905950" cy="606313"/>
            </a:xfrm>
            <a:custGeom>
              <a:avLst/>
              <a:gdLst/>
              <a:ahLst/>
              <a:cxnLst/>
              <a:rect r="r" b="b" t="t" l="l"/>
              <a:pathLst>
                <a:path h="606313" w="1905950">
                  <a:moveTo>
                    <a:pt x="13908" y="0"/>
                  </a:moveTo>
                  <a:lnTo>
                    <a:pt x="1892042" y="0"/>
                  </a:lnTo>
                  <a:cubicBezTo>
                    <a:pt x="1895731" y="0"/>
                    <a:pt x="1899268" y="1465"/>
                    <a:pt x="1901876" y="4073"/>
                  </a:cubicBezTo>
                  <a:cubicBezTo>
                    <a:pt x="1904485" y="6682"/>
                    <a:pt x="1905950" y="10219"/>
                    <a:pt x="1905950" y="13908"/>
                  </a:cubicBezTo>
                  <a:lnTo>
                    <a:pt x="1905950" y="592406"/>
                  </a:lnTo>
                  <a:cubicBezTo>
                    <a:pt x="1905950" y="600087"/>
                    <a:pt x="1899723" y="606313"/>
                    <a:pt x="1892042" y="606313"/>
                  </a:cubicBezTo>
                  <a:lnTo>
                    <a:pt x="13908" y="606313"/>
                  </a:lnTo>
                  <a:cubicBezTo>
                    <a:pt x="6227" y="606313"/>
                    <a:pt x="0" y="600087"/>
                    <a:pt x="0" y="592406"/>
                  </a:cubicBezTo>
                  <a:lnTo>
                    <a:pt x="0" y="13908"/>
                  </a:lnTo>
                  <a:cubicBezTo>
                    <a:pt x="0" y="6227"/>
                    <a:pt x="6227" y="0"/>
                    <a:pt x="13908" y="0"/>
                  </a:cubicBezTo>
                  <a:close/>
                </a:path>
              </a:pathLst>
            </a:custGeom>
            <a:solidFill>
              <a:srgbClr val="F8F6F0"/>
            </a:solidFill>
            <a:ln cap="sq">
              <a:noFill/>
              <a:prstDash val="solid"/>
              <a:miter/>
            </a:ln>
          </p:spPr>
        </p:sp>
        <p:sp>
          <p:nvSpPr>
            <p:cNvPr name="TextBox 78" id="78"/>
            <p:cNvSpPr txBox="true"/>
            <p:nvPr/>
          </p:nvSpPr>
          <p:spPr>
            <a:xfrm>
              <a:off x="0" y="-47625"/>
              <a:ext cx="1905950" cy="653938"/>
            </a:xfrm>
            <a:prstGeom prst="rect">
              <a:avLst/>
            </a:prstGeom>
          </p:spPr>
          <p:txBody>
            <a:bodyPr anchor="ctr" rtlCol="false" tIns="50800" lIns="50800" bIns="50800" rIns="50800"/>
            <a:lstStyle/>
            <a:p>
              <a:pPr algn="ctr">
                <a:lnSpc>
                  <a:spcPts val="2659"/>
                </a:lnSpc>
              </a:pPr>
            </a:p>
          </p:txBody>
        </p:sp>
      </p:grpSp>
      <p:sp>
        <p:nvSpPr>
          <p:cNvPr name="TextBox 79" id="79"/>
          <p:cNvSpPr txBox="true"/>
          <p:nvPr/>
        </p:nvSpPr>
        <p:spPr>
          <a:xfrm rot="0">
            <a:off x="10387461" y="7756983"/>
            <a:ext cx="6032874" cy="1627714"/>
          </a:xfrm>
          <a:prstGeom prst="rect">
            <a:avLst/>
          </a:prstGeom>
        </p:spPr>
        <p:txBody>
          <a:bodyPr anchor="t" rtlCol="false" tIns="0" lIns="0" bIns="0" rIns="0">
            <a:spAutoFit/>
          </a:bodyPr>
          <a:lstStyle/>
          <a:p>
            <a:pPr algn="l">
              <a:lnSpc>
                <a:spcPts val="2557"/>
              </a:lnSpc>
            </a:pPr>
            <a:r>
              <a:rPr lang="en-US" sz="1997" b="true">
                <a:solidFill>
                  <a:srgbClr val="000000"/>
                </a:solidFill>
                <a:latin typeface="Cy Grotesk Wide Bold"/>
                <a:ea typeface="Cy Grotesk Wide Bold"/>
                <a:cs typeface="Cy Grotesk Wide Bold"/>
                <a:sym typeface="Cy Grotesk Wide Bold"/>
              </a:rPr>
              <a:t>Falso negativo: </a:t>
            </a:r>
            <a:r>
              <a:rPr lang="en-US" sz="1997">
                <a:solidFill>
                  <a:srgbClr val="000000"/>
                </a:solidFill>
                <a:latin typeface="Cy Grotesk Wide"/>
                <a:ea typeface="Cy Grotesk Wide"/>
                <a:cs typeface="Cy Grotesk Wide"/>
                <a:sym typeface="Cy Grotesk Wide"/>
              </a:rPr>
              <a:t>Alumnos en riesgo no detectados, sus trayectorias se pierden</a:t>
            </a:r>
          </a:p>
          <a:p>
            <a:pPr algn="l">
              <a:lnSpc>
                <a:spcPts val="2557"/>
              </a:lnSpc>
            </a:pPr>
          </a:p>
          <a:p>
            <a:pPr algn="l">
              <a:lnSpc>
                <a:spcPts val="2557"/>
              </a:lnSpc>
            </a:pPr>
            <a:r>
              <a:rPr lang="en-US" sz="1997" b="true">
                <a:solidFill>
                  <a:srgbClr val="000000"/>
                </a:solidFill>
                <a:latin typeface="Cy Grotesk Wide Bold"/>
                <a:ea typeface="Cy Grotesk Wide Bold"/>
                <a:cs typeface="Cy Grotesk Wide Bold"/>
                <a:sym typeface="Cy Grotesk Wide Bold"/>
              </a:rPr>
              <a:t>Falso positivo:</a:t>
            </a:r>
            <a:r>
              <a:rPr lang="en-US" sz="1997">
                <a:solidFill>
                  <a:srgbClr val="000000"/>
                </a:solidFill>
                <a:latin typeface="Cy Grotesk Wide"/>
                <a:ea typeface="Cy Grotesk Wide"/>
                <a:cs typeface="Cy Grotesk Wide"/>
                <a:sym typeface="Cy Grotesk Wide"/>
              </a:rPr>
              <a:t> Alumnos estables mal alertados, solo un email de soporte</a:t>
            </a:r>
          </a:p>
        </p:txBody>
      </p:sp>
    </p:spTree>
  </p:cSld>
  <p:clrMapOvr>
    <a:masterClrMapping/>
  </p:clrMapOvr>
  <p:transition spd="slow">
    <p:push dir="l"/>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845">
            <a:off x="-10288336" y="598614"/>
            <a:ext cx="25648265" cy="1471017"/>
            <a:chOff x="0" y="0"/>
            <a:chExt cx="29482668" cy="1690934"/>
          </a:xfrm>
        </p:grpSpPr>
        <p:sp>
          <p:nvSpPr>
            <p:cNvPr name="Freeform 3" id="3"/>
            <p:cNvSpPr/>
            <p:nvPr/>
          </p:nvSpPr>
          <p:spPr>
            <a:xfrm flipH="false" flipV="false" rot="0">
              <a:off x="0" y="0"/>
              <a:ext cx="29482669" cy="1690934"/>
            </a:xfrm>
            <a:custGeom>
              <a:avLst/>
              <a:gdLst/>
              <a:ahLst/>
              <a:cxnLst/>
              <a:rect r="r" b="b" t="t" l="l"/>
              <a:pathLst>
                <a:path h="1690934" w="29482669">
                  <a:moveTo>
                    <a:pt x="0" y="0"/>
                  </a:moveTo>
                  <a:lnTo>
                    <a:pt x="29482669" y="0"/>
                  </a:lnTo>
                  <a:lnTo>
                    <a:pt x="29482669" y="1690934"/>
                  </a:lnTo>
                  <a:lnTo>
                    <a:pt x="0" y="1690934"/>
                  </a:lnTo>
                  <a:close/>
                </a:path>
              </a:pathLst>
            </a:custGeom>
            <a:solidFill>
              <a:srgbClr val="54DF64"/>
            </a:solidFill>
          </p:spPr>
        </p:sp>
        <p:sp>
          <p:nvSpPr>
            <p:cNvPr name="TextBox 4" id="4"/>
            <p:cNvSpPr txBox="true"/>
            <p:nvPr/>
          </p:nvSpPr>
          <p:spPr>
            <a:xfrm>
              <a:off x="0" y="-47625"/>
              <a:ext cx="29482668" cy="17385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45261" y="775641"/>
            <a:ext cx="25571190" cy="1511934"/>
            <a:chOff x="0" y="0"/>
            <a:chExt cx="29394071" cy="1737967"/>
          </a:xfrm>
        </p:grpSpPr>
        <p:sp>
          <p:nvSpPr>
            <p:cNvPr name="Freeform 6" id="6"/>
            <p:cNvSpPr/>
            <p:nvPr/>
          </p:nvSpPr>
          <p:spPr>
            <a:xfrm flipH="false" flipV="false" rot="0">
              <a:off x="0" y="0"/>
              <a:ext cx="29394072" cy="1737967"/>
            </a:xfrm>
            <a:custGeom>
              <a:avLst/>
              <a:gdLst/>
              <a:ahLst/>
              <a:cxnLst/>
              <a:rect r="r" b="b" t="t" l="l"/>
              <a:pathLst>
                <a:path h="1737967" w="29394072">
                  <a:moveTo>
                    <a:pt x="0" y="0"/>
                  </a:moveTo>
                  <a:lnTo>
                    <a:pt x="29394072" y="0"/>
                  </a:lnTo>
                  <a:lnTo>
                    <a:pt x="29394072" y="1737967"/>
                  </a:lnTo>
                  <a:lnTo>
                    <a:pt x="0" y="1737967"/>
                  </a:lnTo>
                  <a:close/>
                </a:path>
              </a:pathLst>
            </a:custGeom>
            <a:solidFill>
              <a:srgbClr val="000000"/>
            </a:solidFill>
          </p:spPr>
        </p:sp>
        <p:sp>
          <p:nvSpPr>
            <p:cNvPr name="TextBox 7" id="7"/>
            <p:cNvSpPr txBox="true"/>
            <p:nvPr/>
          </p:nvSpPr>
          <p:spPr>
            <a:xfrm>
              <a:off x="0" y="-47625"/>
              <a:ext cx="29394071" cy="178559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45045" y="1162050"/>
            <a:ext cx="15236936" cy="718312"/>
          </a:xfrm>
          <a:prstGeom prst="rect">
            <a:avLst/>
          </a:prstGeom>
        </p:spPr>
        <p:txBody>
          <a:bodyPr anchor="t" rtlCol="false" tIns="0" lIns="0" bIns="0" rIns="0">
            <a:spAutoFit/>
          </a:bodyPr>
          <a:lstStyle/>
          <a:p>
            <a:pPr algn="l">
              <a:lnSpc>
                <a:spcPts val="5264"/>
              </a:lnSpc>
            </a:pPr>
            <a:r>
              <a:rPr lang="en-US" sz="5600" b="true">
                <a:solidFill>
                  <a:srgbClr val="54DF64"/>
                </a:solidFill>
                <a:latin typeface="Cy Grotesk Wide Bold"/>
                <a:ea typeface="Cy Grotesk Wide Bold"/>
                <a:cs typeface="Cy Grotesk Wide Bold"/>
                <a:sym typeface="Cy Grotesk Wide Bold"/>
              </a:rPr>
              <a:t>8.</a:t>
            </a:r>
            <a:r>
              <a:rPr lang="en-US" sz="5600" b="true">
                <a:solidFill>
                  <a:srgbClr val="F8F6F0"/>
                </a:solidFill>
                <a:latin typeface="Cy Grotesk Wide Bold"/>
                <a:ea typeface="Cy Grotesk Wide Bold"/>
                <a:cs typeface="Cy Grotesk Wide Bold"/>
                <a:sym typeface="Cy Grotesk Wide Bold"/>
              </a:rPr>
              <a:t> </a:t>
            </a:r>
            <a:r>
              <a:rPr lang="en-US" sz="5600">
                <a:solidFill>
                  <a:srgbClr val="F8F6F0"/>
                </a:solidFill>
                <a:latin typeface="Cy Grotesk Wide"/>
                <a:ea typeface="Cy Grotesk Wide"/>
                <a:cs typeface="Cy Grotesk Wide"/>
                <a:sym typeface="Cy Grotesk Wide"/>
              </a:rPr>
              <a:t>Interpretación de los resultados</a:t>
            </a:r>
          </a:p>
        </p:txBody>
      </p:sp>
      <p:grpSp>
        <p:nvGrpSpPr>
          <p:cNvPr name="Group 9" id="9"/>
          <p:cNvGrpSpPr/>
          <p:nvPr/>
        </p:nvGrpSpPr>
        <p:grpSpPr>
          <a:xfrm rot="0">
            <a:off x="645045" y="2898353"/>
            <a:ext cx="10372940" cy="5050338"/>
            <a:chOff x="0" y="0"/>
            <a:chExt cx="13830587" cy="6733784"/>
          </a:xfrm>
        </p:grpSpPr>
        <p:grpSp>
          <p:nvGrpSpPr>
            <p:cNvPr name="Group 10" id="10"/>
            <p:cNvGrpSpPr/>
            <p:nvPr/>
          </p:nvGrpSpPr>
          <p:grpSpPr>
            <a:xfrm rot="0">
              <a:off x="0" y="0"/>
              <a:ext cx="13830587" cy="6733784"/>
              <a:chOff x="0" y="0"/>
              <a:chExt cx="2981528" cy="1451635"/>
            </a:xfrm>
          </p:grpSpPr>
          <p:sp>
            <p:nvSpPr>
              <p:cNvPr name="Freeform 11" id="11"/>
              <p:cNvSpPr/>
              <p:nvPr/>
            </p:nvSpPr>
            <p:spPr>
              <a:xfrm flipH="false" flipV="false" rot="0">
                <a:off x="0" y="0"/>
                <a:ext cx="2981528" cy="1451636"/>
              </a:xfrm>
              <a:custGeom>
                <a:avLst/>
                <a:gdLst/>
                <a:ahLst/>
                <a:cxnLst/>
                <a:rect r="r" b="b" t="t" l="l"/>
                <a:pathLst>
                  <a:path h="1451636" w="2981528">
                    <a:moveTo>
                      <a:pt x="11626" y="0"/>
                    </a:moveTo>
                    <a:lnTo>
                      <a:pt x="2969902" y="0"/>
                    </a:lnTo>
                    <a:cubicBezTo>
                      <a:pt x="2976323" y="0"/>
                      <a:pt x="2981528" y="5205"/>
                      <a:pt x="2981528" y="11626"/>
                    </a:cubicBezTo>
                    <a:lnTo>
                      <a:pt x="2981528" y="1440009"/>
                    </a:lnTo>
                    <a:cubicBezTo>
                      <a:pt x="2981528" y="1446430"/>
                      <a:pt x="2976323" y="1451636"/>
                      <a:pt x="2969902" y="1451636"/>
                    </a:cubicBezTo>
                    <a:lnTo>
                      <a:pt x="11626" y="1451636"/>
                    </a:lnTo>
                    <a:cubicBezTo>
                      <a:pt x="5205" y="1451636"/>
                      <a:pt x="0" y="1446430"/>
                      <a:pt x="0" y="1440009"/>
                    </a:cubicBezTo>
                    <a:lnTo>
                      <a:pt x="0" y="11626"/>
                    </a:lnTo>
                    <a:cubicBezTo>
                      <a:pt x="0" y="5205"/>
                      <a:pt x="5205" y="0"/>
                      <a:pt x="11626" y="0"/>
                    </a:cubicBezTo>
                    <a:close/>
                  </a:path>
                </a:pathLst>
              </a:custGeom>
              <a:ln w="38100" cap="sq">
                <a:solidFill>
                  <a:srgbClr val="000000"/>
                </a:solidFill>
                <a:prstDash val="solid"/>
                <a:miter/>
              </a:ln>
            </p:spPr>
          </p:sp>
          <p:sp>
            <p:nvSpPr>
              <p:cNvPr name="TextBox 12" id="12"/>
              <p:cNvSpPr txBox="true"/>
              <p:nvPr/>
            </p:nvSpPr>
            <p:spPr>
              <a:xfrm>
                <a:off x="0" y="38100"/>
                <a:ext cx="2981528" cy="1413535"/>
              </a:xfrm>
              <a:prstGeom prst="rect">
                <a:avLst/>
              </a:prstGeom>
            </p:spPr>
            <p:txBody>
              <a:bodyPr anchor="ctr" rtlCol="false" tIns="50800" lIns="50800" bIns="50800" rIns="50800"/>
              <a:lstStyle/>
              <a:p>
                <a:pPr algn="ctr">
                  <a:lnSpc>
                    <a:spcPts val="1668"/>
                  </a:lnSpc>
                </a:pPr>
              </a:p>
            </p:txBody>
          </p:sp>
        </p:grpSp>
        <p:sp>
          <p:nvSpPr>
            <p:cNvPr name="Freeform 13" id="13"/>
            <p:cNvSpPr/>
            <p:nvPr/>
          </p:nvSpPr>
          <p:spPr>
            <a:xfrm flipH="false" flipV="false" rot="0">
              <a:off x="316483" y="1174885"/>
              <a:ext cx="13197621" cy="5213564"/>
            </a:xfrm>
            <a:custGeom>
              <a:avLst/>
              <a:gdLst/>
              <a:ahLst/>
              <a:cxnLst/>
              <a:rect r="r" b="b" t="t" l="l"/>
              <a:pathLst>
                <a:path h="5213564" w="13197621">
                  <a:moveTo>
                    <a:pt x="0" y="0"/>
                  </a:moveTo>
                  <a:lnTo>
                    <a:pt x="13197621" y="0"/>
                  </a:lnTo>
                  <a:lnTo>
                    <a:pt x="13197621" y="5213564"/>
                  </a:lnTo>
                  <a:lnTo>
                    <a:pt x="0" y="5213564"/>
                  </a:lnTo>
                  <a:lnTo>
                    <a:pt x="0" y="0"/>
                  </a:lnTo>
                  <a:close/>
                </a:path>
              </a:pathLst>
            </a:custGeom>
            <a:blipFill>
              <a:blip r:embed="rId3"/>
              <a:stretch>
                <a:fillRect l="-3844" t="-10124" r="-2530" b="-8270"/>
              </a:stretch>
            </a:blipFill>
          </p:spPr>
        </p:sp>
        <p:sp>
          <p:nvSpPr>
            <p:cNvPr name="TextBox 14" id="14"/>
            <p:cNvSpPr txBox="true"/>
            <p:nvPr/>
          </p:nvSpPr>
          <p:spPr>
            <a:xfrm rot="0">
              <a:off x="316483" y="346388"/>
              <a:ext cx="6144360" cy="535133"/>
            </a:xfrm>
            <a:prstGeom prst="rect">
              <a:avLst/>
            </a:prstGeom>
          </p:spPr>
          <p:txBody>
            <a:bodyPr anchor="t" rtlCol="false" tIns="0" lIns="0" bIns="0" rIns="0">
              <a:spAutoFit/>
            </a:bodyPr>
            <a:lstStyle/>
            <a:p>
              <a:pPr algn="l">
                <a:lnSpc>
                  <a:spcPts val="3335"/>
                </a:lnSpc>
                <a:spcBef>
                  <a:spcPct val="0"/>
                </a:spcBef>
              </a:pPr>
              <a:r>
                <a:rPr lang="en-US" sz="2382">
                  <a:solidFill>
                    <a:srgbClr val="000000"/>
                  </a:solidFill>
                  <a:latin typeface="Cy Grotesk Wide"/>
                  <a:ea typeface="Cy Grotesk Wide"/>
                  <a:cs typeface="Cy Grotesk Wide"/>
                  <a:sym typeface="Cy Grotesk Wide"/>
                </a:rPr>
                <a:t>Variables del modelo</a:t>
              </a:r>
            </a:p>
          </p:txBody>
        </p:sp>
      </p:grpSp>
      <p:grpSp>
        <p:nvGrpSpPr>
          <p:cNvPr name="Group 15" id="15"/>
          <p:cNvGrpSpPr/>
          <p:nvPr/>
        </p:nvGrpSpPr>
        <p:grpSpPr>
          <a:xfrm rot="0">
            <a:off x="11484115" y="3530923"/>
            <a:ext cx="6033145" cy="1612577"/>
            <a:chOff x="0" y="0"/>
            <a:chExt cx="1588977" cy="424712"/>
          </a:xfrm>
        </p:grpSpPr>
        <p:sp>
          <p:nvSpPr>
            <p:cNvPr name="Freeform 16" id="16"/>
            <p:cNvSpPr/>
            <p:nvPr/>
          </p:nvSpPr>
          <p:spPr>
            <a:xfrm flipH="false" flipV="false" rot="0">
              <a:off x="0" y="0"/>
              <a:ext cx="1588977" cy="424712"/>
            </a:xfrm>
            <a:custGeom>
              <a:avLst/>
              <a:gdLst/>
              <a:ahLst/>
              <a:cxnLst/>
              <a:rect r="r" b="b" t="t" l="l"/>
              <a:pathLst>
                <a:path h="424712" w="1588977">
                  <a:moveTo>
                    <a:pt x="0" y="0"/>
                  </a:moveTo>
                  <a:lnTo>
                    <a:pt x="1588977" y="0"/>
                  </a:lnTo>
                  <a:lnTo>
                    <a:pt x="1588977" y="424712"/>
                  </a:lnTo>
                  <a:lnTo>
                    <a:pt x="0" y="424712"/>
                  </a:lnTo>
                  <a:close/>
                </a:path>
              </a:pathLst>
            </a:custGeom>
            <a:solidFill>
              <a:srgbClr val="54DF64"/>
            </a:solidFill>
          </p:spPr>
        </p:sp>
        <p:sp>
          <p:nvSpPr>
            <p:cNvPr name="TextBox 17" id="17"/>
            <p:cNvSpPr txBox="true"/>
            <p:nvPr/>
          </p:nvSpPr>
          <p:spPr>
            <a:xfrm>
              <a:off x="0" y="38100"/>
              <a:ext cx="1588977" cy="386612"/>
            </a:xfrm>
            <a:prstGeom prst="rect">
              <a:avLst/>
            </a:prstGeom>
          </p:spPr>
          <p:txBody>
            <a:bodyPr anchor="ctr" rtlCol="false" tIns="50800" lIns="50800" bIns="50800" rIns="50800"/>
            <a:lstStyle/>
            <a:p>
              <a:pPr algn="ctr">
                <a:lnSpc>
                  <a:spcPts val="1668"/>
                </a:lnSpc>
              </a:pPr>
            </a:p>
          </p:txBody>
        </p:sp>
      </p:grpSp>
      <p:sp>
        <p:nvSpPr>
          <p:cNvPr name="TextBox 18" id="18"/>
          <p:cNvSpPr txBox="true"/>
          <p:nvPr/>
        </p:nvSpPr>
        <p:spPr>
          <a:xfrm rot="0">
            <a:off x="11813491" y="3839904"/>
            <a:ext cx="5270381" cy="936206"/>
          </a:xfrm>
          <a:prstGeom prst="rect">
            <a:avLst/>
          </a:prstGeom>
        </p:spPr>
        <p:txBody>
          <a:bodyPr anchor="t" rtlCol="false" tIns="0" lIns="0" bIns="0" rIns="0">
            <a:spAutoFit/>
          </a:bodyPr>
          <a:lstStyle/>
          <a:p>
            <a:pPr algn="l">
              <a:lnSpc>
                <a:spcPts val="2485"/>
              </a:lnSpc>
              <a:spcBef>
                <a:spcPct val="0"/>
              </a:spcBef>
            </a:pPr>
            <a:r>
              <a:rPr lang="en-US" sz="1775">
                <a:solidFill>
                  <a:srgbClr val="000000"/>
                </a:solidFill>
                <a:latin typeface="Cy Grotesk Wide"/>
                <a:ea typeface="Cy Grotesk Wide"/>
                <a:cs typeface="Cy Grotesk Wide"/>
                <a:sym typeface="Cy Grotesk Wide"/>
              </a:rPr>
              <a:t>Una de las </a:t>
            </a:r>
            <a:r>
              <a:rPr lang="en-US" sz="1775">
                <a:solidFill>
                  <a:srgbClr val="000000"/>
                </a:solidFill>
                <a:latin typeface="Cy Grotesk Wide"/>
                <a:ea typeface="Cy Grotesk Wide"/>
                <a:cs typeface="Cy Grotesk Wide"/>
                <a:sym typeface="Cy Grotesk Wide"/>
              </a:rPr>
              <a:t>variables individuales con mayor peso en el nodo raíz del algoritmo fue </a:t>
            </a:r>
            <a:r>
              <a:rPr lang="en-US" b="true" sz="1775">
                <a:solidFill>
                  <a:srgbClr val="000000"/>
                </a:solidFill>
                <a:latin typeface="Cy Grotesk Wide Bold"/>
                <a:ea typeface="Cy Grotesk Wide Bold"/>
                <a:cs typeface="Cy Grotesk Wide Bold"/>
                <a:sym typeface="Cy Grotesk Wide Bold"/>
              </a:rPr>
              <a:t>reprobo_algoritmos</a:t>
            </a:r>
          </a:p>
        </p:txBody>
      </p:sp>
      <p:sp>
        <p:nvSpPr>
          <p:cNvPr name="TextBox 19" id="19"/>
          <p:cNvSpPr txBox="true"/>
          <p:nvPr/>
        </p:nvSpPr>
        <p:spPr>
          <a:xfrm rot="0">
            <a:off x="11468709" y="2907659"/>
            <a:ext cx="1683472" cy="592174"/>
          </a:xfrm>
          <a:prstGeom prst="rect">
            <a:avLst/>
          </a:prstGeom>
        </p:spPr>
        <p:txBody>
          <a:bodyPr anchor="t" rtlCol="false" tIns="0" lIns="0" bIns="0" rIns="0">
            <a:spAutoFit/>
          </a:bodyPr>
          <a:lstStyle/>
          <a:p>
            <a:pPr algn="l">
              <a:lnSpc>
                <a:spcPts val="4382"/>
              </a:lnSpc>
            </a:pPr>
            <a:r>
              <a:rPr lang="en-US" sz="4662">
                <a:solidFill>
                  <a:srgbClr val="000000"/>
                </a:solidFill>
                <a:latin typeface="Cy Grotesk Wide"/>
                <a:ea typeface="Cy Grotesk Wide"/>
                <a:cs typeface="Cy Grotesk Wide"/>
                <a:sym typeface="Cy Grotesk Wide"/>
              </a:rPr>
              <a:t>01.</a:t>
            </a:r>
          </a:p>
        </p:txBody>
      </p:sp>
      <p:grpSp>
        <p:nvGrpSpPr>
          <p:cNvPr name="Group 20" id="20"/>
          <p:cNvGrpSpPr/>
          <p:nvPr/>
        </p:nvGrpSpPr>
        <p:grpSpPr>
          <a:xfrm rot="0">
            <a:off x="11484115" y="6336114"/>
            <a:ext cx="6033145" cy="1612577"/>
            <a:chOff x="0" y="0"/>
            <a:chExt cx="1588977" cy="424712"/>
          </a:xfrm>
        </p:grpSpPr>
        <p:sp>
          <p:nvSpPr>
            <p:cNvPr name="Freeform 21" id="21"/>
            <p:cNvSpPr/>
            <p:nvPr/>
          </p:nvSpPr>
          <p:spPr>
            <a:xfrm flipH="false" flipV="false" rot="0">
              <a:off x="0" y="0"/>
              <a:ext cx="1588977" cy="424712"/>
            </a:xfrm>
            <a:custGeom>
              <a:avLst/>
              <a:gdLst/>
              <a:ahLst/>
              <a:cxnLst/>
              <a:rect r="r" b="b" t="t" l="l"/>
              <a:pathLst>
                <a:path h="424712" w="1588977">
                  <a:moveTo>
                    <a:pt x="0" y="0"/>
                  </a:moveTo>
                  <a:lnTo>
                    <a:pt x="1588977" y="0"/>
                  </a:lnTo>
                  <a:lnTo>
                    <a:pt x="1588977" y="424712"/>
                  </a:lnTo>
                  <a:lnTo>
                    <a:pt x="0" y="424712"/>
                  </a:lnTo>
                  <a:close/>
                </a:path>
              </a:pathLst>
            </a:custGeom>
            <a:solidFill>
              <a:srgbClr val="54DF64"/>
            </a:solidFill>
          </p:spPr>
        </p:sp>
        <p:sp>
          <p:nvSpPr>
            <p:cNvPr name="TextBox 22" id="22"/>
            <p:cNvSpPr txBox="true"/>
            <p:nvPr/>
          </p:nvSpPr>
          <p:spPr>
            <a:xfrm>
              <a:off x="0" y="38100"/>
              <a:ext cx="1588977" cy="386612"/>
            </a:xfrm>
            <a:prstGeom prst="rect">
              <a:avLst/>
            </a:prstGeom>
          </p:spPr>
          <p:txBody>
            <a:bodyPr anchor="ctr" rtlCol="false" tIns="50800" lIns="50800" bIns="50800" rIns="50800"/>
            <a:lstStyle/>
            <a:p>
              <a:pPr algn="ctr">
                <a:lnSpc>
                  <a:spcPts val="1668"/>
                </a:lnSpc>
              </a:pPr>
            </a:p>
          </p:txBody>
        </p:sp>
      </p:grpSp>
      <p:sp>
        <p:nvSpPr>
          <p:cNvPr name="TextBox 23" id="23"/>
          <p:cNvSpPr txBox="true"/>
          <p:nvPr/>
        </p:nvSpPr>
        <p:spPr>
          <a:xfrm rot="0">
            <a:off x="11813491" y="6645096"/>
            <a:ext cx="5270381" cy="936206"/>
          </a:xfrm>
          <a:prstGeom prst="rect">
            <a:avLst/>
          </a:prstGeom>
        </p:spPr>
        <p:txBody>
          <a:bodyPr anchor="t" rtlCol="false" tIns="0" lIns="0" bIns="0" rIns="0">
            <a:spAutoFit/>
          </a:bodyPr>
          <a:lstStyle/>
          <a:p>
            <a:pPr algn="l">
              <a:lnSpc>
                <a:spcPts val="2485"/>
              </a:lnSpc>
              <a:spcBef>
                <a:spcPct val="0"/>
              </a:spcBef>
            </a:pPr>
            <a:r>
              <a:rPr lang="en-US" sz="1775">
                <a:solidFill>
                  <a:srgbClr val="000000"/>
                </a:solidFill>
                <a:latin typeface="Cy Grotesk Wide"/>
                <a:ea typeface="Cy Grotesk Wide"/>
                <a:cs typeface="Cy Grotesk Wide"/>
                <a:sym typeface="Cy Grotesk Wide"/>
              </a:rPr>
              <a:t>Se d</a:t>
            </a:r>
            <a:r>
              <a:rPr lang="en-US" sz="1775">
                <a:solidFill>
                  <a:srgbClr val="000000"/>
                </a:solidFill>
                <a:latin typeface="Cy Grotesk Wide"/>
                <a:ea typeface="Cy Grotesk Wide"/>
                <a:cs typeface="Cy Grotesk Wide"/>
                <a:sym typeface="Cy Grotesk Wide"/>
              </a:rPr>
              <a:t>etectó un comportamiento bimodal en la deser</a:t>
            </a:r>
            <a:r>
              <a:rPr lang="en-US" sz="1775">
                <a:solidFill>
                  <a:srgbClr val="000000"/>
                </a:solidFill>
                <a:latin typeface="Cy Grotesk Wide"/>
                <a:ea typeface="Cy Grotesk Wide"/>
                <a:cs typeface="Cy Grotesk Wide"/>
                <a:sym typeface="Cy Grotesk Wide"/>
              </a:rPr>
              <a:t>c</a:t>
            </a:r>
            <a:r>
              <a:rPr lang="en-US" sz="1775">
                <a:solidFill>
                  <a:srgbClr val="000000"/>
                </a:solidFill>
                <a:latin typeface="Cy Grotesk Wide"/>
                <a:ea typeface="Cy Grotesk Wide"/>
                <a:cs typeface="Cy Grotesk Wide"/>
                <a:sym typeface="Cy Grotesk Wide"/>
              </a:rPr>
              <a:t>i</a:t>
            </a:r>
            <a:r>
              <a:rPr lang="en-US" sz="1775">
                <a:solidFill>
                  <a:srgbClr val="000000"/>
                </a:solidFill>
                <a:latin typeface="Cy Grotesk Wide"/>
                <a:ea typeface="Cy Grotesk Wide"/>
                <a:cs typeface="Cy Grotesk Wide"/>
                <a:sym typeface="Cy Grotesk Wide"/>
              </a:rPr>
              <a:t>ón, con su pico máximo en el </a:t>
            </a:r>
            <a:r>
              <a:rPr lang="en-US" b="true" sz="1775">
                <a:solidFill>
                  <a:srgbClr val="000000"/>
                </a:solidFill>
                <a:latin typeface="Cy Grotesk Wide Bold"/>
                <a:ea typeface="Cy Grotesk Wide Bold"/>
                <a:cs typeface="Cy Grotesk Wide Bold"/>
                <a:sym typeface="Cy Grotesk Wide Bold"/>
              </a:rPr>
              <a:t>Nivel 3 </a:t>
            </a:r>
            <a:r>
              <a:rPr lang="en-US" sz="1775">
                <a:solidFill>
                  <a:srgbClr val="000000"/>
                </a:solidFill>
                <a:latin typeface="Cy Grotesk Wide"/>
                <a:ea typeface="Cy Grotesk Wide"/>
                <a:cs typeface="Cy Grotesk Wide"/>
                <a:sym typeface="Cy Grotesk Wide"/>
              </a:rPr>
              <a:t>de la carrera.</a:t>
            </a:r>
          </a:p>
        </p:txBody>
      </p:sp>
      <p:sp>
        <p:nvSpPr>
          <p:cNvPr name="TextBox 24" id="24"/>
          <p:cNvSpPr txBox="true"/>
          <p:nvPr/>
        </p:nvSpPr>
        <p:spPr>
          <a:xfrm rot="0">
            <a:off x="11486045" y="5708669"/>
            <a:ext cx="1683472" cy="592174"/>
          </a:xfrm>
          <a:prstGeom prst="rect">
            <a:avLst/>
          </a:prstGeom>
        </p:spPr>
        <p:txBody>
          <a:bodyPr anchor="t" rtlCol="false" tIns="0" lIns="0" bIns="0" rIns="0">
            <a:spAutoFit/>
          </a:bodyPr>
          <a:lstStyle/>
          <a:p>
            <a:pPr algn="l">
              <a:lnSpc>
                <a:spcPts val="4382"/>
              </a:lnSpc>
            </a:pPr>
            <a:r>
              <a:rPr lang="en-US" sz="4662">
                <a:solidFill>
                  <a:srgbClr val="000000"/>
                </a:solidFill>
                <a:latin typeface="Cy Grotesk Wide"/>
                <a:ea typeface="Cy Grotesk Wide"/>
                <a:cs typeface="Cy Grotesk Wide"/>
                <a:sym typeface="Cy Grotesk Wide"/>
              </a:rPr>
              <a:t>02.</a:t>
            </a:r>
          </a:p>
        </p:txBody>
      </p:sp>
      <p:grpSp>
        <p:nvGrpSpPr>
          <p:cNvPr name="Group 25" id="25"/>
          <p:cNvGrpSpPr/>
          <p:nvPr/>
        </p:nvGrpSpPr>
        <p:grpSpPr>
          <a:xfrm rot="0">
            <a:off x="0" y="8529539"/>
            <a:ext cx="18288000" cy="1757461"/>
            <a:chOff x="0" y="0"/>
            <a:chExt cx="4816593" cy="462870"/>
          </a:xfrm>
        </p:grpSpPr>
        <p:sp>
          <p:nvSpPr>
            <p:cNvPr name="Freeform 26" id="26"/>
            <p:cNvSpPr/>
            <p:nvPr/>
          </p:nvSpPr>
          <p:spPr>
            <a:xfrm flipH="false" flipV="false" rot="0">
              <a:off x="0" y="0"/>
              <a:ext cx="4816592" cy="462870"/>
            </a:xfrm>
            <a:custGeom>
              <a:avLst/>
              <a:gdLst/>
              <a:ahLst/>
              <a:cxnLst/>
              <a:rect r="r" b="b" t="t" l="l"/>
              <a:pathLst>
                <a:path h="462870" w="4816592">
                  <a:moveTo>
                    <a:pt x="0" y="0"/>
                  </a:moveTo>
                  <a:lnTo>
                    <a:pt x="4816592" y="0"/>
                  </a:lnTo>
                  <a:lnTo>
                    <a:pt x="4816592" y="462870"/>
                  </a:lnTo>
                  <a:lnTo>
                    <a:pt x="0" y="462870"/>
                  </a:lnTo>
                  <a:close/>
                </a:path>
              </a:pathLst>
            </a:custGeom>
            <a:solidFill>
              <a:srgbClr val="000000"/>
            </a:solidFill>
          </p:spPr>
        </p:sp>
        <p:sp>
          <p:nvSpPr>
            <p:cNvPr name="TextBox 27" id="27"/>
            <p:cNvSpPr txBox="true"/>
            <p:nvPr/>
          </p:nvSpPr>
          <p:spPr>
            <a:xfrm>
              <a:off x="0" y="38100"/>
              <a:ext cx="4816593" cy="424770"/>
            </a:xfrm>
            <a:prstGeom prst="rect">
              <a:avLst/>
            </a:prstGeom>
          </p:spPr>
          <p:txBody>
            <a:bodyPr anchor="ctr" rtlCol="false" tIns="50800" lIns="50800" bIns="50800" rIns="50800"/>
            <a:lstStyle/>
            <a:p>
              <a:pPr algn="ctr">
                <a:lnSpc>
                  <a:spcPts val="1668"/>
                </a:lnSpc>
              </a:pPr>
            </a:p>
          </p:txBody>
        </p:sp>
      </p:grpSp>
      <p:sp>
        <p:nvSpPr>
          <p:cNvPr name="TextBox 28" id="28"/>
          <p:cNvSpPr txBox="true"/>
          <p:nvPr/>
        </p:nvSpPr>
        <p:spPr>
          <a:xfrm rot="0">
            <a:off x="645045" y="9292160"/>
            <a:ext cx="16976229" cy="621807"/>
          </a:xfrm>
          <a:prstGeom prst="rect">
            <a:avLst/>
          </a:prstGeom>
        </p:spPr>
        <p:txBody>
          <a:bodyPr anchor="t" rtlCol="false" tIns="0" lIns="0" bIns="0" rIns="0">
            <a:spAutoFit/>
          </a:bodyPr>
          <a:lstStyle/>
          <a:p>
            <a:pPr algn="l">
              <a:lnSpc>
                <a:spcPts val="2485"/>
              </a:lnSpc>
              <a:spcBef>
                <a:spcPct val="0"/>
              </a:spcBef>
            </a:pPr>
            <a:r>
              <a:rPr lang="en-US" sz="1775">
                <a:solidFill>
                  <a:srgbClr val="FFFFFF"/>
                </a:solidFill>
                <a:latin typeface="Cy Grotesk Wide"/>
                <a:ea typeface="Cy Grotesk Wide"/>
                <a:cs typeface="Cy Grotesk Wide"/>
                <a:sym typeface="Cy Grotesk Wide"/>
              </a:rPr>
              <a:t>Las Facultades Regionales metro</a:t>
            </a:r>
            <a:r>
              <a:rPr lang="en-US" sz="1775">
                <a:solidFill>
                  <a:srgbClr val="FFFFFF"/>
                </a:solidFill>
                <a:latin typeface="Cy Grotesk Wide"/>
                <a:ea typeface="Cy Grotesk Wide"/>
                <a:cs typeface="Cy Grotesk Wide"/>
                <a:sym typeface="Cy Grotesk Wide"/>
              </a:rPr>
              <a:t>politanas, como Buenos Aires (4.951 desertores), Haedo (447) y Avellaneda (115) centralizan el volumen absoluto de registros del sistema</a:t>
            </a:r>
          </a:p>
        </p:txBody>
      </p:sp>
      <p:sp>
        <p:nvSpPr>
          <p:cNvPr name="TextBox 29" id="29"/>
          <p:cNvSpPr txBox="true"/>
          <p:nvPr/>
        </p:nvSpPr>
        <p:spPr>
          <a:xfrm rot="0">
            <a:off x="645045" y="8787201"/>
            <a:ext cx="8335415" cy="834912"/>
          </a:xfrm>
          <a:prstGeom prst="rect">
            <a:avLst/>
          </a:prstGeom>
        </p:spPr>
        <p:txBody>
          <a:bodyPr anchor="t" rtlCol="false" tIns="0" lIns="0" bIns="0" rIns="0">
            <a:spAutoFit/>
          </a:bodyPr>
          <a:lstStyle/>
          <a:p>
            <a:pPr algn="l">
              <a:lnSpc>
                <a:spcPts val="3335"/>
              </a:lnSpc>
            </a:pPr>
            <a:r>
              <a:rPr lang="en-US" sz="2382">
                <a:solidFill>
                  <a:srgbClr val="FFFFFF"/>
                </a:solidFill>
                <a:latin typeface="Cy Grotesk Wide"/>
                <a:ea typeface="Cy Grotesk Wide"/>
                <a:cs typeface="Cy Grotesk Wide"/>
                <a:sym typeface="Cy Grotesk Wide"/>
              </a:rPr>
              <a:t>Limitaciones: </a:t>
            </a:r>
            <a:r>
              <a:rPr lang="en-US" sz="2382" b="true">
                <a:solidFill>
                  <a:srgbClr val="FFFFFF"/>
                </a:solidFill>
                <a:latin typeface="Cy Grotesk Wide Bold"/>
                <a:ea typeface="Cy Grotesk Wide Bold"/>
                <a:cs typeface="Cy Grotesk Wide Bold"/>
                <a:sym typeface="Cy Grotesk Wide Bold"/>
              </a:rPr>
              <a:t>Sesgo por Escala Geográfica</a:t>
            </a:r>
          </a:p>
          <a:p>
            <a:pPr algn="l">
              <a:lnSpc>
                <a:spcPts val="3335"/>
              </a:lnSpc>
              <a:spcBef>
                <a:spcPct val="0"/>
              </a:spcBef>
            </a:pPr>
          </a:p>
        </p:txBody>
      </p:sp>
    </p:spTree>
  </p:cSld>
  <p:clrMapOvr>
    <a:masterClrMapping/>
  </p:clrMapOvr>
  <p:transition spd="slow">
    <p:push dir="l"/>
  </p:transition>
</p:sld>
</file>

<file path=ppt/slides/slide25.xml><?xml version="1.0" encoding="utf-8"?>
<p:sld xmlns:p="http://schemas.openxmlformats.org/presentationml/2006/main" xmlns:a="http://schemas.openxmlformats.org/drawingml/2006/main">
  <p:cSld>
    <p:bg>
      <p:bgPr>
        <a:solidFill>
          <a:srgbClr val="F8F6F0"/>
        </a:solidFill>
      </p:bgPr>
    </p:bg>
    <p:spTree>
      <p:nvGrpSpPr>
        <p:cNvPr id="1" name=""/>
        <p:cNvGrpSpPr/>
        <p:nvPr/>
      </p:nvGrpSpPr>
      <p:grpSpPr>
        <a:xfrm>
          <a:off x="0" y="0"/>
          <a:ext cx="0" cy="0"/>
          <a:chOff x="0" y="0"/>
          <a:chExt cx="0" cy="0"/>
        </a:xfrm>
      </p:grpSpPr>
      <p:grpSp>
        <p:nvGrpSpPr>
          <p:cNvPr name="Group 2" id="2"/>
          <p:cNvGrpSpPr/>
          <p:nvPr/>
        </p:nvGrpSpPr>
        <p:grpSpPr>
          <a:xfrm rot="-2298401">
            <a:off x="2007768" y="-631881"/>
            <a:ext cx="16742237" cy="11209765"/>
            <a:chOff x="0" y="0"/>
            <a:chExt cx="13226772" cy="8855985"/>
          </a:xfrm>
        </p:grpSpPr>
        <p:sp>
          <p:nvSpPr>
            <p:cNvPr name="Freeform 3" id="3"/>
            <p:cNvSpPr/>
            <p:nvPr/>
          </p:nvSpPr>
          <p:spPr>
            <a:xfrm flipH="false" flipV="false" rot="0">
              <a:off x="0" y="0"/>
              <a:ext cx="13226772" cy="8855985"/>
            </a:xfrm>
            <a:custGeom>
              <a:avLst/>
              <a:gdLst/>
              <a:ahLst/>
              <a:cxnLst/>
              <a:rect r="r" b="b" t="t" l="l"/>
              <a:pathLst>
                <a:path h="8855985" w="13226772">
                  <a:moveTo>
                    <a:pt x="0" y="0"/>
                  </a:moveTo>
                  <a:lnTo>
                    <a:pt x="13226772" y="0"/>
                  </a:lnTo>
                  <a:lnTo>
                    <a:pt x="13226772" y="8855985"/>
                  </a:lnTo>
                  <a:lnTo>
                    <a:pt x="0" y="8855985"/>
                  </a:lnTo>
                  <a:close/>
                </a:path>
              </a:pathLst>
            </a:custGeom>
            <a:solidFill>
              <a:srgbClr val="000000"/>
            </a:solidFill>
          </p:spPr>
        </p:sp>
        <p:sp>
          <p:nvSpPr>
            <p:cNvPr name="TextBox 4" id="4"/>
            <p:cNvSpPr txBox="true"/>
            <p:nvPr/>
          </p:nvSpPr>
          <p:spPr>
            <a:xfrm>
              <a:off x="0" y="-47625"/>
              <a:ext cx="13226772" cy="890361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820744">
            <a:off x="2806765" y="-826158"/>
            <a:ext cx="16742237" cy="11209765"/>
            <a:chOff x="0" y="0"/>
            <a:chExt cx="13226772" cy="8855985"/>
          </a:xfrm>
        </p:grpSpPr>
        <p:sp>
          <p:nvSpPr>
            <p:cNvPr name="Freeform 6" id="6"/>
            <p:cNvSpPr/>
            <p:nvPr/>
          </p:nvSpPr>
          <p:spPr>
            <a:xfrm flipH="false" flipV="false" rot="0">
              <a:off x="0" y="0"/>
              <a:ext cx="13226772" cy="8855985"/>
            </a:xfrm>
            <a:custGeom>
              <a:avLst/>
              <a:gdLst/>
              <a:ahLst/>
              <a:cxnLst/>
              <a:rect r="r" b="b" t="t" l="l"/>
              <a:pathLst>
                <a:path h="8855985" w="13226772">
                  <a:moveTo>
                    <a:pt x="0" y="0"/>
                  </a:moveTo>
                  <a:lnTo>
                    <a:pt x="13226772" y="0"/>
                  </a:lnTo>
                  <a:lnTo>
                    <a:pt x="13226772" y="8855985"/>
                  </a:lnTo>
                  <a:lnTo>
                    <a:pt x="0" y="8855985"/>
                  </a:lnTo>
                  <a:close/>
                </a:path>
              </a:pathLst>
            </a:custGeom>
            <a:solidFill>
              <a:srgbClr val="54DF64"/>
            </a:solidFill>
          </p:spPr>
        </p:sp>
        <p:sp>
          <p:nvSpPr>
            <p:cNvPr name="TextBox 7" id="7"/>
            <p:cNvSpPr txBox="true"/>
            <p:nvPr/>
          </p:nvSpPr>
          <p:spPr>
            <a:xfrm>
              <a:off x="0" y="-47625"/>
              <a:ext cx="13226772" cy="890361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552837" y="4165364"/>
            <a:ext cx="9182326" cy="2280122"/>
          </a:xfrm>
          <a:prstGeom prst="rect">
            <a:avLst/>
          </a:prstGeom>
        </p:spPr>
        <p:txBody>
          <a:bodyPr anchor="t" rtlCol="false" tIns="0" lIns="0" bIns="0" rIns="0">
            <a:spAutoFit/>
          </a:bodyPr>
          <a:lstStyle/>
          <a:p>
            <a:pPr algn="ctr">
              <a:lnSpc>
                <a:spcPts val="8607"/>
              </a:lnSpc>
            </a:pPr>
            <a:r>
              <a:rPr lang="en-US" sz="10009">
                <a:solidFill>
                  <a:srgbClr val="000000"/>
                </a:solidFill>
                <a:latin typeface="Cy Grotesk Wide"/>
                <a:ea typeface="Cy Grotesk Wide"/>
                <a:cs typeface="Cy Grotesk Wide"/>
                <a:sym typeface="Cy Grotesk Wide"/>
              </a:rPr>
              <a:t>Gracias por su atención</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DAHM3oUjKi0</dc:identifier>
  <dcterms:modified xsi:type="dcterms:W3CDTF">2011-08-01T06:04:30Z</dcterms:modified>
  <cp:revision>1</cp:revision>
  <dc:title>ADE - Coloquio</dc:title>
</cp:coreProperties>
</file>